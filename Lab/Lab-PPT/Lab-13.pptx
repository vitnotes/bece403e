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83" r:id="rId5"/>
    <p:sldId id="286" r:id="rId6"/>
    <p:sldId id="354" r:id="rId7"/>
    <p:sldId id="296" r:id="rId8"/>
    <p:sldId id="367" r:id="rId9"/>
    <p:sldId id="372" r:id="rId10"/>
    <p:sldId id="373" r:id="rId11"/>
    <p:sldId id="374" r:id="rId12"/>
    <p:sldId id="321" r:id="rId13"/>
    <p:sldId id="364" r:id="rId14"/>
    <p:sldId id="377" r:id="rId15"/>
    <p:sldId id="378" r:id="rId16"/>
    <p:sldId id="375" r:id="rId17"/>
    <p:sldId id="376" r:id="rId18"/>
    <p:sldId id="259" r:id="rId19"/>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4DA18"/>
    <a:srgbClr val="663300"/>
    <a:srgbClr val="FF99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0982DB-9E26-45A3-A77F-6CF42FD5E7D5}" v="1" dt="2024-11-15T17:45:14.450"/>
    <p1510:client id="{66BF6335-EE44-4ABF-9486-CCEDE6EA09E4}" v="1" dt="2024-11-16T17:18:50.876"/>
    <p1510:client id="{8BCF8784-EA54-D593-FABF-23EFE425153A}" v="7" dt="2024-11-15T14:18:44.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 Ravindra Munvar" userId="S::devravindra.munvar2021@vitstudent.ac.in::6826a94c-98c1-4146-b06e-5b35816dee4d" providerId="AD" clId="Web-{5B7C0D86-AABA-D624-2C6B-BD768641FCA8}"/>
    <pc:docChg chg="addSld delSld modSld">
      <pc:chgData name="Dev Ravindra Munvar" userId="S::devravindra.munvar2021@vitstudent.ac.in::6826a94c-98c1-4146-b06e-5b35816dee4d" providerId="AD" clId="Web-{5B7C0D86-AABA-D624-2C6B-BD768641FCA8}" dt="2024-11-13T07:28:30.025" v="2" actId="1076"/>
      <pc:docMkLst>
        <pc:docMk/>
      </pc:docMkLst>
      <pc:sldChg chg="modSp">
        <pc:chgData name="Dev Ravindra Munvar" userId="S::devravindra.munvar2021@vitstudent.ac.in::6826a94c-98c1-4146-b06e-5b35816dee4d" providerId="AD" clId="Web-{5B7C0D86-AABA-D624-2C6B-BD768641FCA8}" dt="2024-11-13T07:28:30.025" v="2" actId="1076"/>
        <pc:sldMkLst>
          <pc:docMk/>
          <pc:sldMk cId="2861336976" sldId="364"/>
        </pc:sldMkLst>
        <pc:picChg chg="mod">
          <ac:chgData name="Dev Ravindra Munvar" userId="S::devravindra.munvar2021@vitstudent.ac.in::6826a94c-98c1-4146-b06e-5b35816dee4d" providerId="AD" clId="Web-{5B7C0D86-AABA-D624-2C6B-BD768641FCA8}" dt="2024-11-13T07:28:30.025" v="2" actId="1076"/>
          <ac:picMkLst>
            <pc:docMk/>
            <pc:sldMk cId="2861336976" sldId="364"/>
            <ac:picMk id="19" creationId="{00000000-0000-0000-0000-000000000000}"/>
          </ac:picMkLst>
        </pc:picChg>
      </pc:sldChg>
      <pc:sldChg chg="new del">
        <pc:chgData name="Dev Ravindra Munvar" userId="S::devravindra.munvar2021@vitstudent.ac.in::6826a94c-98c1-4146-b06e-5b35816dee4d" providerId="AD" clId="Web-{5B7C0D86-AABA-D624-2C6B-BD768641FCA8}" dt="2024-11-13T07:08:22.819" v="1"/>
        <pc:sldMkLst>
          <pc:docMk/>
          <pc:sldMk cId="2254980529" sldId="379"/>
        </pc:sldMkLst>
      </pc:sldChg>
    </pc:docChg>
  </pc:docChgLst>
  <pc:docChgLst>
    <pc:chgData name="Heshwar" userId="S::heshwar.2021@vitstudent.ac.in::668b571b-2051-47c4-8396-181c54bb79fe" providerId="AD" clId="Web-{07F67068-4F0A-4D00-8B3C-63176A14828F}"/>
    <pc:docChg chg="modSld">
      <pc:chgData name="Heshwar" userId="S::heshwar.2021@vitstudent.ac.in::668b571b-2051-47c4-8396-181c54bb79fe" providerId="AD" clId="Web-{07F67068-4F0A-4D00-8B3C-63176A14828F}" dt="2024-11-13T08:50:59.998" v="0" actId="1076"/>
      <pc:docMkLst>
        <pc:docMk/>
      </pc:docMkLst>
      <pc:sldChg chg="modSp">
        <pc:chgData name="Heshwar" userId="S::heshwar.2021@vitstudent.ac.in::668b571b-2051-47c4-8396-181c54bb79fe" providerId="AD" clId="Web-{07F67068-4F0A-4D00-8B3C-63176A14828F}" dt="2024-11-13T08:50:59.998" v="0" actId="1076"/>
        <pc:sldMkLst>
          <pc:docMk/>
          <pc:sldMk cId="2861336976" sldId="364"/>
        </pc:sldMkLst>
        <pc:picChg chg="mod">
          <ac:chgData name="Heshwar" userId="S::heshwar.2021@vitstudent.ac.in::668b571b-2051-47c4-8396-181c54bb79fe" providerId="AD" clId="Web-{07F67068-4F0A-4D00-8B3C-63176A14828F}" dt="2024-11-13T08:50:59.998" v="0" actId="1076"/>
          <ac:picMkLst>
            <pc:docMk/>
            <pc:sldMk cId="2861336976" sldId="364"/>
            <ac:picMk id="9" creationId="{00000000-0000-0000-0000-000000000000}"/>
          </ac:picMkLst>
        </pc:picChg>
      </pc:sldChg>
    </pc:docChg>
  </pc:docChgLst>
  <pc:docChgLst>
    <pc:chgData name="Roddam Vaishnavi" userId="S::roddam.vaishnavi2021@vitstudent.ac.in::8a64051c-f03e-4043-8fec-e7994783c0d7" providerId="AD" clId="Web-{546987D3-0D38-48D6-BAD5-42FCF109E7DA}"/>
    <pc:docChg chg="modSld">
      <pc:chgData name="Roddam Vaishnavi" userId="S::roddam.vaishnavi2021@vitstudent.ac.in::8a64051c-f03e-4043-8fec-e7994783c0d7" providerId="AD" clId="Web-{546987D3-0D38-48D6-BAD5-42FCF109E7DA}" dt="2024-11-13T08:50:07.654" v="3" actId="1076"/>
      <pc:docMkLst>
        <pc:docMk/>
      </pc:docMkLst>
      <pc:sldChg chg="modSp">
        <pc:chgData name="Roddam Vaishnavi" userId="S::roddam.vaishnavi2021@vitstudent.ac.in::8a64051c-f03e-4043-8fec-e7994783c0d7" providerId="AD" clId="Web-{546987D3-0D38-48D6-BAD5-42FCF109E7DA}" dt="2024-11-13T08:50:07.654" v="3" actId="1076"/>
        <pc:sldMkLst>
          <pc:docMk/>
          <pc:sldMk cId="336607760" sldId="367"/>
        </pc:sldMkLst>
        <pc:picChg chg="mod">
          <ac:chgData name="Roddam Vaishnavi" userId="S::roddam.vaishnavi2021@vitstudent.ac.in::8a64051c-f03e-4043-8fec-e7994783c0d7" providerId="AD" clId="Web-{546987D3-0D38-48D6-BAD5-42FCF109E7DA}" dt="2024-11-13T08:49:33.607" v="2" actId="1076"/>
          <ac:picMkLst>
            <pc:docMk/>
            <pc:sldMk cId="336607760" sldId="367"/>
            <ac:picMk id="3" creationId="{00000000-0000-0000-0000-000000000000}"/>
          </ac:picMkLst>
        </pc:picChg>
        <pc:picChg chg="mod">
          <ac:chgData name="Roddam Vaishnavi" userId="S::roddam.vaishnavi2021@vitstudent.ac.in::8a64051c-f03e-4043-8fec-e7994783c0d7" providerId="AD" clId="Web-{546987D3-0D38-48D6-BAD5-42FCF109E7DA}" dt="2024-11-13T08:50:07.654" v="3" actId="1076"/>
          <ac:picMkLst>
            <pc:docMk/>
            <pc:sldMk cId="336607760" sldId="367"/>
            <ac:picMk id="4" creationId="{00000000-0000-0000-0000-000000000000}"/>
          </ac:picMkLst>
        </pc:picChg>
      </pc:sldChg>
    </pc:docChg>
  </pc:docChgLst>
  <pc:docChgLst>
    <pc:chgData name="Anish V" userId="S::anish.v2021@vitstudent.ac.in::d287fdd7-7e7e-4d62-b5cd-48623d8458b1" providerId="AD" clId="Web-{A609C137-382D-ECFB-82C0-2DF2C76D0D88}"/>
    <pc:docChg chg="modSld">
      <pc:chgData name="Anish V" userId="S::anish.v2021@vitstudent.ac.in::d287fdd7-7e7e-4d62-b5cd-48623d8458b1" providerId="AD" clId="Web-{A609C137-382D-ECFB-82C0-2DF2C76D0D88}" dt="2024-11-13T09:06:58.331" v="5" actId="1076"/>
      <pc:docMkLst>
        <pc:docMk/>
      </pc:docMkLst>
      <pc:sldChg chg="addSp delSp modSp">
        <pc:chgData name="Anish V" userId="S::anish.v2021@vitstudent.ac.in::d287fdd7-7e7e-4d62-b5cd-48623d8458b1" providerId="AD" clId="Web-{A609C137-382D-ECFB-82C0-2DF2C76D0D88}" dt="2024-11-13T09:06:58.331" v="5" actId="1076"/>
        <pc:sldMkLst>
          <pc:docMk/>
          <pc:sldMk cId="336607760" sldId="367"/>
        </pc:sldMkLst>
        <pc:spChg chg="add del mod">
          <ac:chgData name="Anish V" userId="S::anish.v2021@vitstudent.ac.in::d287fdd7-7e7e-4d62-b5cd-48623d8458b1" providerId="AD" clId="Web-{A609C137-382D-ECFB-82C0-2DF2C76D0D88}" dt="2024-11-13T09:06:36.768" v="3" actId="20577"/>
          <ac:spMkLst>
            <pc:docMk/>
            <pc:sldMk cId="336607760" sldId="367"/>
            <ac:spMk id="13" creationId="{00000000-0000-0000-0000-000000000000}"/>
          </ac:spMkLst>
        </pc:spChg>
        <pc:picChg chg="mod">
          <ac:chgData name="Anish V" userId="S::anish.v2021@vitstudent.ac.in::d287fdd7-7e7e-4d62-b5cd-48623d8458b1" providerId="AD" clId="Web-{A609C137-382D-ECFB-82C0-2DF2C76D0D88}" dt="2024-11-13T09:06:58.316" v="4" actId="1076"/>
          <ac:picMkLst>
            <pc:docMk/>
            <pc:sldMk cId="336607760" sldId="367"/>
            <ac:picMk id="3" creationId="{00000000-0000-0000-0000-000000000000}"/>
          </ac:picMkLst>
        </pc:picChg>
        <pc:picChg chg="mod">
          <ac:chgData name="Anish V" userId="S::anish.v2021@vitstudent.ac.in::d287fdd7-7e7e-4d62-b5cd-48623d8458b1" providerId="AD" clId="Web-{A609C137-382D-ECFB-82C0-2DF2C76D0D88}" dt="2024-11-13T09:06:58.331" v="5" actId="1076"/>
          <ac:picMkLst>
            <pc:docMk/>
            <pc:sldMk cId="336607760" sldId="367"/>
            <ac:picMk id="4" creationId="{00000000-0000-0000-0000-000000000000}"/>
          </ac:picMkLst>
        </pc:picChg>
      </pc:sldChg>
    </pc:docChg>
  </pc:docChgLst>
  <pc:docChgLst>
    <pc:chgData name="Swetha G" userId="S::swetha.g2021@vitstudent.ac.in::7d0e1a2e-eeff-4a72-8f10-59ffb7b68d1f" providerId="AD" clId="Web-{8BCF8784-EA54-D593-FABF-23EFE425153A}"/>
    <pc:docChg chg="modSld">
      <pc:chgData name="Swetha G" userId="S::swetha.g2021@vitstudent.ac.in::7d0e1a2e-eeff-4a72-8f10-59ffb7b68d1f" providerId="AD" clId="Web-{8BCF8784-EA54-D593-FABF-23EFE425153A}" dt="2024-11-15T14:18:44.119" v="5" actId="1076"/>
      <pc:docMkLst>
        <pc:docMk/>
      </pc:docMkLst>
      <pc:sldChg chg="modSp">
        <pc:chgData name="Swetha G" userId="S::swetha.g2021@vitstudent.ac.in::7d0e1a2e-eeff-4a72-8f10-59ffb7b68d1f" providerId="AD" clId="Web-{8BCF8784-EA54-D593-FABF-23EFE425153A}" dt="2024-11-15T14:02:55.104" v="4" actId="20577"/>
        <pc:sldMkLst>
          <pc:docMk/>
          <pc:sldMk cId="2626413179" sldId="296"/>
        </pc:sldMkLst>
        <pc:spChg chg="mod">
          <ac:chgData name="Swetha G" userId="S::swetha.g2021@vitstudent.ac.in::7d0e1a2e-eeff-4a72-8f10-59ffb7b68d1f" providerId="AD" clId="Web-{8BCF8784-EA54-D593-FABF-23EFE425153A}" dt="2024-11-15T14:02:55.104" v="4" actId="20577"/>
          <ac:spMkLst>
            <pc:docMk/>
            <pc:sldMk cId="2626413179" sldId="296"/>
            <ac:spMk id="9" creationId="{00000000-0000-0000-0000-000000000000}"/>
          </ac:spMkLst>
        </pc:spChg>
      </pc:sldChg>
      <pc:sldChg chg="modSp">
        <pc:chgData name="Swetha G" userId="S::swetha.g2021@vitstudent.ac.in::7d0e1a2e-eeff-4a72-8f10-59ffb7b68d1f" providerId="AD" clId="Web-{8BCF8784-EA54-D593-FABF-23EFE425153A}" dt="2024-11-15T14:18:44.119" v="5" actId="1076"/>
        <pc:sldMkLst>
          <pc:docMk/>
          <pc:sldMk cId="1633515507" sldId="376"/>
        </pc:sldMkLst>
        <pc:spChg chg="mod">
          <ac:chgData name="Swetha G" userId="S::swetha.g2021@vitstudent.ac.in::7d0e1a2e-eeff-4a72-8f10-59ffb7b68d1f" providerId="AD" clId="Web-{8BCF8784-EA54-D593-FABF-23EFE425153A}" dt="2024-11-15T14:18:44.119" v="5" actId="1076"/>
          <ac:spMkLst>
            <pc:docMk/>
            <pc:sldMk cId="1633515507" sldId="376"/>
            <ac:spMk id="5" creationId="{00000000-0000-0000-0000-000000000000}"/>
          </ac:spMkLst>
        </pc:spChg>
      </pc:sldChg>
    </pc:docChg>
  </pc:docChgLst>
  <pc:docChgLst>
    <pc:chgData name="Ragul D" userId="S::ragul.d2021@vitstudent.ac.in::f8f0fd99-cbd5-426e-ba0f-9b07ee85979d" providerId="AD" clId="Web-{1D0982DB-9E26-45A3-A77F-6CF42FD5E7D5}"/>
    <pc:docChg chg="modSld">
      <pc:chgData name="Ragul D" userId="S::ragul.d2021@vitstudent.ac.in::f8f0fd99-cbd5-426e-ba0f-9b07ee85979d" providerId="AD" clId="Web-{1D0982DB-9E26-45A3-A77F-6CF42FD5E7D5}" dt="2024-11-15T17:45:14.450" v="0" actId="1076"/>
      <pc:docMkLst>
        <pc:docMk/>
      </pc:docMkLst>
      <pc:sldChg chg="modSp">
        <pc:chgData name="Ragul D" userId="S::ragul.d2021@vitstudent.ac.in::f8f0fd99-cbd5-426e-ba0f-9b07ee85979d" providerId="AD" clId="Web-{1D0982DB-9E26-45A3-A77F-6CF42FD5E7D5}" dt="2024-11-15T17:45:14.450" v="0" actId="1076"/>
        <pc:sldMkLst>
          <pc:docMk/>
          <pc:sldMk cId="705447612" sldId="321"/>
        </pc:sldMkLst>
        <pc:spChg chg="mod">
          <ac:chgData name="Ragul D" userId="S::ragul.d2021@vitstudent.ac.in::f8f0fd99-cbd5-426e-ba0f-9b07ee85979d" providerId="AD" clId="Web-{1D0982DB-9E26-45A3-A77F-6CF42FD5E7D5}" dt="2024-11-15T17:45:14.450" v="0" actId="1076"/>
          <ac:spMkLst>
            <pc:docMk/>
            <pc:sldMk cId="705447612" sldId="321"/>
            <ac:spMk id="8" creationId="{00000000-0000-0000-0000-000000000000}"/>
          </ac:spMkLst>
        </pc:spChg>
      </pc:sldChg>
    </pc:docChg>
  </pc:docChgLst>
  <pc:docChgLst>
    <pc:chgData name="Heshwar" userId="S::heshwar.2021@vitstudent.ac.in::668b571b-2051-47c4-8396-181c54bb79fe" providerId="AD" clId="Web-{66BF6335-EE44-4ABF-9486-CCEDE6EA09E4}"/>
    <pc:docChg chg="modSld">
      <pc:chgData name="Heshwar" userId="S::heshwar.2021@vitstudent.ac.in::668b571b-2051-47c4-8396-181c54bb79fe" providerId="AD" clId="Web-{66BF6335-EE44-4ABF-9486-CCEDE6EA09E4}" dt="2024-11-16T17:18:50.876" v="0" actId="1076"/>
      <pc:docMkLst>
        <pc:docMk/>
      </pc:docMkLst>
      <pc:sldChg chg="modSp">
        <pc:chgData name="Heshwar" userId="S::heshwar.2021@vitstudent.ac.in::668b571b-2051-47c4-8396-181c54bb79fe" providerId="AD" clId="Web-{66BF6335-EE44-4ABF-9486-CCEDE6EA09E4}" dt="2024-11-16T17:18:50.876" v="0" actId="1076"/>
        <pc:sldMkLst>
          <pc:docMk/>
          <pc:sldMk cId="336607760" sldId="367"/>
        </pc:sldMkLst>
        <pc:picChg chg="mod">
          <ac:chgData name="Heshwar" userId="S::heshwar.2021@vitstudent.ac.in::668b571b-2051-47c4-8396-181c54bb79fe" providerId="AD" clId="Web-{66BF6335-EE44-4ABF-9486-CCEDE6EA09E4}" dt="2024-11-16T17:18:50.876" v="0" actId="1076"/>
          <ac:picMkLst>
            <pc:docMk/>
            <pc:sldMk cId="336607760" sldId="367"/>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11/16/2024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os.mbed.com/users/mbed_official/code/mbed-rto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2859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3" name="Flowchart: Alternate Process 12"/>
          <p:cNvSpPr/>
          <p:nvPr/>
        </p:nvSpPr>
        <p:spPr>
          <a:xfrm>
            <a:off x="692731" y="2434647"/>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LAB-13</a:t>
            </a:r>
          </a:p>
          <a:p>
            <a:pPr algn="ctr"/>
            <a:r>
              <a:rPr lang="en-IN"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mbed RTOS</a:t>
            </a:r>
          </a:p>
        </p:txBody>
      </p:sp>
      <p:sp>
        <p:nvSpPr>
          <p:cNvPr id="8" name="TextBox 7"/>
          <p:cNvSpPr txBox="1"/>
          <p:nvPr/>
        </p:nvSpPr>
        <p:spPr>
          <a:xfrm>
            <a:off x="350982" y="1525720"/>
            <a:ext cx="11350867" cy="769441"/>
          </a:xfrm>
          <a:prstGeom prst="rect">
            <a:avLst/>
          </a:prstGeom>
          <a:noFill/>
        </p:spPr>
        <p:txBody>
          <a:bodyPr wrap="square" rtlCol="0">
            <a:spAutoFit/>
          </a:bodyPr>
          <a:lstStyle/>
          <a:p>
            <a:pPr algn="ctr"/>
            <a:r>
              <a:rPr lang="en-US" sz="44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
        <p:nvSpPr>
          <p:cNvPr id="9" name="Pentagon 8"/>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39989F56-CDD1-4D38-8356-4B66AE2768AD}" type="slidenum">
              <a:rPr lang="en-US" sz="1400" b="1" smtClean="0">
                <a:solidFill>
                  <a:schemeClr val="bg1"/>
                </a:solidFill>
                <a:latin typeface="Century Gothic" panose="020B0502020202020204" pitchFamily="34" charset="0"/>
              </a:rPr>
              <a:t>1</a:t>
            </a:fld>
            <a:endParaRPr lang="en-US" sz="1400" b="1">
              <a:solidFill>
                <a:schemeClr val="bg1"/>
              </a:solidFill>
              <a:latin typeface="Century Gothic" panose="020B0502020202020204" pitchFamily="34" charset="0"/>
            </a:endParaRPr>
          </a:p>
        </p:txBody>
      </p:sp>
      <p:sp>
        <p:nvSpPr>
          <p:cNvPr id="10" name="TextBox 9"/>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Tree>
    <p:extLst>
      <p:ext uri="{BB962C8B-B14F-4D97-AF65-F5344CB8AC3E}">
        <p14:creationId xmlns:p14="http://schemas.microsoft.com/office/powerpoint/2010/main" val="4169447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err="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Mbed</a:t>
            </a: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 RTOS </a:t>
            </a:r>
          </a:p>
        </p:txBody>
      </p:sp>
      <p:sp>
        <p:nvSpPr>
          <p:cNvPr id="8" name="TextBox 7"/>
          <p:cNvSpPr txBox="1"/>
          <p:nvPr/>
        </p:nvSpPr>
        <p:spPr>
          <a:xfrm>
            <a:off x="216859" y="1030956"/>
            <a:ext cx="11745907" cy="5632311"/>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ARM Mbed OS is an open source embedded operating system designed specifically for the "things" in the </a:t>
            </a:r>
            <a:r>
              <a:rPr lang="en-IN" sz="2400">
                <a:solidFill>
                  <a:srgbClr val="C00000"/>
                </a:solidFill>
                <a:latin typeface="Tw Cen MT" panose="020B0602020104020603" pitchFamily="34" charset="0"/>
                <a:cs typeface="Segoe UI" panose="020B0502040204020203" pitchFamily="34" charset="0"/>
              </a:rPr>
              <a:t>Internet of Things. </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It includes all the features to develop a product based on an Arm Cortex-M microcontroller, including </a:t>
            </a:r>
            <a:r>
              <a:rPr lang="en-IN" sz="2400">
                <a:solidFill>
                  <a:srgbClr val="C00000"/>
                </a:solidFill>
                <a:latin typeface="Tw Cen MT" panose="020B0602020104020603" pitchFamily="34" charset="0"/>
                <a:cs typeface="Segoe UI" panose="020B0502040204020203" pitchFamily="34" charset="0"/>
              </a:rPr>
              <a:t>security, connectivity, an RTOS and drivers for sensors and I/O devices.</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mbed Real Time Operating System </a:t>
            </a:r>
            <a:r>
              <a:rPr lang="en-IN" sz="2400">
                <a:solidFill>
                  <a:srgbClr val="C00000"/>
                </a:solidFill>
                <a:latin typeface="Tw Cen MT" panose="020B0602020104020603" pitchFamily="34" charset="0"/>
                <a:cs typeface="Segoe UI" panose="020B0502040204020203" pitchFamily="34" charset="0"/>
              </a:rPr>
              <a:t>based on the RTX implementation </a:t>
            </a:r>
            <a:r>
              <a:rPr lang="en-IN" sz="2400">
                <a:solidFill>
                  <a:schemeClr val="bg1"/>
                </a:solidFill>
                <a:latin typeface="Tw Cen MT" panose="020B0602020104020603" pitchFamily="34" charset="0"/>
                <a:cs typeface="Segoe UI" panose="020B0502040204020203" pitchFamily="34" charset="0"/>
              </a:rPr>
              <a:t>of the CMSIS-RTOS API open standard.</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One of the key features of mbed RTOS is that it </a:t>
            </a:r>
            <a:r>
              <a:rPr lang="en-IN" sz="2400">
                <a:solidFill>
                  <a:srgbClr val="C00000"/>
                </a:solidFill>
                <a:latin typeface="Tw Cen MT" panose="020B0602020104020603" pitchFamily="34" charset="0"/>
                <a:cs typeface="Segoe UI" panose="020B0502040204020203" pitchFamily="34" charset="0"/>
              </a:rPr>
              <a:t>supports </a:t>
            </a:r>
            <a:r>
              <a:rPr lang="en-IN" sz="2400" err="1">
                <a:solidFill>
                  <a:srgbClr val="C00000"/>
                </a:solidFill>
                <a:latin typeface="Tw Cen MT" panose="020B0602020104020603" pitchFamily="34" charset="0"/>
                <a:cs typeface="Segoe UI" panose="020B0502040204020203" pitchFamily="34" charset="0"/>
              </a:rPr>
              <a:t>preemptive</a:t>
            </a:r>
            <a:r>
              <a:rPr lang="en-IN" sz="2400">
                <a:solidFill>
                  <a:srgbClr val="C00000"/>
                </a:solidFill>
                <a:latin typeface="Tw Cen MT" panose="020B0602020104020603" pitchFamily="34" charset="0"/>
                <a:cs typeface="Segoe UI" panose="020B0502040204020203" pitchFamily="34" charset="0"/>
              </a:rPr>
              <a:t> interrupt-based scheduling.</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Several tasks can be </a:t>
            </a:r>
            <a:r>
              <a:rPr lang="en-IN" sz="2400">
                <a:solidFill>
                  <a:srgbClr val="C00000"/>
                </a:solidFill>
                <a:latin typeface="Tw Cen MT" panose="020B0602020104020603" pitchFamily="34" charset="0"/>
                <a:cs typeface="Segoe UI" panose="020B0502040204020203" pitchFamily="34" charset="0"/>
              </a:rPr>
              <a:t>given different priorities, </a:t>
            </a:r>
            <a:r>
              <a:rPr lang="en-IN" sz="2400">
                <a:solidFill>
                  <a:schemeClr val="bg1"/>
                </a:solidFill>
                <a:latin typeface="Tw Cen MT" panose="020B0602020104020603" pitchFamily="34" charset="0"/>
                <a:cs typeface="Segoe UI" panose="020B0502040204020203" pitchFamily="34" charset="0"/>
              </a:rPr>
              <a:t>they can be scheduled to start, stop, communicate with other, and share resources. </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Note that the RTOS function discussed in this lab experiments are refer to </a:t>
            </a:r>
            <a:r>
              <a:rPr lang="en-IN" sz="2400">
                <a:solidFill>
                  <a:srgbClr val="C00000"/>
                </a:solidFill>
                <a:latin typeface="Tw Cen MT" panose="020B0602020104020603" pitchFamily="34" charset="0"/>
                <a:cs typeface="Segoe UI" panose="020B0502040204020203" pitchFamily="34" charset="0"/>
              </a:rPr>
              <a:t>Mbed OS 2. </a:t>
            </a:r>
            <a:r>
              <a:rPr lang="en-IN" sz="2400">
                <a:solidFill>
                  <a:schemeClr val="bg1"/>
                </a:solidFill>
                <a:latin typeface="Tw Cen MT" panose="020B0602020104020603" pitchFamily="34" charset="0"/>
                <a:cs typeface="Segoe UI" panose="020B0502040204020203" pitchFamily="34" charset="0"/>
              </a:rPr>
              <a:t>Other mbed OS versions may have different functions and features.</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2</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Tree>
    <p:extLst>
      <p:ext uri="{BB962C8B-B14F-4D97-AF65-F5344CB8AC3E}">
        <p14:creationId xmlns:p14="http://schemas.microsoft.com/office/powerpoint/2010/main" val="244907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THREAD IN </a:t>
            </a:r>
            <a:r>
              <a:rPr lang="en-US" sz="3600" b="1" err="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mbed</a:t>
            </a: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 RTOS</a:t>
            </a:r>
          </a:p>
        </p:txBody>
      </p:sp>
      <p:sp>
        <p:nvSpPr>
          <p:cNvPr id="8" name="TextBox 7"/>
          <p:cNvSpPr txBox="1"/>
          <p:nvPr/>
        </p:nvSpPr>
        <p:spPr>
          <a:xfrm>
            <a:off x="216859" y="1114082"/>
            <a:ext cx="11745907" cy="2492990"/>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A thread is basically a function in a program </a:t>
            </a:r>
            <a:r>
              <a:rPr lang="en-IN" sz="2400">
                <a:solidFill>
                  <a:schemeClr val="bg1"/>
                </a:solidFill>
                <a:latin typeface="Tw Cen MT" panose="020B0602020104020603" pitchFamily="34" charset="0"/>
                <a:cs typeface="Segoe UI" panose="020B0502040204020203" pitchFamily="34" charset="0"/>
              </a:rPr>
              <a:t>which normally runs continuously after it is started. </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The Thread class allows </a:t>
            </a:r>
            <a:r>
              <a:rPr lang="en-IN" sz="2400">
                <a:solidFill>
                  <a:srgbClr val="C00000"/>
                </a:solidFill>
                <a:latin typeface="Tw Cen MT" panose="020B0602020104020603" pitchFamily="34" charset="0"/>
                <a:cs typeface="Segoe UI" panose="020B0502040204020203" pitchFamily="34" charset="0"/>
              </a:rPr>
              <a:t>defining, creating, and controlling thread functions in the system. </a:t>
            </a:r>
          </a:p>
          <a:p>
            <a:pPr marL="457200" indent="-457200" algn="just">
              <a:buClr>
                <a:schemeClr val="accent5">
                  <a:lumMod val="75000"/>
                </a:schemeClr>
              </a:buClr>
              <a:buFont typeface="Wingdings" panose="05000000000000000000" pitchFamily="2" charset="2"/>
              <a:buChar char="Ø"/>
            </a:pPr>
            <a:endParaRPr lang="en-IN" sz="12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Function </a:t>
            </a:r>
            <a:r>
              <a:rPr lang="en-IN" sz="2400" err="1">
                <a:solidFill>
                  <a:srgbClr val="C00000"/>
                </a:solidFill>
                <a:latin typeface="Tw Cen MT" panose="020B0602020104020603" pitchFamily="34" charset="0"/>
                <a:cs typeface="Segoe UI" panose="020B0502040204020203" pitchFamily="34" charset="0"/>
              </a:rPr>
              <a:t>thread.start</a:t>
            </a:r>
            <a:r>
              <a:rPr lang="en-IN" sz="2400">
                <a:solidFill>
                  <a:srgbClr val="C00000"/>
                </a:solidFill>
                <a:latin typeface="Tw Cen MT" panose="020B0602020104020603" pitchFamily="34" charset="0"/>
                <a:cs typeface="Segoe UI" panose="020B0502040204020203" pitchFamily="34" charset="0"/>
              </a:rPr>
              <a:t>(name)</a:t>
            </a:r>
            <a:r>
              <a:rPr lang="en-IN" sz="2400">
                <a:solidFill>
                  <a:schemeClr val="bg1"/>
                </a:solidFill>
                <a:latin typeface="Tw Cen MT" panose="020B0602020104020603" pitchFamily="34" charset="0"/>
                <a:cs typeface="Segoe UI" panose="020B0502040204020203" pitchFamily="34" charset="0"/>
              </a:rPr>
              <a:t> starts thread called name. Function </a:t>
            </a:r>
            <a:r>
              <a:rPr lang="en-IN" sz="2400">
                <a:solidFill>
                  <a:srgbClr val="C00000"/>
                </a:solidFill>
                <a:latin typeface="Tw Cen MT" panose="020B0602020104020603" pitchFamily="34" charset="0"/>
                <a:cs typeface="Segoe UI" panose="020B0502040204020203" pitchFamily="34" charset="0"/>
              </a:rPr>
              <a:t>Thread::wait(n) </a:t>
            </a:r>
            <a:r>
              <a:rPr lang="en-IN" sz="2400">
                <a:solidFill>
                  <a:schemeClr val="bg1"/>
                </a:solidFill>
                <a:latin typeface="Tw Cen MT" panose="020B0602020104020603" pitchFamily="34" charset="0"/>
                <a:cs typeface="Segoe UI" panose="020B0502040204020203" pitchFamily="34" charset="0"/>
              </a:rPr>
              <a:t>should be used to create “n” milliseconds of delay in a thread.</a:t>
            </a:r>
          </a:p>
          <a:p>
            <a:pPr algn="just">
              <a:buClr>
                <a:schemeClr val="accent5">
                  <a:lumMod val="75000"/>
                </a:schemeClr>
              </a:buClr>
            </a:pPr>
            <a:endParaRPr lang="en-IN" sz="12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3</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pic>
        <p:nvPicPr>
          <p:cNvPr id="9" name="Picture 8"/>
          <p:cNvPicPr>
            <a:picLocks noChangeAspect="1"/>
          </p:cNvPicPr>
          <p:nvPr/>
        </p:nvPicPr>
        <p:blipFill>
          <a:blip r:embed="rId2"/>
          <a:stretch>
            <a:fillRect/>
          </a:stretch>
        </p:blipFill>
        <p:spPr>
          <a:xfrm>
            <a:off x="1909730" y="3679371"/>
            <a:ext cx="8360163" cy="2753936"/>
          </a:xfrm>
          <a:prstGeom prst="rect">
            <a:avLst/>
          </a:prstGeom>
        </p:spPr>
      </p:pic>
      <p:sp>
        <p:nvSpPr>
          <p:cNvPr id="13" name="Rectangle 12"/>
          <p:cNvSpPr/>
          <p:nvPr/>
        </p:nvSpPr>
        <p:spPr>
          <a:xfrm>
            <a:off x="1689001" y="3617695"/>
            <a:ext cx="1431480" cy="4014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05074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4</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
        <p:nvSpPr>
          <p:cNvPr id="9" name="TextBox 7"/>
          <p:cNvSpPr txBox="1"/>
          <p:nvPr/>
        </p:nvSpPr>
        <p:spPr>
          <a:xfrm>
            <a:off x="293687" y="1000494"/>
            <a:ext cx="11592251" cy="313932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IN" sz="2800" b="1">
                <a:solidFill>
                  <a:srgbClr val="C00000"/>
                </a:solidFill>
                <a:latin typeface="Tw Cen MT"/>
                <a:cs typeface="Segoe UI"/>
              </a:rPr>
              <a:t>Multitasking application using LEDs</a:t>
            </a:r>
            <a:endParaRPr lang="en-US"/>
          </a:p>
          <a:p>
            <a:pPr algn="just">
              <a:buClr>
                <a:schemeClr val="accent5">
                  <a:lumMod val="75000"/>
                </a:schemeClr>
              </a:buClr>
            </a:pPr>
            <a:r>
              <a:rPr lang="en-IN" sz="2600">
                <a:solidFill>
                  <a:schemeClr val="bg1"/>
                </a:solidFill>
                <a:latin typeface="Tw Cen MT"/>
                <a:cs typeface="Segoe UI"/>
              </a:rPr>
              <a:t>Write a </a:t>
            </a:r>
            <a:r>
              <a:rPr lang="en-IN" sz="2600" err="1">
                <a:solidFill>
                  <a:schemeClr val="bg1"/>
                </a:solidFill>
                <a:latin typeface="Tw Cen MT"/>
                <a:cs typeface="Segoe UI"/>
              </a:rPr>
              <a:t>mbed</a:t>
            </a:r>
            <a:r>
              <a:rPr lang="en-IN" sz="2600">
                <a:solidFill>
                  <a:schemeClr val="bg1"/>
                </a:solidFill>
                <a:latin typeface="Tw Cen MT"/>
                <a:cs typeface="Segoe UI"/>
              </a:rPr>
              <a:t> RTOS program to demonstrate a simple multitasking application. Create a two threads named Thread1 and Thread2. Perform blinking of LED1 connected to PC_10 for every one second in Thread1. Terminate the Thread1 operation after 10 seconds. Perform blinking of LED2 connected to PC_11 for every 0.5 second in Thread2. Design and implement this logic on the STM 32 </a:t>
            </a:r>
            <a:r>
              <a:rPr lang="en-IN" sz="2600" err="1">
                <a:solidFill>
                  <a:schemeClr val="bg1"/>
                </a:solidFill>
                <a:latin typeface="Tw Cen MT"/>
                <a:cs typeface="Segoe UI"/>
              </a:rPr>
              <a:t>Nucleo</a:t>
            </a:r>
            <a:r>
              <a:rPr lang="en-IN" sz="2600">
                <a:solidFill>
                  <a:schemeClr val="bg1"/>
                </a:solidFill>
                <a:latin typeface="Tw Cen MT"/>
                <a:cs typeface="Segoe UI"/>
              </a:rPr>
              <a:t> L152RE board using Keil studio could platform. </a:t>
            </a:r>
          </a:p>
        </p:txBody>
      </p:sp>
      <p:sp>
        <p:nvSpPr>
          <p:cNvPr id="8" name="Rectangle 7"/>
          <p:cNvSpPr/>
          <p:nvPr/>
        </p:nvSpPr>
        <p:spPr>
          <a:xfrm>
            <a:off x="474233" y="4498602"/>
            <a:ext cx="11592251" cy="1646605"/>
          </a:xfrm>
          <a:prstGeom prst="rect">
            <a:avLst/>
          </a:prstGeom>
        </p:spPr>
        <p:txBody>
          <a:bodyPr wrap="square">
            <a:spAutoFit/>
          </a:bodyPr>
          <a:lstStyle/>
          <a:p>
            <a:r>
              <a:rPr lang="en-IN" sz="2000" u="sng">
                <a:solidFill>
                  <a:srgbClr val="C00000"/>
                </a:solidFill>
                <a:latin typeface="Tw Cen MT" panose="020B0602020104020603" pitchFamily="34" charset="0"/>
              </a:rPr>
              <a:t>Important Note: </a:t>
            </a:r>
          </a:p>
          <a:p>
            <a:pPr marL="285750" indent="-285750">
              <a:lnSpc>
                <a:spcPct val="150000"/>
              </a:lnSpc>
              <a:buFont typeface="Arial" panose="020B0604020202020204" pitchFamily="34" charset="0"/>
              <a:buChar char="•"/>
            </a:pPr>
            <a:r>
              <a:rPr lang="en-IN">
                <a:solidFill>
                  <a:schemeClr val="bg1"/>
                </a:solidFill>
                <a:latin typeface="Tw Cen MT" panose="020B0602020104020603" pitchFamily="34" charset="0"/>
              </a:rPr>
              <a:t>Add RTOS library into your project by right clicking on Add mbed library and copy past the below link in the URL field, then select default option on the next pop-up window Link: </a:t>
            </a:r>
            <a:r>
              <a:rPr lang="en-IN">
                <a:solidFill>
                  <a:srgbClr val="3333FF"/>
                </a:solidFill>
                <a:latin typeface="Tw Cen MT" panose="020B0602020104020603" pitchFamily="34" charset="0"/>
              </a:rPr>
              <a:t> </a:t>
            </a:r>
            <a:r>
              <a:rPr lang="en-IN">
                <a:solidFill>
                  <a:srgbClr val="3333FF"/>
                </a:solidFill>
                <a:latin typeface="Tw Cen MT" panose="020B0602020104020603" pitchFamily="34" charset="0"/>
                <a:hlinkClick r:id="rId2"/>
              </a:rPr>
              <a:t>https://os.mbed.com/users/mbed_official/code/mbed-rtos</a:t>
            </a:r>
            <a:endParaRPr lang="en-IN">
              <a:solidFill>
                <a:srgbClr val="3333FF"/>
              </a:solidFill>
              <a:latin typeface="Tw Cen MT" panose="020B0602020104020603" pitchFamily="34" charset="0"/>
            </a:endParaRPr>
          </a:p>
          <a:p>
            <a:pPr marL="285750" indent="-285750">
              <a:lnSpc>
                <a:spcPct val="150000"/>
              </a:lnSpc>
              <a:buFont typeface="Arial" panose="020B0604020202020204" pitchFamily="34" charset="0"/>
              <a:buChar char="•"/>
            </a:pPr>
            <a:r>
              <a:rPr lang="en-IN">
                <a:solidFill>
                  <a:schemeClr val="bg1"/>
                </a:solidFill>
                <a:latin typeface="Tw Cen MT" panose="020B0602020104020603" pitchFamily="34" charset="0"/>
              </a:rPr>
              <a:t>Refer detailed list of RTOS API: </a:t>
            </a:r>
            <a:r>
              <a:rPr lang="en-IN">
                <a:solidFill>
                  <a:srgbClr val="3333FF"/>
                </a:solidFill>
                <a:latin typeface="Tw Cen MT" panose="020B0602020104020603" pitchFamily="34" charset="0"/>
              </a:rPr>
              <a:t> https://os.mbed.com/handbook/RTOS</a:t>
            </a:r>
          </a:p>
        </p:txBody>
      </p:sp>
    </p:spTree>
    <p:extLst>
      <p:ext uri="{BB962C8B-B14F-4D97-AF65-F5344CB8AC3E}">
        <p14:creationId xmlns:p14="http://schemas.microsoft.com/office/powerpoint/2010/main" val="2626413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5</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pic>
        <p:nvPicPr>
          <p:cNvPr id="3" name="Picture 2"/>
          <p:cNvPicPr>
            <a:picLocks noChangeAspect="1"/>
          </p:cNvPicPr>
          <p:nvPr/>
        </p:nvPicPr>
        <p:blipFill>
          <a:blip r:embed="rId2"/>
          <a:stretch>
            <a:fillRect/>
          </a:stretch>
        </p:blipFill>
        <p:spPr>
          <a:xfrm>
            <a:off x="3907110" y="1199755"/>
            <a:ext cx="6656240" cy="3793991"/>
          </a:xfrm>
          <a:prstGeom prst="rect">
            <a:avLst/>
          </a:prstGeom>
        </p:spPr>
      </p:pic>
      <p:pic>
        <p:nvPicPr>
          <p:cNvPr id="4" name="Picture 3"/>
          <p:cNvPicPr>
            <a:picLocks noChangeAspect="1"/>
          </p:cNvPicPr>
          <p:nvPr/>
        </p:nvPicPr>
        <p:blipFill>
          <a:blip r:embed="rId3"/>
          <a:stretch>
            <a:fillRect/>
          </a:stretch>
        </p:blipFill>
        <p:spPr>
          <a:xfrm>
            <a:off x="3907110" y="4879145"/>
            <a:ext cx="6656240" cy="1384950"/>
          </a:xfrm>
          <a:prstGeom prst="rect">
            <a:avLst/>
          </a:prstGeom>
        </p:spPr>
      </p:pic>
      <p:sp>
        <p:nvSpPr>
          <p:cNvPr id="13" name="TextBox 12"/>
          <p:cNvSpPr txBox="1"/>
          <p:nvPr/>
        </p:nvSpPr>
        <p:spPr>
          <a:xfrm>
            <a:off x="1065189" y="1016156"/>
            <a:ext cx="3146199" cy="669222"/>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endParaRPr lang="en-IN" sz="2800" b="1" err="1">
              <a:solidFill>
                <a:srgbClr val="C00000"/>
              </a:solidFill>
              <a:latin typeface="Tw Cen MT" panose="020B0602020104020603" pitchFamily="34" charset="0"/>
              <a:cs typeface="Segoe UI" panose="020B0502040204020203" pitchFamily="34" charset="0"/>
            </a:endParaRPr>
          </a:p>
        </p:txBody>
      </p:sp>
    </p:spTree>
    <p:extLst>
      <p:ext uri="{BB962C8B-B14F-4D97-AF65-F5344CB8AC3E}">
        <p14:creationId xmlns:p14="http://schemas.microsoft.com/office/powerpoint/2010/main" val="336607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MUTEX </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 </a:t>
            </a:r>
            <a:r>
              <a:rPr kumimoji="0" lang="en-US" sz="3600" b="1" i="0" u="none" strike="noStrike" kern="1200" cap="none" spc="0" normalizeH="0" baseline="0" noProof="0" err="1">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mbed</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 RTOS</a:t>
            </a:r>
          </a:p>
        </p:txBody>
      </p:sp>
      <p:sp>
        <p:nvSpPr>
          <p:cNvPr id="8" name="TextBox 7"/>
          <p:cNvSpPr txBox="1"/>
          <p:nvPr/>
        </p:nvSpPr>
        <p:spPr>
          <a:xfrm>
            <a:off x="216859" y="1095606"/>
            <a:ext cx="11745907" cy="5262979"/>
          </a:xfrm>
          <a:prstGeom prst="rect">
            <a:avLst/>
          </a:prstGeom>
          <a:noFill/>
        </p:spPr>
        <p:txBody>
          <a:bodyPr wrap="square" rtlCol="0">
            <a:spAutoFit/>
          </a:bodyPr>
          <a:lstStyle/>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Mbed provides a number of functions for synchronizing threads when multiple threads need </a:t>
            </a:r>
            <a:r>
              <a:rPr lang="en-IN" sz="2400">
                <a:solidFill>
                  <a:srgbClr val="C00000"/>
                </a:solidFill>
                <a:latin typeface="Tw Cen MT" panose="020B0602020104020603" pitchFamily="34" charset="0"/>
                <a:cs typeface="Segoe UI" panose="020B0502040204020203" pitchFamily="34" charset="0"/>
              </a:rPr>
              <a:t>to access common global variables. </a:t>
            </a:r>
          </a:p>
          <a:p>
            <a:pPr marL="457200" lvl="0" indent="-457200" algn="just">
              <a:buClr>
                <a:srgbClr val="DD9D31">
                  <a:lumMod val="75000"/>
                </a:srgbClr>
              </a:buClr>
              <a:buFont typeface="Wingdings" panose="05000000000000000000" pitchFamily="2" charset="2"/>
              <a:buChar char="Ø"/>
            </a:pPr>
            <a:endParaRPr kumimoji="0" lang="en-IN" sz="12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err="1">
                <a:solidFill>
                  <a:srgbClr val="C00000"/>
                </a:solidFill>
                <a:latin typeface="Tw Cen MT" panose="020B0602020104020603" pitchFamily="34" charset="0"/>
                <a:cs typeface="Segoe UI" panose="020B0502040204020203" pitchFamily="34" charset="0"/>
              </a:rPr>
              <a:t>Mutexes</a:t>
            </a:r>
            <a:r>
              <a:rPr lang="en-IN" sz="2400">
                <a:solidFill>
                  <a:srgbClr val="C00000"/>
                </a:solidFill>
                <a:latin typeface="Tw Cen MT" panose="020B0602020104020603" pitchFamily="34" charset="0"/>
                <a:cs typeface="Segoe UI" panose="020B0502040204020203" pitchFamily="34" charset="0"/>
              </a:rPr>
              <a:t> (or mutual exclusion objects) </a:t>
            </a:r>
            <a:r>
              <a:rPr lang="en-IN" sz="2400">
                <a:solidFill>
                  <a:prstClr val="black"/>
                </a:solidFill>
                <a:latin typeface="Tw Cen MT" panose="020B0602020104020603" pitchFamily="34" charset="0"/>
                <a:cs typeface="Segoe UI" panose="020B0502040204020203" pitchFamily="34" charset="0"/>
              </a:rPr>
              <a:t>are programming objects that allow multiple pro-gram threads to share the same resource in a orderly manner, such as data or file.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A </a:t>
            </a:r>
            <a:r>
              <a:rPr lang="en-IN" sz="2400" err="1">
                <a:solidFill>
                  <a:prstClr val="black"/>
                </a:solidFill>
                <a:latin typeface="Tw Cen MT" panose="020B0602020104020603" pitchFamily="34" charset="0"/>
                <a:cs typeface="Segoe UI" panose="020B0502040204020203" pitchFamily="34" charset="0"/>
              </a:rPr>
              <a:t>mutex</a:t>
            </a:r>
            <a:r>
              <a:rPr lang="en-IN" sz="2400">
                <a:solidFill>
                  <a:prstClr val="black"/>
                </a:solidFill>
                <a:latin typeface="Tw Cen MT" panose="020B0602020104020603" pitchFamily="34" charset="0"/>
                <a:cs typeface="Segoe UI" panose="020B0502040204020203" pitchFamily="34" charset="0"/>
              </a:rPr>
              <a:t> is given a unique name when it is created. The resource is </a:t>
            </a:r>
            <a:r>
              <a:rPr lang="en-IN" sz="2400">
                <a:solidFill>
                  <a:srgbClr val="C00000"/>
                </a:solidFill>
                <a:latin typeface="Tw Cen MT" panose="020B0602020104020603" pitchFamily="34" charset="0"/>
                <a:cs typeface="Segoe UI" panose="020B0502040204020203" pitchFamily="34" charset="0"/>
              </a:rPr>
              <a:t>shared in locked by a thread.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Once locked, </a:t>
            </a:r>
            <a:r>
              <a:rPr lang="en-IN" sz="2400">
                <a:solidFill>
                  <a:srgbClr val="C00000"/>
                </a:solidFill>
                <a:latin typeface="Tw Cen MT" panose="020B0602020104020603" pitchFamily="34" charset="0"/>
                <a:cs typeface="Segoe UI" panose="020B0502040204020203" pitchFamily="34" charset="0"/>
              </a:rPr>
              <a:t>other threads cannot access this resource </a:t>
            </a:r>
            <a:r>
              <a:rPr lang="en-IN" sz="2400">
                <a:solidFill>
                  <a:prstClr val="black"/>
                </a:solidFill>
                <a:latin typeface="Tw Cen MT" panose="020B0602020104020603" pitchFamily="34" charset="0"/>
                <a:cs typeface="Segoe UI" panose="020B0502040204020203" pitchFamily="34" charset="0"/>
              </a:rPr>
              <a:t>until it is released by the thread that locked it. Therefore, a </a:t>
            </a:r>
            <a:r>
              <a:rPr lang="en-IN" sz="2400" err="1">
                <a:solidFill>
                  <a:srgbClr val="C00000"/>
                </a:solidFill>
                <a:latin typeface="Tw Cen MT" panose="020B0602020104020603" pitchFamily="34" charset="0"/>
                <a:cs typeface="Segoe UI" panose="020B0502040204020203" pitchFamily="34" charset="0"/>
              </a:rPr>
              <a:t>mutex</a:t>
            </a:r>
            <a:r>
              <a:rPr lang="en-IN" sz="2400">
                <a:solidFill>
                  <a:srgbClr val="C00000"/>
                </a:solidFill>
                <a:latin typeface="Tw Cen MT" panose="020B0602020104020603" pitchFamily="34" charset="0"/>
                <a:cs typeface="Segoe UI" panose="020B0502040204020203" pitchFamily="34" charset="0"/>
              </a:rPr>
              <a:t> is like a lock of a shared resource.</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A </a:t>
            </a:r>
            <a:r>
              <a:rPr lang="en-IN" sz="2400" err="1">
                <a:solidFill>
                  <a:srgbClr val="C00000"/>
                </a:solidFill>
                <a:latin typeface="Tw Cen MT" panose="020B0602020104020603" pitchFamily="34" charset="0"/>
                <a:cs typeface="Segoe UI" panose="020B0502040204020203" pitchFamily="34" charset="0"/>
              </a:rPr>
              <a:t>mutex</a:t>
            </a:r>
            <a:r>
              <a:rPr lang="en-IN" sz="2400">
                <a:solidFill>
                  <a:srgbClr val="C00000"/>
                </a:solidFill>
                <a:latin typeface="Tw Cen MT" panose="020B0602020104020603" pitchFamily="34" charset="0"/>
                <a:cs typeface="Segoe UI" panose="020B0502040204020203" pitchFamily="34" charset="0"/>
              </a:rPr>
              <a:t> is owned by the thread </a:t>
            </a:r>
            <a:r>
              <a:rPr lang="en-IN" sz="2400">
                <a:solidFill>
                  <a:prstClr val="black"/>
                </a:solidFill>
                <a:latin typeface="Tw Cen MT" panose="020B0602020104020603" pitchFamily="34" charset="0"/>
                <a:cs typeface="Segoe UI" panose="020B0502040204020203" pitchFamily="34" charset="0"/>
              </a:rPr>
              <a:t>that uses it to lock the resource and any other thread cannot unlock this </a:t>
            </a:r>
            <a:r>
              <a:rPr lang="en-IN" sz="2400" err="1">
                <a:solidFill>
                  <a:prstClr val="black"/>
                </a:solidFill>
                <a:latin typeface="Tw Cen MT" panose="020B0602020104020603" pitchFamily="34" charset="0"/>
                <a:cs typeface="Segoe UI" panose="020B0502040204020203" pitchFamily="34" charset="0"/>
              </a:rPr>
              <a:t>mutex</a:t>
            </a:r>
            <a:r>
              <a:rPr lang="en-IN" sz="2400">
                <a:solidFill>
                  <a:prstClr val="black"/>
                </a:solidFill>
                <a:latin typeface="Tw Cen MT" panose="020B0602020104020603" pitchFamily="34" charset="0"/>
                <a:cs typeface="Segoe UI" panose="020B0502040204020203" pitchFamily="34" charset="0"/>
              </a:rPr>
              <a:t>.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Mbed functions </a:t>
            </a:r>
            <a:r>
              <a:rPr lang="en-IN" sz="2400">
                <a:solidFill>
                  <a:srgbClr val="C00000"/>
                </a:solidFill>
                <a:latin typeface="Tw Cen MT" panose="020B0602020104020603" pitchFamily="34" charset="0"/>
                <a:cs typeface="Segoe UI" panose="020B0502040204020203" pitchFamily="34" charset="0"/>
              </a:rPr>
              <a:t>lock() and unlock()</a:t>
            </a:r>
            <a:r>
              <a:rPr lang="en-IN" sz="2400">
                <a:solidFill>
                  <a:prstClr val="black"/>
                </a:solidFill>
                <a:latin typeface="Tw Cen MT" panose="020B0602020104020603" pitchFamily="34" charset="0"/>
                <a:cs typeface="Segoe UI" panose="020B0502040204020203" pitchFamily="34" charset="0"/>
              </a:rPr>
              <a:t>are used to lock and unlock a </a:t>
            </a:r>
            <a:r>
              <a:rPr lang="en-IN" sz="2400" err="1">
                <a:solidFill>
                  <a:prstClr val="black"/>
                </a:solidFill>
                <a:latin typeface="Tw Cen MT" panose="020B0602020104020603" pitchFamily="34" charset="0"/>
                <a:cs typeface="Segoe UI" panose="020B0502040204020203" pitchFamily="34" charset="0"/>
              </a:rPr>
              <a:t>mutex</a:t>
            </a:r>
            <a:r>
              <a:rPr lang="en-IN" sz="2400">
                <a:solidFill>
                  <a:prstClr val="black"/>
                </a:solidFill>
                <a:latin typeface="Tw Cen MT" panose="020B0602020104020603" pitchFamily="34" charset="0"/>
                <a:cs typeface="Segoe UI" panose="020B0502040204020203" pitchFamily="34" charset="0"/>
              </a:rPr>
              <a:t>, respectively.</a:t>
            </a:r>
            <a:endParaRPr kumimoji="0" lang="en-IN" sz="24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LAB-13</a:t>
            </a:r>
          </a:p>
        </p:txBody>
      </p:sp>
    </p:spTree>
    <p:extLst>
      <p:ext uri="{BB962C8B-B14F-4D97-AF65-F5344CB8AC3E}">
        <p14:creationId xmlns:p14="http://schemas.microsoft.com/office/powerpoint/2010/main" val="9072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SEMAPHORE </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 </a:t>
            </a:r>
            <a:r>
              <a:rPr kumimoji="0" lang="en-US" sz="3600" b="1" i="0" u="none" strike="noStrike" kern="1200" cap="none" spc="0" normalizeH="0" baseline="0" noProof="0" err="1">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mbed</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 RTOS</a:t>
            </a:r>
          </a:p>
        </p:txBody>
      </p:sp>
      <p:sp>
        <p:nvSpPr>
          <p:cNvPr id="8" name="TextBox 7"/>
          <p:cNvSpPr txBox="1"/>
          <p:nvPr/>
        </p:nvSpPr>
        <p:spPr>
          <a:xfrm>
            <a:off x="216859" y="1114081"/>
            <a:ext cx="11745907" cy="5078313"/>
          </a:xfrm>
          <a:prstGeom prst="rect">
            <a:avLst/>
          </a:prstGeom>
          <a:noFill/>
        </p:spPr>
        <p:txBody>
          <a:bodyPr wrap="square" rtlCol="0">
            <a:spAutoFit/>
          </a:bodyPr>
          <a:lstStyle/>
          <a:p>
            <a:pPr marL="457200" lvl="0" indent="-457200" algn="just">
              <a:buClr>
                <a:srgbClr val="DD9D31">
                  <a:lumMod val="75000"/>
                </a:srgb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A semaphore is simply a nonnegative integer which increments and decrements and con-trolls access to a shared resource.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A Semaphore is particularly </a:t>
            </a:r>
            <a:r>
              <a:rPr lang="en-IN" sz="2400">
                <a:solidFill>
                  <a:srgbClr val="C00000"/>
                </a:solidFill>
                <a:latin typeface="Tw Cen MT" panose="020B0602020104020603" pitchFamily="34" charset="0"/>
                <a:cs typeface="Segoe UI" panose="020B0502040204020203" pitchFamily="34" charset="0"/>
              </a:rPr>
              <a:t>useful to manage thread access to a pool of shared resources </a:t>
            </a:r>
            <a:r>
              <a:rPr lang="en-IN" sz="2400">
                <a:solidFill>
                  <a:prstClr val="black"/>
                </a:solidFill>
                <a:latin typeface="Tw Cen MT" panose="020B0602020104020603" pitchFamily="34" charset="0"/>
                <a:cs typeface="Segoe UI" panose="020B0502040204020203" pitchFamily="34" charset="0"/>
              </a:rPr>
              <a:t>of a certain type.</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A semaphore is initially set to a </a:t>
            </a:r>
            <a:r>
              <a:rPr lang="en-IN" sz="2400">
                <a:solidFill>
                  <a:srgbClr val="C00000"/>
                </a:solidFill>
                <a:latin typeface="Tw Cen MT" panose="020B0602020104020603" pitchFamily="34" charset="0"/>
                <a:cs typeface="Segoe UI" panose="020B0502040204020203" pitchFamily="34" charset="0"/>
              </a:rPr>
              <a:t>count equivalent to the number of free resources. </a:t>
            </a:r>
            <a:r>
              <a:rPr lang="en-IN" sz="2400">
                <a:solidFill>
                  <a:prstClr val="black"/>
                </a:solidFill>
                <a:latin typeface="Tw Cen MT" panose="020B0602020104020603" pitchFamily="34" charset="0"/>
                <a:cs typeface="Segoe UI" panose="020B0502040204020203" pitchFamily="34" charset="0"/>
              </a:rPr>
              <a:t>A semaphore’s value must be positive to allow access to the shared resource.</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The semaphore count is </a:t>
            </a:r>
            <a:r>
              <a:rPr lang="en-IN" sz="2400">
                <a:solidFill>
                  <a:srgbClr val="C00000"/>
                </a:solidFill>
                <a:latin typeface="Tw Cen MT" panose="020B0602020104020603" pitchFamily="34" charset="0"/>
                <a:cs typeface="Segoe UI" panose="020B0502040204020203" pitchFamily="34" charset="0"/>
              </a:rPr>
              <a:t>decremented by one when a thread uses the semaphore. </a:t>
            </a:r>
            <a:r>
              <a:rPr lang="en-IN" sz="2400">
                <a:solidFill>
                  <a:prstClr val="black"/>
                </a:solidFill>
                <a:latin typeface="Tw Cen MT" panose="020B0602020104020603" pitchFamily="34" charset="0"/>
                <a:cs typeface="Segoe UI" panose="020B0502040204020203" pitchFamily="34" charset="0"/>
              </a:rPr>
              <a:t>Similarly, the count is incremented by one when the thread releases the semaphore.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A zero count does not allow access to the shared resource. </a:t>
            </a:r>
            <a:r>
              <a:rPr lang="en-IN" sz="2400">
                <a:solidFill>
                  <a:prstClr val="black"/>
                </a:solidFill>
                <a:latin typeface="Tw Cen MT" panose="020B0602020104020603" pitchFamily="34" charset="0"/>
                <a:cs typeface="Segoe UI" panose="020B0502040204020203" pitchFamily="34" charset="0"/>
              </a:rPr>
              <a:t>Semaphores with only one count are similar to </a:t>
            </a:r>
            <a:r>
              <a:rPr lang="en-IN" sz="2400" err="1">
                <a:solidFill>
                  <a:prstClr val="black"/>
                </a:solidFill>
                <a:latin typeface="Tw Cen MT" panose="020B0602020104020603" pitchFamily="34" charset="0"/>
                <a:cs typeface="Segoe UI" panose="020B0502040204020203" pitchFamily="34" charset="0"/>
              </a:rPr>
              <a:t>mutexes</a:t>
            </a:r>
            <a:r>
              <a:rPr lang="en-IN" sz="2400">
                <a:solidFill>
                  <a:prstClr val="black"/>
                </a:solidFill>
                <a:latin typeface="Tw Cen MT" panose="020B0602020104020603" pitchFamily="34" charset="0"/>
                <a:cs typeface="Segoe UI" panose="020B0502040204020203" pitchFamily="34" charset="0"/>
              </a:rPr>
              <a:t>. Such semaphores are also known as Binary Semaphores. </a:t>
            </a:r>
          </a:p>
          <a:p>
            <a:pPr marL="457200" lvl="0" indent="-457200" algn="just">
              <a:buClr>
                <a:srgbClr val="DD9D31">
                  <a:lumMod val="75000"/>
                </a:srgbClr>
              </a:buClr>
              <a:buFont typeface="Wingdings" panose="05000000000000000000" pitchFamily="2" charset="2"/>
              <a:buChar char="Ø"/>
            </a:pPr>
            <a:endParaRPr lang="en-IN" sz="12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Mbed </a:t>
            </a:r>
            <a:r>
              <a:rPr lang="en-IN" sz="2400">
                <a:solidFill>
                  <a:srgbClr val="C00000"/>
                </a:solidFill>
                <a:latin typeface="Tw Cen MT" panose="020B0602020104020603" pitchFamily="34" charset="0"/>
                <a:cs typeface="Segoe UI" panose="020B0502040204020203" pitchFamily="34" charset="0"/>
              </a:rPr>
              <a:t>wait() and release() </a:t>
            </a:r>
            <a:r>
              <a:rPr lang="en-IN" sz="2400">
                <a:solidFill>
                  <a:prstClr val="black"/>
                </a:solidFill>
                <a:latin typeface="Tw Cen MT" panose="020B0602020104020603" pitchFamily="34" charset="0"/>
                <a:cs typeface="Segoe UI" panose="020B0502040204020203" pitchFamily="34" charset="0"/>
              </a:rPr>
              <a:t>functions are used to lock and unlock a semaphore.</a:t>
            </a:r>
            <a:endParaRPr kumimoji="0" lang="en-IN" sz="2400" b="0" i="0" u="none" strike="noStrike" kern="1200" cap="none" spc="0" normalizeH="0" baseline="0" noProof="0">
              <a:ln>
                <a:noFill/>
              </a:ln>
              <a:solidFill>
                <a:prstClr val="black"/>
              </a:solidFill>
              <a:effectLst/>
              <a:uLnTx/>
              <a:uFillTx/>
              <a:latin typeface="Tw Cen MT" panose="020B0602020104020603" pitchFamily="34" charset="0"/>
              <a:ea typeface="+mn-ea"/>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LAB-13</a:t>
            </a:r>
          </a:p>
        </p:txBody>
      </p:sp>
    </p:spTree>
    <p:extLst>
      <p:ext uri="{BB962C8B-B14F-4D97-AF65-F5344CB8AC3E}">
        <p14:creationId xmlns:p14="http://schemas.microsoft.com/office/powerpoint/2010/main" val="157653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SEMAPPHORE vs MUTEX </a:t>
            </a:r>
            <a:endPar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LAB-13</a:t>
            </a:r>
          </a:p>
        </p:txBody>
      </p:sp>
      <p:pic>
        <p:nvPicPr>
          <p:cNvPr id="1026" name="Picture 2" descr="/media/uploads/emilmont/mute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4655" y="4908000"/>
            <a:ext cx="3803365" cy="12540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edia/uploads/emilmont/semapho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538" y="4486021"/>
            <a:ext cx="3505200" cy="19716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 12"/>
          <p:cNvGraphicFramePr>
            <a:graphicFrameLocks noGrp="1"/>
          </p:cNvGraphicFramePr>
          <p:nvPr>
            <p:extLst>
              <p:ext uri="{D42A27DB-BD31-4B8C-83A1-F6EECF244321}">
                <p14:modId xmlns:p14="http://schemas.microsoft.com/office/powerpoint/2010/main" val="2079301949"/>
              </p:ext>
            </p:extLst>
          </p:nvPr>
        </p:nvGraphicFramePr>
        <p:xfrm>
          <a:off x="365492" y="1232650"/>
          <a:ext cx="11448642" cy="3122683"/>
        </p:xfrm>
        <a:graphic>
          <a:graphicData uri="http://schemas.openxmlformats.org/drawingml/2006/table">
            <a:tbl>
              <a:tblPr>
                <a:tableStyleId>{5C22544A-7EE6-4342-B048-85BDC9FD1C3A}</a:tableStyleId>
              </a:tblPr>
              <a:tblGrid>
                <a:gridCol w="1989781">
                  <a:extLst>
                    <a:ext uri="{9D8B030D-6E8A-4147-A177-3AD203B41FA5}">
                      <a16:colId xmlns:a16="http://schemas.microsoft.com/office/drawing/2014/main" val="3039669813"/>
                    </a:ext>
                  </a:extLst>
                </a:gridCol>
                <a:gridCol w="5112681">
                  <a:extLst>
                    <a:ext uri="{9D8B030D-6E8A-4147-A177-3AD203B41FA5}">
                      <a16:colId xmlns:a16="http://schemas.microsoft.com/office/drawing/2014/main" val="54368957"/>
                    </a:ext>
                  </a:extLst>
                </a:gridCol>
                <a:gridCol w="4346180">
                  <a:extLst>
                    <a:ext uri="{9D8B030D-6E8A-4147-A177-3AD203B41FA5}">
                      <a16:colId xmlns:a16="http://schemas.microsoft.com/office/drawing/2014/main" val="2737144939"/>
                    </a:ext>
                  </a:extLst>
                </a:gridCol>
              </a:tblGrid>
              <a:tr h="278397">
                <a:tc>
                  <a:txBody>
                    <a:bodyPr/>
                    <a:lstStyle/>
                    <a:p>
                      <a:pPr algn="ctr">
                        <a:lnSpc>
                          <a:spcPct val="107000"/>
                        </a:lnSpc>
                        <a:spcAft>
                          <a:spcPts val="0"/>
                        </a:spcAft>
                      </a:pPr>
                      <a:r>
                        <a:rPr lang="en-IN" sz="1800" b="1">
                          <a:effectLst/>
                          <a:latin typeface="Tw Cen MT" panose="020B0602020104020603" pitchFamily="34" charset="0"/>
                        </a:rPr>
                        <a:t>KEY POINTS</a:t>
                      </a:r>
                      <a:endParaRPr lang="en-IN" sz="1800" b="1">
                        <a:effectLst/>
                        <a:latin typeface="Tw Cen MT" panose="020B0602020104020603" pitchFamily="34" charset="0"/>
                        <a:ea typeface="Calibri" panose="020F0502020204030204" pitchFamily="34" charset="0"/>
                        <a:cs typeface="Times New Roman" panose="02020603050405020304" pitchFamily="18" charset="0"/>
                      </a:endParaRPr>
                    </a:p>
                  </a:txBody>
                  <a:tcPr marL="29845" marR="29845" marT="29845" marB="29845" anchor="ctr">
                    <a:solidFill>
                      <a:srgbClr val="FFC000"/>
                    </a:solidFill>
                  </a:tcPr>
                </a:tc>
                <a:tc>
                  <a:txBody>
                    <a:bodyPr/>
                    <a:lstStyle/>
                    <a:p>
                      <a:pPr algn="ctr">
                        <a:lnSpc>
                          <a:spcPct val="107000"/>
                        </a:lnSpc>
                        <a:spcAft>
                          <a:spcPts val="0"/>
                        </a:spcAft>
                      </a:pPr>
                      <a:r>
                        <a:rPr lang="en-IN" sz="1800" b="1">
                          <a:effectLst/>
                          <a:latin typeface="Tw Cen MT" panose="020B0602020104020603" pitchFamily="34" charset="0"/>
                        </a:rPr>
                        <a:t>SEMAPHORE</a:t>
                      </a:r>
                      <a:endParaRPr lang="en-IN" sz="1800" b="1">
                        <a:effectLst/>
                        <a:latin typeface="Tw Cen MT" panose="020B0602020104020603" pitchFamily="34" charset="0"/>
                        <a:ea typeface="Calibri" panose="020F0502020204030204" pitchFamily="34" charset="0"/>
                        <a:cs typeface="Times New Roman" panose="02020603050405020304" pitchFamily="18" charset="0"/>
                      </a:endParaRPr>
                    </a:p>
                  </a:txBody>
                  <a:tcPr marL="29845" marR="29845" marT="29845" marB="29845" anchor="ctr">
                    <a:solidFill>
                      <a:srgbClr val="FFC000"/>
                    </a:solidFill>
                  </a:tcPr>
                </a:tc>
                <a:tc>
                  <a:txBody>
                    <a:bodyPr/>
                    <a:lstStyle/>
                    <a:p>
                      <a:pPr algn="ctr">
                        <a:lnSpc>
                          <a:spcPct val="107000"/>
                        </a:lnSpc>
                        <a:spcAft>
                          <a:spcPts val="0"/>
                        </a:spcAft>
                      </a:pPr>
                      <a:r>
                        <a:rPr lang="en-IN" sz="1800" b="1">
                          <a:effectLst/>
                          <a:latin typeface="Tw Cen MT" panose="020B0602020104020603" pitchFamily="34" charset="0"/>
                        </a:rPr>
                        <a:t>MUTEX</a:t>
                      </a:r>
                      <a:endParaRPr lang="en-IN" sz="1800" b="1">
                        <a:effectLst/>
                        <a:latin typeface="Tw Cen MT" panose="020B0602020104020603" pitchFamily="34" charset="0"/>
                        <a:ea typeface="Calibri" panose="020F0502020204030204" pitchFamily="34" charset="0"/>
                        <a:cs typeface="Times New Roman" panose="02020603050405020304" pitchFamily="18" charset="0"/>
                      </a:endParaRPr>
                    </a:p>
                  </a:txBody>
                  <a:tcPr marL="29845" marR="29845" marT="29845" marB="29845" anchor="ctr">
                    <a:solidFill>
                      <a:srgbClr val="FFC000"/>
                    </a:solidFill>
                  </a:tcPr>
                </a:tc>
                <a:extLst>
                  <a:ext uri="{0D108BD9-81ED-4DB2-BD59-A6C34878D82A}">
                    <a16:rowId xmlns:a16="http://schemas.microsoft.com/office/drawing/2014/main" val="552398537"/>
                  </a:ext>
                </a:extLst>
              </a:tr>
              <a:tr h="278042">
                <a:tc>
                  <a:txBody>
                    <a:bodyPr/>
                    <a:lstStyle/>
                    <a:p>
                      <a:pPr marL="0" algn="ctr" defTabSz="457200" rtl="0" eaLnBrk="1" fontAlgn="t" latinLnBrk="0" hangingPunct="1">
                        <a:lnSpc>
                          <a:spcPct val="107000"/>
                        </a:lnSpc>
                        <a:spcAft>
                          <a:spcPts val="0"/>
                        </a:spcAft>
                      </a:pPr>
                      <a:r>
                        <a:rPr lang="en-IN" sz="1800" b="1" kern="1200">
                          <a:solidFill>
                            <a:schemeClr val="dk1"/>
                          </a:solidFill>
                          <a:effectLst/>
                          <a:latin typeface="Tw Cen MT" panose="020B0602020104020603" pitchFamily="34" charset="0"/>
                          <a:ea typeface="+mn-ea"/>
                          <a:cs typeface="+mn-cs"/>
                        </a:rPr>
                        <a:t>Basic</a:t>
                      </a:r>
                    </a:p>
                  </a:txBody>
                  <a:tcPr marL="29620" marR="29620" marT="29620" marB="29620">
                    <a:solidFill>
                      <a:srgbClr val="FFC000"/>
                    </a:solidFill>
                  </a:tcPr>
                </a:tc>
                <a:tc>
                  <a:txBody>
                    <a:bodyPr/>
                    <a:lstStyle/>
                    <a:p>
                      <a:pPr algn="l" fontAlgn="t"/>
                      <a:r>
                        <a:rPr lang="en-US" sz="1800" kern="1200">
                          <a:solidFill>
                            <a:schemeClr val="dk1"/>
                          </a:solidFill>
                          <a:effectLst/>
                          <a:latin typeface="Tw Cen MT" panose="020B0602020104020603" pitchFamily="34" charset="0"/>
                          <a:ea typeface="+mn-ea"/>
                          <a:cs typeface="+mn-cs"/>
                        </a:rPr>
                        <a:t>Semaphore is a </a:t>
                      </a:r>
                      <a:r>
                        <a:rPr lang="en-US" sz="1800" b="1" kern="1200">
                          <a:solidFill>
                            <a:schemeClr val="dk1"/>
                          </a:solidFill>
                          <a:effectLst/>
                          <a:latin typeface="Tw Cen MT" panose="020B0602020104020603" pitchFamily="34" charset="0"/>
                          <a:ea typeface="+mn-ea"/>
                          <a:cs typeface="+mn-cs"/>
                        </a:rPr>
                        <a:t>signaling </a:t>
                      </a:r>
                      <a:r>
                        <a:rPr lang="en-US" sz="1800" kern="1200">
                          <a:solidFill>
                            <a:schemeClr val="dk1"/>
                          </a:solidFill>
                          <a:effectLst/>
                          <a:latin typeface="Tw Cen MT" panose="020B0602020104020603" pitchFamily="34" charset="0"/>
                          <a:ea typeface="+mn-ea"/>
                          <a:cs typeface="+mn-cs"/>
                        </a:rPr>
                        <a:t>mechanism.</a:t>
                      </a:r>
                    </a:p>
                  </a:txBody>
                  <a:tcPr marL="29620" marR="29620" marT="29620" marB="29620">
                    <a:solidFill>
                      <a:schemeClr val="accent5">
                        <a:lumMod val="20000"/>
                        <a:lumOff val="80000"/>
                      </a:schemeClr>
                    </a:solidFill>
                  </a:tcPr>
                </a:tc>
                <a:tc>
                  <a:txBody>
                    <a:bodyPr/>
                    <a:lstStyle/>
                    <a:p>
                      <a:pPr algn="l" fontAlgn="t"/>
                      <a:r>
                        <a:rPr lang="en-US" sz="1800" kern="1200">
                          <a:solidFill>
                            <a:schemeClr val="dk1"/>
                          </a:solidFill>
                          <a:effectLst/>
                          <a:latin typeface="Tw Cen MT" panose="020B0602020104020603" pitchFamily="34" charset="0"/>
                          <a:ea typeface="+mn-ea"/>
                          <a:cs typeface="+mn-cs"/>
                        </a:rPr>
                        <a:t>Mutex is a</a:t>
                      </a:r>
                      <a:r>
                        <a:rPr lang="en-US" sz="1800" b="1" kern="1200">
                          <a:solidFill>
                            <a:schemeClr val="dk1"/>
                          </a:solidFill>
                          <a:effectLst/>
                          <a:latin typeface="Tw Cen MT" panose="020B0602020104020603" pitchFamily="34" charset="0"/>
                          <a:ea typeface="+mn-ea"/>
                          <a:cs typeface="+mn-cs"/>
                        </a:rPr>
                        <a:t> locking </a:t>
                      </a:r>
                      <a:r>
                        <a:rPr lang="en-US" sz="1800" kern="1200">
                          <a:solidFill>
                            <a:schemeClr val="dk1"/>
                          </a:solidFill>
                          <a:effectLst/>
                          <a:latin typeface="Tw Cen MT" panose="020B0602020104020603" pitchFamily="34" charset="0"/>
                          <a:ea typeface="+mn-ea"/>
                          <a:cs typeface="+mn-cs"/>
                        </a:rPr>
                        <a:t>mechanism.</a:t>
                      </a:r>
                    </a:p>
                  </a:txBody>
                  <a:tcPr marL="29620" marR="29620" marT="29620" marB="29620">
                    <a:solidFill>
                      <a:schemeClr val="accent5">
                        <a:lumMod val="20000"/>
                        <a:lumOff val="80000"/>
                      </a:schemeClr>
                    </a:solidFill>
                  </a:tcPr>
                </a:tc>
                <a:extLst>
                  <a:ext uri="{0D108BD9-81ED-4DB2-BD59-A6C34878D82A}">
                    <a16:rowId xmlns:a16="http://schemas.microsoft.com/office/drawing/2014/main" val="3748151512"/>
                  </a:ext>
                </a:extLst>
              </a:tr>
              <a:tr h="278042">
                <a:tc>
                  <a:txBody>
                    <a:bodyPr/>
                    <a:lstStyle/>
                    <a:p>
                      <a:pPr marL="0" algn="ctr" defTabSz="457200" rtl="0" eaLnBrk="1" fontAlgn="t" latinLnBrk="0" hangingPunct="1">
                        <a:lnSpc>
                          <a:spcPct val="107000"/>
                        </a:lnSpc>
                        <a:spcAft>
                          <a:spcPts val="0"/>
                        </a:spcAft>
                      </a:pPr>
                      <a:r>
                        <a:rPr lang="en-IN" sz="1800" b="1" kern="1200">
                          <a:solidFill>
                            <a:schemeClr val="dk1"/>
                          </a:solidFill>
                          <a:effectLst/>
                          <a:latin typeface="Tw Cen MT" panose="020B0602020104020603" pitchFamily="34" charset="0"/>
                          <a:ea typeface="+mn-ea"/>
                          <a:cs typeface="+mn-cs"/>
                        </a:rPr>
                        <a:t>Existence</a:t>
                      </a:r>
                    </a:p>
                  </a:txBody>
                  <a:tcPr marL="29620" marR="29620" marT="29620" marB="29620">
                    <a:solidFill>
                      <a:srgbClr val="FFC000"/>
                    </a:solidFill>
                  </a:tcPr>
                </a:tc>
                <a:tc>
                  <a:txBody>
                    <a:bodyPr/>
                    <a:lstStyle/>
                    <a:p>
                      <a:pPr algn="l" fontAlgn="t"/>
                      <a:r>
                        <a:rPr lang="en-US" sz="1800" kern="1200">
                          <a:solidFill>
                            <a:schemeClr val="dk1"/>
                          </a:solidFill>
                          <a:effectLst/>
                          <a:latin typeface="Tw Cen MT" panose="020B0602020104020603" pitchFamily="34" charset="0"/>
                          <a:ea typeface="+mn-ea"/>
                          <a:cs typeface="+mn-cs"/>
                        </a:rPr>
                        <a:t>Semaphore is an </a:t>
                      </a:r>
                      <a:r>
                        <a:rPr lang="en-US" sz="1800" b="1" kern="1200">
                          <a:solidFill>
                            <a:schemeClr val="dk1"/>
                          </a:solidFill>
                          <a:effectLst/>
                          <a:latin typeface="Tw Cen MT" panose="020B0602020104020603" pitchFamily="34" charset="0"/>
                          <a:ea typeface="+mn-ea"/>
                          <a:cs typeface="+mn-cs"/>
                        </a:rPr>
                        <a:t>integer </a:t>
                      </a:r>
                      <a:r>
                        <a:rPr lang="en-US" sz="1800" kern="1200">
                          <a:solidFill>
                            <a:schemeClr val="dk1"/>
                          </a:solidFill>
                          <a:effectLst/>
                          <a:latin typeface="Tw Cen MT" panose="020B0602020104020603" pitchFamily="34" charset="0"/>
                          <a:ea typeface="+mn-ea"/>
                          <a:cs typeface="+mn-cs"/>
                        </a:rPr>
                        <a:t>variable.</a:t>
                      </a:r>
                    </a:p>
                  </a:txBody>
                  <a:tcPr marL="29620" marR="29620" marT="29620" marB="29620">
                    <a:solidFill>
                      <a:schemeClr val="accent5">
                        <a:lumMod val="20000"/>
                        <a:lumOff val="80000"/>
                      </a:schemeClr>
                    </a:solidFill>
                  </a:tcPr>
                </a:tc>
                <a:tc>
                  <a:txBody>
                    <a:bodyPr/>
                    <a:lstStyle/>
                    <a:p>
                      <a:pPr algn="l" fontAlgn="t"/>
                      <a:r>
                        <a:rPr lang="en-IN" sz="1800" kern="1200">
                          <a:solidFill>
                            <a:schemeClr val="dk1"/>
                          </a:solidFill>
                          <a:effectLst/>
                          <a:latin typeface="Tw Cen MT" panose="020B0602020104020603" pitchFamily="34" charset="0"/>
                          <a:ea typeface="+mn-ea"/>
                          <a:cs typeface="+mn-cs"/>
                        </a:rPr>
                        <a:t>Mutex is an </a:t>
                      </a:r>
                      <a:r>
                        <a:rPr lang="en-IN" sz="1800" b="1" kern="1200">
                          <a:solidFill>
                            <a:schemeClr val="dk1"/>
                          </a:solidFill>
                          <a:effectLst/>
                          <a:latin typeface="Tw Cen MT" panose="020B0602020104020603" pitchFamily="34" charset="0"/>
                          <a:ea typeface="+mn-ea"/>
                          <a:cs typeface="+mn-cs"/>
                        </a:rPr>
                        <a:t>object.</a:t>
                      </a:r>
                    </a:p>
                  </a:txBody>
                  <a:tcPr marL="29620" marR="29620" marT="29620" marB="29620">
                    <a:solidFill>
                      <a:schemeClr val="accent5">
                        <a:lumMod val="20000"/>
                        <a:lumOff val="80000"/>
                      </a:schemeClr>
                    </a:solidFill>
                  </a:tcPr>
                </a:tc>
                <a:extLst>
                  <a:ext uri="{0D108BD9-81ED-4DB2-BD59-A6C34878D82A}">
                    <a16:rowId xmlns:a16="http://schemas.microsoft.com/office/drawing/2014/main" val="1912709058"/>
                  </a:ext>
                </a:extLst>
              </a:tr>
              <a:tr h="479157">
                <a:tc>
                  <a:txBody>
                    <a:bodyPr/>
                    <a:lstStyle/>
                    <a:p>
                      <a:pPr marL="0" algn="ctr" defTabSz="457200" rtl="0" eaLnBrk="1" fontAlgn="t" latinLnBrk="0" hangingPunct="1">
                        <a:lnSpc>
                          <a:spcPct val="107000"/>
                        </a:lnSpc>
                        <a:spcAft>
                          <a:spcPts val="0"/>
                        </a:spcAft>
                      </a:pPr>
                      <a:r>
                        <a:rPr lang="en-IN" sz="1800" b="1" kern="1200">
                          <a:solidFill>
                            <a:schemeClr val="dk1"/>
                          </a:solidFill>
                          <a:effectLst/>
                          <a:latin typeface="Tw Cen MT" panose="020B0602020104020603" pitchFamily="34" charset="0"/>
                          <a:ea typeface="+mn-ea"/>
                          <a:cs typeface="+mn-cs"/>
                        </a:rPr>
                        <a:t>Function</a:t>
                      </a:r>
                    </a:p>
                  </a:txBody>
                  <a:tcPr marL="29620" marR="29620" marT="29620" marB="29620">
                    <a:solidFill>
                      <a:srgbClr val="FFC000"/>
                    </a:solidFill>
                  </a:tcPr>
                </a:tc>
                <a:tc>
                  <a:txBody>
                    <a:bodyPr/>
                    <a:lstStyle/>
                    <a:p>
                      <a:pPr algn="l" fontAlgn="t"/>
                      <a:r>
                        <a:rPr lang="en-US" sz="1800" kern="1200">
                          <a:solidFill>
                            <a:schemeClr val="dk1"/>
                          </a:solidFill>
                          <a:effectLst/>
                          <a:latin typeface="Tw Cen MT" panose="020B0602020104020603" pitchFamily="34" charset="0"/>
                          <a:ea typeface="+mn-ea"/>
                          <a:cs typeface="+mn-cs"/>
                        </a:rPr>
                        <a:t>Semaphore </a:t>
                      </a:r>
                      <a:r>
                        <a:rPr lang="en-US" sz="1800" b="1" kern="1200">
                          <a:solidFill>
                            <a:schemeClr val="dk1"/>
                          </a:solidFill>
                          <a:effectLst/>
                          <a:latin typeface="Tw Cen MT" panose="020B0602020104020603" pitchFamily="34" charset="0"/>
                          <a:ea typeface="+mn-ea"/>
                          <a:cs typeface="+mn-cs"/>
                        </a:rPr>
                        <a:t>allow multiple program threads </a:t>
                      </a:r>
                      <a:r>
                        <a:rPr lang="en-US" sz="1800" kern="1200">
                          <a:solidFill>
                            <a:schemeClr val="dk1"/>
                          </a:solidFill>
                          <a:effectLst/>
                          <a:latin typeface="Tw Cen MT" panose="020B0602020104020603" pitchFamily="34" charset="0"/>
                          <a:ea typeface="+mn-ea"/>
                          <a:cs typeface="+mn-cs"/>
                        </a:rPr>
                        <a:t>to access a finite instance of resources.</a:t>
                      </a:r>
                    </a:p>
                  </a:txBody>
                  <a:tcPr marL="29620" marR="29620" marT="29620" marB="29620">
                    <a:solidFill>
                      <a:schemeClr val="accent5">
                        <a:lumMod val="20000"/>
                        <a:lumOff val="80000"/>
                      </a:schemeClr>
                    </a:solidFill>
                  </a:tcPr>
                </a:tc>
                <a:tc>
                  <a:txBody>
                    <a:bodyPr/>
                    <a:lstStyle/>
                    <a:p>
                      <a:pPr algn="l" fontAlgn="t"/>
                      <a:r>
                        <a:rPr lang="en-US" sz="1800" kern="1200">
                          <a:solidFill>
                            <a:schemeClr val="dk1"/>
                          </a:solidFill>
                          <a:effectLst/>
                          <a:latin typeface="Tw Cen MT" panose="020B0602020104020603" pitchFamily="34" charset="0"/>
                          <a:ea typeface="+mn-ea"/>
                          <a:cs typeface="+mn-cs"/>
                        </a:rPr>
                        <a:t>Mutex allow multiple program thread to access a single resource but </a:t>
                      </a:r>
                      <a:r>
                        <a:rPr lang="en-US" sz="1800" b="1" kern="1200">
                          <a:solidFill>
                            <a:schemeClr val="dk1"/>
                          </a:solidFill>
                          <a:effectLst/>
                          <a:latin typeface="Tw Cen MT" panose="020B0602020104020603" pitchFamily="34" charset="0"/>
                          <a:ea typeface="+mn-ea"/>
                          <a:cs typeface="+mn-cs"/>
                        </a:rPr>
                        <a:t>not simultaneously</a:t>
                      </a:r>
                      <a:r>
                        <a:rPr lang="en-US" sz="1800" kern="1200">
                          <a:solidFill>
                            <a:schemeClr val="dk1"/>
                          </a:solidFill>
                          <a:effectLst/>
                          <a:latin typeface="Tw Cen MT" panose="020B0602020104020603" pitchFamily="34" charset="0"/>
                          <a:ea typeface="+mn-ea"/>
                          <a:cs typeface="+mn-cs"/>
                        </a:rPr>
                        <a:t>.</a:t>
                      </a:r>
                    </a:p>
                  </a:txBody>
                  <a:tcPr marL="29620" marR="29620" marT="29620" marB="29620">
                    <a:solidFill>
                      <a:schemeClr val="accent5">
                        <a:lumMod val="20000"/>
                        <a:lumOff val="80000"/>
                      </a:schemeClr>
                    </a:solidFill>
                  </a:tcPr>
                </a:tc>
                <a:extLst>
                  <a:ext uri="{0D108BD9-81ED-4DB2-BD59-A6C34878D82A}">
                    <a16:rowId xmlns:a16="http://schemas.microsoft.com/office/drawing/2014/main" val="2358576420"/>
                  </a:ext>
                </a:extLst>
              </a:tr>
              <a:tr h="479157">
                <a:tc>
                  <a:txBody>
                    <a:bodyPr/>
                    <a:lstStyle/>
                    <a:p>
                      <a:pPr marL="0" algn="ctr" defTabSz="457200" rtl="0" eaLnBrk="1" fontAlgn="t" latinLnBrk="0" hangingPunct="1">
                        <a:lnSpc>
                          <a:spcPct val="107000"/>
                        </a:lnSpc>
                        <a:spcAft>
                          <a:spcPts val="0"/>
                        </a:spcAft>
                      </a:pPr>
                      <a:r>
                        <a:rPr lang="en-IN" sz="1800" b="1" kern="1200">
                          <a:solidFill>
                            <a:schemeClr val="dk1"/>
                          </a:solidFill>
                          <a:effectLst/>
                          <a:latin typeface="Tw Cen MT" panose="020B0602020104020603" pitchFamily="34" charset="0"/>
                          <a:ea typeface="+mn-ea"/>
                          <a:cs typeface="+mn-cs"/>
                        </a:rPr>
                        <a:t>Ownership</a:t>
                      </a:r>
                    </a:p>
                  </a:txBody>
                  <a:tcPr marL="29620" marR="29620" marT="29620" marB="29620">
                    <a:solidFill>
                      <a:srgbClr val="FFC000"/>
                    </a:solidFill>
                  </a:tcPr>
                </a:tc>
                <a:tc>
                  <a:txBody>
                    <a:bodyPr/>
                    <a:lstStyle/>
                    <a:p>
                      <a:pPr algn="l" fontAlgn="t"/>
                      <a:r>
                        <a:rPr lang="en-US" sz="1800" kern="1200">
                          <a:solidFill>
                            <a:schemeClr val="dk1"/>
                          </a:solidFill>
                          <a:effectLst/>
                          <a:latin typeface="Tw Cen MT" panose="020B0602020104020603" pitchFamily="34" charset="0"/>
                          <a:ea typeface="+mn-ea"/>
                          <a:cs typeface="+mn-cs"/>
                        </a:rPr>
                        <a:t>Semaphore value </a:t>
                      </a:r>
                      <a:r>
                        <a:rPr lang="en-US" sz="1800" b="1" kern="1200">
                          <a:solidFill>
                            <a:schemeClr val="dk1"/>
                          </a:solidFill>
                          <a:effectLst/>
                          <a:latin typeface="Tw Cen MT" panose="020B0602020104020603" pitchFamily="34" charset="0"/>
                          <a:ea typeface="+mn-ea"/>
                          <a:cs typeface="+mn-cs"/>
                        </a:rPr>
                        <a:t>can be changed by any process </a:t>
                      </a:r>
                      <a:r>
                        <a:rPr lang="en-US" sz="1800" kern="1200">
                          <a:solidFill>
                            <a:schemeClr val="dk1"/>
                          </a:solidFill>
                          <a:effectLst/>
                          <a:latin typeface="Tw Cen MT" panose="020B0602020104020603" pitchFamily="34" charset="0"/>
                          <a:ea typeface="+mn-ea"/>
                          <a:cs typeface="+mn-cs"/>
                        </a:rPr>
                        <a:t>acquiring or releasing the resource.</a:t>
                      </a:r>
                    </a:p>
                  </a:txBody>
                  <a:tcPr marL="29620" marR="29620" marT="29620" marB="29620">
                    <a:solidFill>
                      <a:schemeClr val="accent5">
                        <a:lumMod val="20000"/>
                        <a:lumOff val="80000"/>
                      </a:schemeClr>
                    </a:solidFill>
                  </a:tcPr>
                </a:tc>
                <a:tc>
                  <a:txBody>
                    <a:bodyPr/>
                    <a:lstStyle/>
                    <a:p>
                      <a:pPr algn="l" fontAlgn="t"/>
                      <a:r>
                        <a:rPr lang="en-US" sz="1800" kern="1200">
                          <a:solidFill>
                            <a:schemeClr val="dk1"/>
                          </a:solidFill>
                          <a:effectLst/>
                          <a:latin typeface="Tw Cen MT" panose="020B0602020104020603" pitchFamily="34" charset="0"/>
                          <a:ea typeface="+mn-ea"/>
                          <a:cs typeface="+mn-cs"/>
                        </a:rPr>
                        <a:t>Mutex object lock is </a:t>
                      </a:r>
                      <a:r>
                        <a:rPr lang="en-US" sz="1800" b="1" kern="1200">
                          <a:solidFill>
                            <a:schemeClr val="dk1"/>
                          </a:solidFill>
                          <a:effectLst/>
                          <a:latin typeface="Tw Cen MT" panose="020B0602020104020603" pitchFamily="34" charset="0"/>
                          <a:ea typeface="+mn-ea"/>
                          <a:cs typeface="+mn-cs"/>
                        </a:rPr>
                        <a:t>released only by the process that has acquired </a:t>
                      </a:r>
                      <a:r>
                        <a:rPr lang="en-US" sz="1800" kern="1200">
                          <a:solidFill>
                            <a:schemeClr val="dk1"/>
                          </a:solidFill>
                          <a:effectLst/>
                          <a:latin typeface="Tw Cen MT" panose="020B0602020104020603" pitchFamily="34" charset="0"/>
                          <a:ea typeface="+mn-ea"/>
                          <a:cs typeface="+mn-cs"/>
                        </a:rPr>
                        <a:t>the lock on it.</a:t>
                      </a:r>
                    </a:p>
                  </a:txBody>
                  <a:tcPr marL="29620" marR="29620" marT="29620" marB="29620">
                    <a:solidFill>
                      <a:schemeClr val="accent5">
                        <a:lumMod val="20000"/>
                        <a:lumOff val="80000"/>
                      </a:schemeClr>
                    </a:solidFill>
                  </a:tcPr>
                </a:tc>
                <a:extLst>
                  <a:ext uri="{0D108BD9-81ED-4DB2-BD59-A6C34878D82A}">
                    <a16:rowId xmlns:a16="http://schemas.microsoft.com/office/drawing/2014/main" val="1676487428"/>
                  </a:ext>
                </a:extLst>
              </a:tr>
              <a:tr h="278397">
                <a:tc>
                  <a:txBody>
                    <a:bodyPr/>
                    <a:lstStyle/>
                    <a:p>
                      <a:pPr algn="ctr" fontAlgn="t">
                        <a:lnSpc>
                          <a:spcPct val="107000"/>
                        </a:lnSpc>
                        <a:spcAft>
                          <a:spcPts val="0"/>
                        </a:spcAft>
                      </a:pPr>
                      <a:r>
                        <a:rPr lang="en-IN" sz="1800" b="1" kern="1200">
                          <a:effectLst/>
                          <a:latin typeface="Tw Cen MT" panose="020B0602020104020603" pitchFamily="34" charset="0"/>
                        </a:rPr>
                        <a:t>Categorize</a:t>
                      </a:r>
                      <a:endParaRPr lang="en-IN" sz="1800" b="1">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rgbClr val="FFC000"/>
                    </a:solidFill>
                  </a:tcPr>
                </a:tc>
                <a:tc>
                  <a:txBody>
                    <a:bodyPr/>
                    <a:lstStyle/>
                    <a:p>
                      <a:pPr fontAlgn="t">
                        <a:lnSpc>
                          <a:spcPct val="107000"/>
                        </a:lnSpc>
                        <a:spcAft>
                          <a:spcPts val="0"/>
                        </a:spcAft>
                      </a:pPr>
                      <a:r>
                        <a:rPr lang="en-US" sz="1800" b="1" kern="1200">
                          <a:effectLst/>
                          <a:latin typeface="Tw Cen MT" panose="020B0602020104020603" pitchFamily="34" charset="0"/>
                        </a:rPr>
                        <a:t>counting</a:t>
                      </a:r>
                      <a:r>
                        <a:rPr lang="en-US" sz="1800" kern="1200">
                          <a:effectLst/>
                          <a:latin typeface="Tw Cen MT" panose="020B0602020104020603" pitchFamily="34" charset="0"/>
                        </a:rPr>
                        <a:t> semaphore and </a:t>
                      </a:r>
                      <a:r>
                        <a:rPr lang="en-US" sz="1800" b="1" kern="1200">
                          <a:effectLst/>
                          <a:latin typeface="Tw Cen MT" panose="020B0602020104020603" pitchFamily="34" charset="0"/>
                        </a:rPr>
                        <a:t>binary</a:t>
                      </a:r>
                      <a:r>
                        <a:rPr lang="en-US" sz="1800" kern="1200">
                          <a:effectLst/>
                          <a:latin typeface="Tw Cen MT" panose="020B0602020104020603" pitchFamily="34" charset="0"/>
                        </a:rPr>
                        <a:t> semaphore.</a:t>
                      </a:r>
                      <a:endParaRPr lang="en-IN" sz="1800">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chemeClr val="accent5">
                        <a:lumMod val="20000"/>
                        <a:lumOff val="80000"/>
                      </a:schemeClr>
                    </a:solidFill>
                  </a:tcPr>
                </a:tc>
                <a:tc>
                  <a:txBody>
                    <a:bodyPr/>
                    <a:lstStyle/>
                    <a:p>
                      <a:pPr fontAlgn="t">
                        <a:lnSpc>
                          <a:spcPct val="107000"/>
                        </a:lnSpc>
                        <a:spcAft>
                          <a:spcPts val="0"/>
                        </a:spcAft>
                      </a:pPr>
                      <a:r>
                        <a:rPr lang="en-US" sz="1800" kern="1200">
                          <a:effectLst/>
                          <a:latin typeface="Tw Cen MT" panose="020B0602020104020603" pitchFamily="34" charset="0"/>
                        </a:rPr>
                        <a:t>Mutex is </a:t>
                      </a:r>
                      <a:r>
                        <a:rPr lang="en-US" sz="1800" b="1" kern="1200">
                          <a:effectLst/>
                          <a:latin typeface="Tw Cen MT" panose="020B0602020104020603" pitchFamily="34" charset="0"/>
                        </a:rPr>
                        <a:t>not categorized further</a:t>
                      </a:r>
                      <a:r>
                        <a:rPr lang="en-US" sz="1800" kern="1200">
                          <a:effectLst/>
                          <a:latin typeface="Tw Cen MT" panose="020B0602020104020603" pitchFamily="34" charset="0"/>
                        </a:rPr>
                        <a:t>.</a:t>
                      </a:r>
                      <a:endParaRPr lang="en-IN" sz="1800">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chemeClr val="accent5">
                        <a:lumMod val="20000"/>
                        <a:lumOff val="80000"/>
                      </a:schemeClr>
                    </a:solidFill>
                  </a:tcPr>
                </a:tc>
                <a:extLst>
                  <a:ext uri="{0D108BD9-81ED-4DB2-BD59-A6C34878D82A}">
                    <a16:rowId xmlns:a16="http://schemas.microsoft.com/office/drawing/2014/main" val="1558066140"/>
                  </a:ext>
                </a:extLst>
              </a:tr>
              <a:tr h="509743">
                <a:tc>
                  <a:txBody>
                    <a:bodyPr/>
                    <a:lstStyle/>
                    <a:p>
                      <a:pPr algn="ctr" fontAlgn="t">
                        <a:lnSpc>
                          <a:spcPct val="107000"/>
                        </a:lnSpc>
                        <a:spcAft>
                          <a:spcPts val="0"/>
                        </a:spcAft>
                      </a:pPr>
                      <a:r>
                        <a:rPr lang="en-US" sz="1800" b="1" kern="1200">
                          <a:effectLst/>
                          <a:latin typeface="Tw Cen MT" panose="020B0602020104020603" pitchFamily="34" charset="0"/>
                        </a:rPr>
                        <a:t>Priority Inheritance </a:t>
                      </a:r>
                      <a:endParaRPr lang="en-IN" sz="1800" b="1">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rgbClr val="FFC000"/>
                    </a:solidFill>
                  </a:tcPr>
                </a:tc>
                <a:tc>
                  <a:txBody>
                    <a:bodyPr/>
                    <a:lstStyle/>
                    <a:p>
                      <a:pPr fontAlgn="t">
                        <a:lnSpc>
                          <a:spcPct val="107000"/>
                        </a:lnSpc>
                        <a:spcAft>
                          <a:spcPts val="0"/>
                        </a:spcAft>
                      </a:pPr>
                      <a:r>
                        <a:rPr lang="en-US" sz="1800" b="1" kern="1200">
                          <a:effectLst/>
                          <a:latin typeface="Tw Cen MT" panose="020B0602020104020603" pitchFamily="34" charset="0"/>
                        </a:rPr>
                        <a:t>Not Available</a:t>
                      </a:r>
                      <a:endParaRPr lang="en-IN" sz="1800" b="1">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chemeClr val="accent5">
                        <a:lumMod val="20000"/>
                        <a:lumOff val="80000"/>
                      </a:schemeClr>
                    </a:solidFill>
                  </a:tcPr>
                </a:tc>
                <a:tc>
                  <a:txBody>
                    <a:bodyPr/>
                    <a:lstStyle/>
                    <a:p>
                      <a:pPr fontAlgn="t">
                        <a:lnSpc>
                          <a:spcPct val="107000"/>
                        </a:lnSpc>
                        <a:spcAft>
                          <a:spcPts val="0"/>
                        </a:spcAft>
                      </a:pPr>
                      <a:r>
                        <a:rPr lang="en-US" sz="1800" b="1" kern="1200">
                          <a:effectLst/>
                          <a:latin typeface="Tw Cen MT" panose="020B0602020104020603" pitchFamily="34" charset="0"/>
                        </a:rPr>
                        <a:t>Available</a:t>
                      </a:r>
                      <a:endParaRPr lang="en-IN" sz="1800" b="1">
                        <a:effectLst/>
                        <a:latin typeface="Tw Cen MT" panose="020B0602020104020603" pitchFamily="34" charset="0"/>
                        <a:ea typeface="Times New Roman" panose="02020603050405020304" pitchFamily="18" charset="0"/>
                        <a:cs typeface="Times New Roman" panose="02020603050405020304" pitchFamily="18" charset="0"/>
                      </a:endParaRPr>
                    </a:p>
                  </a:txBody>
                  <a:tcPr marL="29845" marR="29845" marT="29845" marB="29845">
                    <a:solidFill>
                      <a:schemeClr val="accent5">
                        <a:lumMod val="20000"/>
                        <a:lumOff val="80000"/>
                      </a:schemeClr>
                    </a:solidFill>
                  </a:tcPr>
                </a:tc>
                <a:extLst>
                  <a:ext uri="{0D108BD9-81ED-4DB2-BD59-A6C34878D82A}">
                    <a16:rowId xmlns:a16="http://schemas.microsoft.com/office/drawing/2014/main" val="4173092179"/>
                  </a:ext>
                </a:extLst>
              </a:tr>
            </a:tbl>
          </a:graphicData>
        </a:graphic>
      </p:graphicFrame>
    </p:spTree>
    <p:extLst>
      <p:ext uri="{BB962C8B-B14F-4D97-AF65-F5344CB8AC3E}">
        <p14:creationId xmlns:p14="http://schemas.microsoft.com/office/powerpoint/2010/main" val="1716307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310928" y="1260060"/>
            <a:ext cx="11592251" cy="4339650"/>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Interprocess communication (synchronization) - </a:t>
            </a:r>
            <a:r>
              <a:rPr lang="en-IN" sz="2800" b="1" err="1">
                <a:solidFill>
                  <a:srgbClr val="C00000"/>
                </a:solidFill>
                <a:latin typeface="Tw Cen MT" panose="020B0602020104020603" pitchFamily="34" charset="0"/>
                <a:cs typeface="Segoe UI" panose="020B0502040204020203" pitchFamily="34" charset="0"/>
              </a:rPr>
              <a:t>Mutex</a:t>
            </a:r>
            <a:r>
              <a:rPr lang="en-IN" sz="2800" b="1">
                <a:solidFill>
                  <a:srgbClr val="C00000"/>
                </a:solidFill>
                <a:latin typeface="Tw Cen MT" panose="020B0602020104020603" pitchFamily="34" charset="0"/>
                <a:cs typeface="Segoe UI" panose="020B0502040204020203" pitchFamily="34" charset="0"/>
              </a:rPr>
              <a:t> and Semaphore</a:t>
            </a:r>
          </a:p>
          <a:p>
            <a:pPr algn="just">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mbed RTOS program to demonstrate the use of </a:t>
            </a:r>
            <a:r>
              <a:rPr lang="en-IN" sz="2600" err="1">
                <a:solidFill>
                  <a:schemeClr val="bg1"/>
                </a:solidFill>
                <a:latin typeface="Tw Cen MT" panose="020B0602020104020603" pitchFamily="34" charset="0"/>
                <a:cs typeface="Segoe UI" panose="020B0502040204020203" pitchFamily="34" charset="0"/>
              </a:rPr>
              <a:t>Mutex</a:t>
            </a:r>
            <a:r>
              <a:rPr lang="en-IN" sz="2600">
                <a:solidFill>
                  <a:schemeClr val="bg1"/>
                </a:solidFill>
                <a:latin typeface="Tw Cen MT" panose="020B0602020104020603" pitchFamily="34" charset="0"/>
                <a:cs typeface="Segoe UI" panose="020B0502040204020203" pitchFamily="34" charset="0"/>
              </a:rPr>
              <a:t> and Semaphore functionality by creating two threads named Thread1 and Thread2 respectively. Create a common function named count that print the value of the variable “</a:t>
            </a:r>
            <a:r>
              <a:rPr lang="en-IN" sz="2600" err="1">
                <a:solidFill>
                  <a:schemeClr val="bg1"/>
                </a:solidFill>
                <a:latin typeface="Tw Cen MT" panose="020B0602020104020603" pitchFamily="34" charset="0"/>
                <a:cs typeface="Segoe UI" panose="020B0502040204020203" pitchFamily="34" charset="0"/>
              </a:rPr>
              <a:t>i</a:t>
            </a:r>
            <a:r>
              <a:rPr lang="en-IN" sz="2600">
                <a:solidFill>
                  <a:schemeClr val="bg1"/>
                </a:solidFill>
                <a:latin typeface="Tw Cen MT" panose="020B0602020104020603" pitchFamily="34" charset="0"/>
                <a:cs typeface="Segoe UI" panose="020B0502040204020203" pitchFamily="34" charset="0"/>
              </a:rPr>
              <a:t>” on serial monitor with 1 second delay apart. Assign initial value of variable of “</a:t>
            </a:r>
            <a:r>
              <a:rPr lang="en-IN" sz="2600" err="1">
                <a:solidFill>
                  <a:schemeClr val="bg1"/>
                </a:solidFill>
                <a:latin typeface="Tw Cen MT" panose="020B0602020104020603" pitchFamily="34" charset="0"/>
                <a:cs typeface="Segoe UI" panose="020B0502040204020203" pitchFamily="34" charset="0"/>
              </a:rPr>
              <a:t>i</a:t>
            </a:r>
            <a:r>
              <a:rPr lang="en-IN" sz="2600">
                <a:solidFill>
                  <a:schemeClr val="bg1"/>
                </a:solidFill>
                <a:latin typeface="Tw Cen MT" panose="020B0602020104020603" pitchFamily="34" charset="0"/>
                <a:cs typeface="Segoe UI" panose="020B0502040204020203" pitchFamily="34" charset="0"/>
              </a:rPr>
              <a:t>” as 10.  Assume Thread1 perform increment by 1 operation on “</a:t>
            </a:r>
            <a:r>
              <a:rPr lang="en-IN" sz="2600" err="1">
                <a:solidFill>
                  <a:schemeClr val="bg1"/>
                </a:solidFill>
                <a:latin typeface="Tw Cen MT" panose="020B0602020104020603" pitchFamily="34" charset="0"/>
                <a:cs typeface="Segoe UI" panose="020B0502040204020203" pitchFamily="34" charset="0"/>
              </a:rPr>
              <a:t>i</a:t>
            </a:r>
            <a:r>
              <a:rPr lang="en-IN" sz="2600">
                <a:solidFill>
                  <a:schemeClr val="bg1"/>
                </a:solidFill>
                <a:latin typeface="Tw Cen MT" panose="020B0602020104020603" pitchFamily="34" charset="0"/>
                <a:cs typeface="Segoe UI" panose="020B0502040204020203" pitchFamily="34" charset="0"/>
              </a:rPr>
              <a:t>” and pass the incremented value to “count” function. Thread2 performs decrement by 1 on “</a:t>
            </a:r>
            <a:r>
              <a:rPr lang="en-IN" sz="2600" err="1">
                <a:solidFill>
                  <a:schemeClr val="bg1"/>
                </a:solidFill>
                <a:latin typeface="Tw Cen MT" panose="020B0602020104020603" pitchFamily="34" charset="0"/>
                <a:cs typeface="Segoe UI" panose="020B0502040204020203" pitchFamily="34" charset="0"/>
              </a:rPr>
              <a:t>i</a:t>
            </a:r>
            <a:r>
              <a:rPr lang="en-IN" sz="2600">
                <a:solidFill>
                  <a:schemeClr val="bg1"/>
                </a:solidFill>
                <a:latin typeface="Tw Cen MT" panose="020B0602020104020603" pitchFamily="34" charset="0"/>
                <a:cs typeface="Segoe UI" panose="020B0502040204020203" pitchFamily="34" charset="0"/>
              </a:rPr>
              <a:t>” and pass the decremented value to “count” function. Use </a:t>
            </a:r>
            <a:r>
              <a:rPr lang="en-IN" sz="2600" err="1">
                <a:solidFill>
                  <a:schemeClr val="bg1"/>
                </a:solidFill>
                <a:latin typeface="Tw Cen MT" panose="020B0602020104020603" pitchFamily="34" charset="0"/>
                <a:cs typeface="Segoe UI" panose="020B0502040204020203" pitchFamily="34" charset="0"/>
              </a:rPr>
              <a:t>Mutex</a:t>
            </a:r>
            <a:r>
              <a:rPr lang="en-IN" sz="2600">
                <a:solidFill>
                  <a:schemeClr val="bg1"/>
                </a:solidFill>
                <a:latin typeface="Tw Cen MT" panose="020B0602020104020603" pitchFamily="34" charset="0"/>
                <a:cs typeface="Segoe UI" panose="020B0502040204020203" pitchFamily="34" charset="0"/>
              </a:rPr>
              <a:t>/Semaphore to protect the common function “count” for Thread1 and Thread2. Design and implement this logic on the STM 32 Nucleo L152RE board using Keil studio could platform.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9</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Tree>
    <p:extLst>
      <p:ext uri="{BB962C8B-B14F-4D97-AF65-F5344CB8AC3E}">
        <p14:creationId xmlns:p14="http://schemas.microsoft.com/office/powerpoint/2010/main" val="705447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10</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
        <p:nvSpPr>
          <p:cNvPr id="17" name="TextBox 16"/>
          <p:cNvSpPr txBox="1"/>
          <p:nvPr/>
        </p:nvSpPr>
        <p:spPr>
          <a:xfrm>
            <a:off x="5089500" y="874024"/>
            <a:ext cx="2000625" cy="553998"/>
          </a:xfrm>
          <a:prstGeom prst="rect">
            <a:avLst/>
          </a:prstGeom>
          <a:noFill/>
        </p:spPr>
        <p:txBody>
          <a:bodyPr wrap="square" rtlCol="0">
            <a:spAutoFit/>
          </a:bodyPr>
          <a:lstStyle/>
          <a:p>
            <a:pPr algn="ctr">
              <a:lnSpc>
                <a:spcPct val="150000"/>
              </a:lnSpc>
              <a:buClr>
                <a:schemeClr val="accent5">
                  <a:lumMod val="75000"/>
                </a:schemeClr>
              </a:buClr>
            </a:pPr>
            <a:r>
              <a:rPr lang="en-IN" sz="2000" b="1">
                <a:solidFill>
                  <a:srgbClr val="C00000"/>
                </a:solidFill>
                <a:latin typeface="Tw Cen MT" panose="020B0602020104020603" pitchFamily="34" charset="0"/>
                <a:cs typeface="Segoe UI" panose="020B0502040204020203" pitchFamily="34" charset="0"/>
              </a:rPr>
              <a:t>Program</a:t>
            </a:r>
          </a:p>
        </p:txBody>
      </p:sp>
      <p:pic>
        <p:nvPicPr>
          <p:cNvPr id="9" name="Picture 8"/>
          <p:cNvPicPr>
            <a:picLocks noChangeAspect="1"/>
          </p:cNvPicPr>
          <p:nvPr/>
        </p:nvPicPr>
        <p:blipFill>
          <a:blip r:embed="rId2"/>
          <a:stretch>
            <a:fillRect/>
          </a:stretch>
        </p:blipFill>
        <p:spPr>
          <a:xfrm>
            <a:off x="906020" y="1276218"/>
            <a:ext cx="5391415" cy="5010609"/>
          </a:xfrm>
          <a:prstGeom prst="rect">
            <a:avLst/>
          </a:prstGeom>
        </p:spPr>
      </p:pic>
      <p:pic>
        <p:nvPicPr>
          <p:cNvPr id="19" name="Picture 18"/>
          <p:cNvPicPr>
            <a:picLocks noChangeAspect="1"/>
          </p:cNvPicPr>
          <p:nvPr/>
        </p:nvPicPr>
        <p:blipFill>
          <a:blip r:embed="rId3"/>
          <a:stretch>
            <a:fillRect/>
          </a:stretch>
        </p:blipFill>
        <p:spPr>
          <a:xfrm>
            <a:off x="6694038" y="1459337"/>
            <a:ext cx="5035234" cy="2669957"/>
          </a:xfrm>
          <a:prstGeom prst="rect">
            <a:avLst/>
          </a:prstGeom>
        </p:spPr>
      </p:pic>
      <p:sp>
        <p:nvSpPr>
          <p:cNvPr id="20" name="TextBox 19"/>
          <p:cNvSpPr txBox="1"/>
          <p:nvPr/>
        </p:nvSpPr>
        <p:spPr>
          <a:xfrm>
            <a:off x="8276035" y="4097979"/>
            <a:ext cx="2000625" cy="504433"/>
          </a:xfrm>
          <a:prstGeom prst="rect">
            <a:avLst/>
          </a:prstGeom>
          <a:noFill/>
        </p:spPr>
        <p:txBody>
          <a:bodyPr wrap="square" rtlCol="0">
            <a:spAutoFit/>
          </a:bodyPr>
          <a:lstStyle/>
          <a:p>
            <a:pPr algn="ctr">
              <a:lnSpc>
                <a:spcPct val="150000"/>
              </a:lnSpc>
              <a:buClr>
                <a:schemeClr val="accent5">
                  <a:lumMod val="75000"/>
                </a:schemeClr>
              </a:buClr>
            </a:pPr>
            <a:r>
              <a:rPr lang="en-IN" sz="2000" b="1">
                <a:solidFill>
                  <a:srgbClr val="C00000"/>
                </a:solidFill>
                <a:latin typeface="Tw Cen MT" panose="020B0602020104020603" pitchFamily="34" charset="0"/>
                <a:cs typeface="Segoe UI" panose="020B0502040204020203" pitchFamily="34" charset="0"/>
              </a:rPr>
              <a:t>output</a:t>
            </a:r>
          </a:p>
        </p:txBody>
      </p:sp>
      <p:sp>
        <p:nvSpPr>
          <p:cNvPr id="21" name="TextBox 20"/>
          <p:cNvSpPr txBox="1"/>
          <p:nvPr/>
        </p:nvSpPr>
        <p:spPr>
          <a:xfrm>
            <a:off x="6513094" y="4424967"/>
            <a:ext cx="2000625" cy="504433"/>
          </a:xfrm>
          <a:prstGeom prst="rect">
            <a:avLst/>
          </a:prstGeom>
          <a:noFill/>
        </p:spPr>
        <p:txBody>
          <a:bodyPr wrap="square" rtlCol="0">
            <a:spAutoFit/>
          </a:bodyPr>
          <a:lstStyle/>
          <a:p>
            <a:pPr algn="ctr">
              <a:lnSpc>
                <a:spcPct val="150000"/>
              </a:lnSpc>
              <a:buClr>
                <a:schemeClr val="accent5">
                  <a:lumMod val="75000"/>
                </a:schemeClr>
              </a:buClr>
            </a:pPr>
            <a:r>
              <a:rPr lang="en-IN" sz="2000" b="1">
                <a:solidFill>
                  <a:srgbClr val="C00000"/>
                </a:solidFill>
                <a:latin typeface="Tw Cen MT" panose="020B0602020104020603" pitchFamily="34" charset="0"/>
                <a:cs typeface="Segoe UI" panose="020B0502040204020203" pitchFamily="34" charset="0"/>
              </a:rPr>
              <a:t>(without </a:t>
            </a:r>
            <a:r>
              <a:rPr lang="en-IN" sz="2000" b="1" err="1">
                <a:solidFill>
                  <a:srgbClr val="C00000"/>
                </a:solidFill>
                <a:latin typeface="Tw Cen MT" panose="020B0602020104020603" pitchFamily="34" charset="0"/>
                <a:cs typeface="Segoe UI" panose="020B0502040204020203" pitchFamily="34" charset="0"/>
              </a:rPr>
              <a:t>Mutex</a:t>
            </a:r>
            <a:r>
              <a:rPr lang="en-IN" sz="2000" b="1">
                <a:solidFill>
                  <a:srgbClr val="C00000"/>
                </a:solidFill>
                <a:latin typeface="Tw Cen MT" panose="020B0602020104020603" pitchFamily="34" charset="0"/>
                <a:cs typeface="Segoe UI" panose="020B0502040204020203" pitchFamily="34" charset="0"/>
              </a:rPr>
              <a:t>)</a:t>
            </a:r>
          </a:p>
        </p:txBody>
      </p:sp>
      <p:sp>
        <p:nvSpPr>
          <p:cNvPr id="22" name="TextBox 21"/>
          <p:cNvSpPr txBox="1"/>
          <p:nvPr/>
        </p:nvSpPr>
        <p:spPr>
          <a:xfrm>
            <a:off x="9728647" y="4424967"/>
            <a:ext cx="2000625" cy="553998"/>
          </a:xfrm>
          <a:prstGeom prst="rect">
            <a:avLst/>
          </a:prstGeom>
          <a:noFill/>
        </p:spPr>
        <p:txBody>
          <a:bodyPr wrap="square" rtlCol="0">
            <a:spAutoFit/>
          </a:bodyPr>
          <a:lstStyle/>
          <a:p>
            <a:pPr algn="ctr">
              <a:lnSpc>
                <a:spcPct val="150000"/>
              </a:lnSpc>
              <a:buClr>
                <a:schemeClr val="accent5">
                  <a:lumMod val="75000"/>
                </a:schemeClr>
              </a:buClr>
            </a:pPr>
            <a:r>
              <a:rPr lang="en-IN" sz="2000" b="1">
                <a:solidFill>
                  <a:srgbClr val="C00000"/>
                </a:solidFill>
                <a:latin typeface="Tw Cen MT" panose="020B0602020104020603" pitchFamily="34" charset="0"/>
                <a:cs typeface="Segoe UI" panose="020B0502040204020203" pitchFamily="34" charset="0"/>
              </a:rPr>
              <a:t>(with </a:t>
            </a:r>
            <a:r>
              <a:rPr lang="en-IN" sz="2000" b="1" err="1">
                <a:solidFill>
                  <a:srgbClr val="C00000"/>
                </a:solidFill>
                <a:latin typeface="Tw Cen MT" panose="020B0602020104020603" pitchFamily="34" charset="0"/>
                <a:cs typeface="Segoe UI" panose="020B0502040204020203" pitchFamily="34" charset="0"/>
              </a:rPr>
              <a:t>Mutex</a:t>
            </a:r>
            <a:r>
              <a:rPr lang="en-IN" sz="2000" b="1">
                <a:solidFill>
                  <a:srgbClr val="C00000"/>
                </a:solidFill>
                <a:latin typeface="Tw Cen MT" panose="020B0602020104020603" pitchFamily="34" charset="0"/>
                <a:cs typeface="Segoe UI" panose="020B0502040204020203" pitchFamily="34" charset="0"/>
              </a:rPr>
              <a:t>)</a:t>
            </a:r>
          </a:p>
        </p:txBody>
      </p:sp>
      <p:pic>
        <p:nvPicPr>
          <p:cNvPr id="23" name="Picture 22"/>
          <p:cNvPicPr>
            <a:picLocks noChangeAspect="1"/>
          </p:cNvPicPr>
          <p:nvPr/>
        </p:nvPicPr>
        <p:blipFill>
          <a:blip r:embed="rId4"/>
          <a:stretch>
            <a:fillRect/>
          </a:stretch>
        </p:blipFill>
        <p:spPr>
          <a:xfrm>
            <a:off x="6703980" y="4961421"/>
            <a:ext cx="2417203" cy="797163"/>
          </a:xfrm>
          <a:prstGeom prst="rect">
            <a:avLst/>
          </a:prstGeom>
        </p:spPr>
      </p:pic>
      <p:pic>
        <p:nvPicPr>
          <p:cNvPr id="24" name="Picture 23"/>
          <p:cNvPicPr>
            <a:picLocks noChangeAspect="1"/>
          </p:cNvPicPr>
          <p:nvPr/>
        </p:nvPicPr>
        <p:blipFill>
          <a:blip r:embed="rId5"/>
          <a:stretch>
            <a:fillRect/>
          </a:stretch>
        </p:blipFill>
        <p:spPr>
          <a:xfrm>
            <a:off x="9481009" y="4978965"/>
            <a:ext cx="2293375" cy="797163"/>
          </a:xfrm>
          <a:prstGeom prst="rect">
            <a:avLst/>
          </a:prstGeom>
        </p:spPr>
      </p:pic>
    </p:spTree>
    <p:extLst>
      <p:ext uri="{BB962C8B-B14F-4D97-AF65-F5344CB8AC3E}">
        <p14:creationId xmlns:p14="http://schemas.microsoft.com/office/powerpoint/2010/main" val="2861336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SIGNALS </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 </a:t>
            </a:r>
            <a:r>
              <a:rPr kumimoji="0" lang="en-US" sz="3600" b="1" i="0" u="none" strike="noStrike" kern="1200" cap="none" spc="0" normalizeH="0" baseline="0" noProof="0" err="1">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mbed</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 RTOS</a:t>
            </a:r>
          </a:p>
        </p:txBody>
      </p:sp>
      <p:sp>
        <p:nvSpPr>
          <p:cNvPr id="8" name="TextBox 7"/>
          <p:cNvSpPr txBox="1"/>
          <p:nvPr/>
        </p:nvSpPr>
        <p:spPr>
          <a:xfrm>
            <a:off x="216859" y="1095606"/>
            <a:ext cx="11745907" cy="5632311"/>
          </a:xfrm>
          <a:prstGeom prst="rect">
            <a:avLst/>
          </a:prstGeom>
          <a:noFill/>
        </p:spPr>
        <p:txBody>
          <a:bodyPr wrap="square" rtlCol="0">
            <a:spAutoFit/>
          </a:bodyPr>
          <a:lstStyle/>
          <a:p>
            <a:pPr marL="457200" lvl="0" indent="-457200" algn="just">
              <a:buClr>
                <a:srgbClr val="DD9D31">
                  <a:lumMod val="75000"/>
                </a:srgb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Signals are also called event flags and they are used for thread synchronization. </a:t>
            </a:r>
          </a:p>
          <a:p>
            <a:pPr marL="457200" lvl="0" indent="-457200" algn="just">
              <a:buClr>
                <a:srgbClr val="DD9D31">
                  <a:lumMod val="75000"/>
                </a:srgbClr>
              </a:buClr>
              <a:buFont typeface="Wingdings" panose="05000000000000000000" pitchFamily="2" charset="2"/>
              <a:buChar char="Ø"/>
            </a:pPr>
            <a:endParaRPr lang="en-IN" sz="24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A thread can be </a:t>
            </a:r>
            <a:r>
              <a:rPr lang="en-IN" sz="2400">
                <a:solidFill>
                  <a:srgbClr val="C00000"/>
                </a:solidFill>
                <a:latin typeface="Tw Cen MT" panose="020B0602020104020603" pitchFamily="34" charset="0"/>
                <a:cs typeface="Segoe UI" panose="020B0502040204020203" pitchFamily="34" charset="0"/>
              </a:rPr>
              <a:t>forced to wait for a signal </a:t>
            </a:r>
            <a:r>
              <a:rPr lang="en-IN" sz="2400">
                <a:solidFill>
                  <a:prstClr val="black"/>
                </a:solidFill>
                <a:latin typeface="Tw Cen MT" panose="020B0602020104020603" pitchFamily="34" charset="0"/>
                <a:cs typeface="Segoe UI" panose="020B0502040204020203" pitchFamily="34" charset="0"/>
              </a:rPr>
              <a:t>to be set by another thread before it can continue. </a:t>
            </a:r>
          </a:p>
          <a:p>
            <a:pPr marL="457200" lvl="0" indent="-457200" algn="just">
              <a:buClr>
                <a:srgbClr val="DD9D31">
                  <a:lumMod val="75000"/>
                </a:srgbClr>
              </a:buClr>
              <a:buFont typeface="Wingdings" panose="05000000000000000000" pitchFamily="2" charset="2"/>
              <a:buChar char="Ø"/>
            </a:pPr>
            <a:endParaRPr lang="en-IN" sz="24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Mbed function </a:t>
            </a:r>
            <a:r>
              <a:rPr lang="en-IN" sz="2400">
                <a:solidFill>
                  <a:srgbClr val="C00000"/>
                </a:solidFill>
                <a:latin typeface="Tw Cen MT" panose="020B0602020104020603" pitchFamily="34" charset="0"/>
                <a:cs typeface="Segoe UI" panose="020B0502040204020203" pitchFamily="34" charset="0"/>
              </a:rPr>
              <a:t>Thread::</a:t>
            </a:r>
            <a:r>
              <a:rPr lang="en-IN" sz="2400" err="1">
                <a:solidFill>
                  <a:srgbClr val="C00000"/>
                </a:solidFill>
                <a:latin typeface="Tw Cen MT" panose="020B0602020104020603" pitchFamily="34" charset="0"/>
                <a:cs typeface="Segoe UI" panose="020B0502040204020203" pitchFamily="34" charset="0"/>
              </a:rPr>
              <a:t>signal_wait</a:t>
            </a:r>
            <a:r>
              <a:rPr lang="en-IN" sz="2400">
                <a:solidFill>
                  <a:srgbClr val="C00000"/>
                </a:solidFill>
                <a:latin typeface="Tw Cen MT" panose="020B0602020104020603" pitchFamily="34" charset="0"/>
                <a:cs typeface="Segoe UI" panose="020B0502040204020203" pitchFamily="34" charset="0"/>
              </a:rPr>
              <a:t>() </a:t>
            </a:r>
            <a:r>
              <a:rPr lang="en-IN" sz="2400">
                <a:solidFill>
                  <a:prstClr val="black"/>
                </a:solidFill>
                <a:latin typeface="Tw Cen MT" panose="020B0602020104020603" pitchFamily="34" charset="0"/>
                <a:cs typeface="Segoe UI" panose="020B0502040204020203" pitchFamily="34" charset="0"/>
              </a:rPr>
              <a:t>forces the issuing thread to wait until the specified signal is set. Function </a:t>
            </a:r>
            <a:r>
              <a:rPr lang="en-IN" sz="2400" err="1">
                <a:solidFill>
                  <a:srgbClr val="C00000"/>
                </a:solidFill>
                <a:latin typeface="Tw Cen MT" panose="020B0602020104020603" pitchFamily="34" charset="0"/>
                <a:cs typeface="Segoe UI" panose="020B0502040204020203" pitchFamily="34" charset="0"/>
              </a:rPr>
              <a:t>signal_set</a:t>
            </a:r>
            <a:r>
              <a:rPr lang="en-IN" sz="2400">
                <a:solidFill>
                  <a:srgbClr val="C00000"/>
                </a:solidFill>
                <a:latin typeface="Tw Cen MT" panose="020B0602020104020603" pitchFamily="34" charset="0"/>
                <a:cs typeface="Segoe UI" panose="020B0502040204020203" pitchFamily="34" charset="0"/>
              </a:rPr>
              <a:t>() </a:t>
            </a:r>
            <a:r>
              <a:rPr lang="en-IN" sz="2400">
                <a:solidFill>
                  <a:prstClr val="black"/>
                </a:solidFill>
                <a:latin typeface="Tw Cen MT" panose="020B0602020104020603" pitchFamily="34" charset="0"/>
                <a:cs typeface="Segoe UI" panose="020B0502040204020203" pitchFamily="34" charset="0"/>
              </a:rPr>
              <a:t>sets a signal. </a:t>
            </a:r>
          </a:p>
          <a:p>
            <a:pPr marL="457200" lvl="0" indent="-457200" algn="just">
              <a:buClr>
                <a:srgbClr val="DD9D31">
                  <a:lumMod val="75000"/>
                </a:srgbClr>
              </a:buClr>
              <a:buFont typeface="Wingdings" panose="05000000000000000000" pitchFamily="2" charset="2"/>
              <a:buChar char="Ø"/>
            </a:pPr>
            <a:endParaRPr lang="en-IN" sz="24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We can have up to </a:t>
            </a:r>
            <a:r>
              <a:rPr lang="en-IN" sz="2400">
                <a:solidFill>
                  <a:srgbClr val="C00000"/>
                </a:solidFill>
                <a:latin typeface="Tw Cen MT" panose="020B0602020104020603" pitchFamily="34" charset="0"/>
                <a:cs typeface="Segoe UI" panose="020B0502040204020203" pitchFamily="34" charset="0"/>
              </a:rPr>
              <a:t>32 signal flags (or event flags) per thread.</a:t>
            </a:r>
          </a:p>
          <a:p>
            <a:pPr marL="457200" lvl="0" indent="-457200" algn="just">
              <a:buClr>
                <a:srgbClr val="DD9D31">
                  <a:lumMod val="75000"/>
                </a:srgbClr>
              </a:buClr>
              <a:buFont typeface="Wingdings" panose="05000000000000000000" pitchFamily="2" charset="2"/>
              <a:buChar char="Ø"/>
            </a:pPr>
            <a:endParaRPr lang="en-IN" sz="2400">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Fig. shows an </a:t>
            </a:r>
            <a:r>
              <a:rPr lang="en-IN" sz="2400">
                <a:solidFill>
                  <a:srgbClr val="C00000"/>
                </a:solidFill>
                <a:latin typeface="Tw Cen MT" panose="020B0602020104020603" pitchFamily="34" charset="0"/>
                <a:cs typeface="Segoe UI" panose="020B0502040204020203" pitchFamily="34" charset="0"/>
              </a:rPr>
              <a:t>example where one task generates some data and another one reads this  data. </a:t>
            </a:r>
          </a:p>
          <a:p>
            <a:pPr marL="457200" lvl="0" indent="-457200" algn="just">
              <a:buClr>
                <a:srgbClr val="DD9D31">
                  <a:lumMod val="75000"/>
                </a:srgbClr>
              </a:buClr>
              <a:buFont typeface="Wingdings" panose="05000000000000000000" pitchFamily="2" charset="2"/>
              <a:buChar char="Ø"/>
            </a:pPr>
            <a:endParaRPr lang="en-IN">
              <a:solidFill>
                <a:prstClr val="black"/>
              </a:solidFill>
              <a:latin typeface="Tw Cen MT" panose="020B0602020104020603" pitchFamily="34" charset="0"/>
              <a:cs typeface="Segoe UI" panose="020B0502040204020203" pitchFamily="34" charset="0"/>
            </a:endParaRPr>
          </a:p>
          <a:p>
            <a:pPr marL="457200" lvl="0" indent="-457200" algn="just">
              <a:buClr>
                <a:srgbClr val="DD9D31">
                  <a:lumMod val="75000"/>
                </a:srgbClr>
              </a:buClr>
              <a:buFont typeface="Wingdings" panose="05000000000000000000" pitchFamily="2" charset="2"/>
              <a:buChar char="Ø"/>
            </a:pPr>
            <a:r>
              <a:rPr lang="en-IN" sz="2400">
                <a:solidFill>
                  <a:prstClr val="black"/>
                </a:solidFill>
                <a:latin typeface="Tw Cen MT" panose="020B0602020104020603" pitchFamily="34" charset="0"/>
                <a:cs typeface="Segoe UI" panose="020B0502040204020203" pitchFamily="34" charset="0"/>
              </a:rPr>
              <a:t>The reading task waits for an event flag to indicate that data are available </a:t>
            </a:r>
            <a:r>
              <a:rPr lang="en-IN" sz="2400">
                <a:solidFill>
                  <a:srgbClr val="C00000"/>
                </a:solidFill>
                <a:latin typeface="Tw Cen MT" panose="020B0602020104020603" pitchFamily="34" charset="0"/>
                <a:cs typeface="Segoe UI" panose="020B0502040204020203" pitchFamily="34" charset="0"/>
              </a:rPr>
              <a:t>before it continues to read it.</a:t>
            </a:r>
            <a:endParaRPr kumimoji="0" lang="en-IN" sz="2400" b="0" i="0" u="none" strike="noStrike" kern="1200" cap="none" spc="0" normalizeH="0" baseline="0" noProof="0">
              <a:ln>
                <a:noFill/>
              </a:ln>
              <a:solidFill>
                <a:srgbClr val="C00000"/>
              </a:solidFill>
              <a:effectLst/>
              <a:uLnTx/>
              <a:uFillTx/>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LAB-13</a:t>
            </a:r>
          </a:p>
        </p:txBody>
      </p:sp>
    </p:spTree>
    <p:extLst>
      <p:ext uri="{BB962C8B-B14F-4D97-AF65-F5344CB8AC3E}">
        <p14:creationId xmlns:p14="http://schemas.microsoft.com/office/powerpoint/2010/main" val="3496940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a:ln w="9525">
                  <a:solidFill>
                    <a:prstClr val="black"/>
                  </a:solidFill>
                  <a:prstDash val="solid"/>
                </a:ln>
                <a:solidFill>
                  <a:srgbClr val="DD9D31"/>
                </a:solidFill>
                <a:effectLst>
                  <a:outerShdw blurRad="12700" dist="38100" dir="2700000" algn="tl" rotWithShape="0">
                    <a:srgbClr val="DD9D31">
                      <a:lumMod val="60000"/>
                      <a:lumOff val="40000"/>
                    </a:srgbClr>
                  </a:outerShdw>
                </a:effectLst>
                <a:latin typeface="Century Gothic" pitchFamily="34" charset="0"/>
                <a:cs typeface="Aharoni" pitchFamily="2" charset="-79"/>
              </a:rPr>
              <a:t>SIGNALS </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IN </a:t>
            </a:r>
            <a:r>
              <a:rPr kumimoji="0" lang="en-US" sz="3600" b="1" i="0" u="none" strike="noStrike" kern="1200" cap="none" spc="0" normalizeH="0" baseline="0" noProof="0" err="1">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mbed</a:t>
            </a:r>
            <a:r>
              <a:rPr kumimoji="0" lang="en-US" sz="3600" b="1" i="0" u="none" strike="noStrike" kern="1200" cap="none" spc="0" normalizeH="0" baseline="0" noProof="0">
                <a:ln w="9525">
                  <a:solidFill>
                    <a:prstClr val="black"/>
                  </a:solidFill>
                  <a:prstDash val="solid"/>
                </a:ln>
                <a:solidFill>
                  <a:srgbClr val="DD9D31"/>
                </a:solidFill>
                <a:effectLst>
                  <a:outerShdw blurRad="12700" dist="38100" dir="2700000" algn="tl" rotWithShape="0">
                    <a:srgbClr val="DD9D31">
                      <a:lumMod val="60000"/>
                      <a:lumOff val="40000"/>
                    </a:srgbClr>
                  </a:outerShdw>
                </a:effectLst>
                <a:uLnTx/>
                <a:uFillTx/>
                <a:latin typeface="Century Gothic" pitchFamily="34" charset="0"/>
                <a:ea typeface="+mn-ea"/>
                <a:cs typeface="Aharoni" pitchFamily="2" charset="-79"/>
              </a:rPr>
              <a:t> RTOS</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AE471DC6-CC24-4344-AD7A-B802DC426001}" type="slidenum">
              <a:rPr kumimoji="0" lang="en-US" sz="1400" b="1" i="0" u="none" strike="noStrike" kern="1200" cap="none" spc="0" normalizeH="0" baseline="0" noProof="0" smtClean="0">
                <a:ln>
                  <a:noFill/>
                </a:ln>
                <a:solidFill>
                  <a:prstClr val="black"/>
                </a:solidFill>
                <a:effectLst/>
                <a:uLnTx/>
                <a:uFillTx/>
                <a:latin typeface="Century Gothic" panose="020B0502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63300"/>
                </a:solidFill>
                <a:effectLst/>
                <a:uLnTx/>
                <a:uFillTx/>
                <a:latin typeface="Century Gothic" panose="020B0502020202020204" pitchFamily="34" charset="0"/>
                <a:ea typeface="+mn-ea"/>
                <a:cs typeface="+mn-cs"/>
              </a:rPr>
              <a:t>LAB-13</a:t>
            </a:r>
          </a:p>
        </p:txBody>
      </p:sp>
      <p:pic>
        <p:nvPicPr>
          <p:cNvPr id="2" name="Picture 1"/>
          <p:cNvPicPr>
            <a:picLocks noChangeAspect="1"/>
          </p:cNvPicPr>
          <p:nvPr/>
        </p:nvPicPr>
        <p:blipFill>
          <a:blip r:embed="rId2"/>
          <a:stretch>
            <a:fillRect/>
          </a:stretch>
        </p:blipFill>
        <p:spPr>
          <a:xfrm>
            <a:off x="3749200" y="1197180"/>
            <a:ext cx="4305673" cy="5273497"/>
          </a:xfrm>
          <a:prstGeom prst="rect">
            <a:avLst/>
          </a:prstGeom>
        </p:spPr>
      </p:pic>
      <p:sp>
        <p:nvSpPr>
          <p:cNvPr id="3" name="Rectangle 2"/>
          <p:cNvSpPr/>
          <p:nvPr/>
        </p:nvSpPr>
        <p:spPr>
          <a:xfrm>
            <a:off x="3962659" y="6046923"/>
            <a:ext cx="1842171" cy="400110"/>
          </a:xfrm>
          <a:prstGeom prst="rect">
            <a:avLst/>
          </a:prstGeom>
        </p:spPr>
        <p:txBody>
          <a:bodyPr wrap="none">
            <a:spAutoFit/>
          </a:bodyPr>
          <a:lstStyle/>
          <a:p>
            <a:r>
              <a:rPr lang="en-IN" sz="2000" b="1">
                <a:solidFill>
                  <a:srgbClr val="C00000"/>
                </a:solidFill>
                <a:latin typeface="Tw Cen MT" panose="020B0602020104020603" pitchFamily="34" charset="0"/>
                <a:cs typeface="Segoe UI" panose="020B0502040204020203" pitchFamily="34" charset="0"/>
              </a:rPr>
              <a:t>Signal Example</a:t>
            </a:r>
            <a:endParaRPr lang="en-IN" sz="2000" b="1">
              <a:solidFill>
                <a:srgbClr val="C00000"/>
              </a:solidFill>
            </a:endParaRPr>
          </a:p>
        </p:txBody>
      </p:sp>
    </p:spTree>
    <p:extLst>
      <p:ext uri="{BB962C8B-B14F-4D97-AF65-F5344CB8AC3E}">
        <p14:creationId xmlns:p14="http://schemas.microsoft.com/office/powerpoint/2010/main" val="2067735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TASK-3</a:t>
            </a:r>
          </a:p>
        </p:txBody>
      </p:sp>
      <p:sp>
        <p:nvSpPr>
          <p:cNvPr id="8" name="TextBox 7"/>
          <p:cNvSpPr txBox="1"/>
          <p:nvPr/>
        </p:nvSpPr>
        <p:spPr>
          <a:xfrm>
            <a:off x="310928" y="874470"/>
            <a:ext cx="11592251" cy="3139321"/>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Interprocess communication (synchronization) – Signal(Event flag)</a:t>
            </a:r>
          </a:p>
          <a:p>
            <a:pPr algn="just">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mbed RTOS program to demonstrate the use of Signal (event flag) by using LED (PC_11) and button (PC_10). Create a thread called Flash which waits for event flag 1 to be set by calling function </a:t>
            </a:r>
            <a:r>
              <a:rPr lang="en-IN" sz="2600" err="1">
                <a:solidFill>
                  <a:schemeClr val="bg1"/>
                </a:solidFill>
                <a:latin typeface="Tw Cen MT" panose="020B0602020104020603" pitchFamily="34" charset="0"/>
                <a:cs typeface="Segoe UI" panose="020B0502040204020203" pitchFamily="34" charset="0"/>
              </a:rPr>
              <a:t>signal_wait</a:t>
            </a:r>
            <a:r>
              <a:rPr lang="en-IN" sz="2600">
                <a:solidFill>
                  <a:schemeClr val="bg1"/>
                </a:solidFill>
                <a:latin typeface="Tw Cen MT" panose="020B0602020104020603" pitchFamily="34" charset="0"/>
                <a:cs typeface="Segoe UI" panose="020B0502040204020203" pitchFamily="34" charset="0"/>
              </a:rPr>
              <a:t>(0x1). Event flag 1 is set when the button is pressed by calling function </a:t>
            </a:r>
            <a:r>
              <a:rPr lang="en-IN" sz="2600" err="1">
                <a:solidFill>
                  <a:schemeClr val="bg1"/>
                </a:solidFill>
                <a:latin typeface="Tw Cen MT" panose="020B0602020104020603" pitchFamily="34" charset="0"/>
                <a:cs typeface="Segoe UI" panose="020B0502040204020203" pitchFamily="34" charset="0"/>
              </a:rPr>
              <a:t>signal_set</a:t>
            </a:r>
            <a:r>
              <a:rPr lang="en-IN" sz="2600">
                <a:solidFill>
                  <a:schemeClr val="bg1"/>
                </a:solidFill>
                <a:latin typeface="Tw Cen MT" panose="020B0602020104020603" pitchFamily="34" charset="0"/>
                <a:cs typeface="Segoe UI" panose="020B0502040204020203" pitchFamily="34" charset="0"/>
              </a:rPr>
              <a:t>(0x1). After this point thread   active and flashes the LED every second. Design and implement this logic on the STM 32 Nucleo L152RE board using Keil studio could platform.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13</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Tree>
    <p:extLst>
      <p:ext uri="{BB962C8B-B14F-4D97-AF65-F5344CB8AC3E}">
        <p14:creationId xmlns:p14="http://schemas.microsoft.com/office/powerpoint/2010/main" val="1051284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47675" y="359838"/>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TASK-3</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14</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LAB-13</a:t>
            </a:r>
          </a:p>
        </p:txBody>
      </p:sp>
      <p:sp>
        <p:nvSpPr>
          <p:cNvPr id="17" name="TextBox 16"/>
          <p:cNvSpPr txBox="1"/>
          <p:nvPr/>
        </p:nvSpPr>
        <p:spPr>
          <a:xfrm>
            <a:off x="5089500" y="874024"/>
            <a:ext cx="2000625" cy="553998"/>
          </a:xfrm>
          <a:prstGeom prst="rect">
            <a:avLst/>
          </a:prstGeom>
          <a:noFill/>
        </p:spPr>
        <p:txBody>
          <a:bodyPr wrap="square" rtlCol="0">
            <a:spAutoFit/>
          </a:bodyPr>
          <a:lstStyle/>
          <a:p>
            <a:pPr algn="ctr">
              <a:lnSpc>
                <a:spcPct val="150000"/>
              </a:lnSpc>
              <a:buClr>
                <a:schemeClr val="accent5">
                  <a:lumMod val="75000"/>
                </a:schemeClr>
              </a:buClr>
            </a:pPr>
            <a:r>
              <a:rPr lang="en-IN" sz="2000" b="1">
                <a:solidFill>
                  <a:srgbClr val="C00000"/>
                </a:solidFill>
                <a:latin typeface="Tw Cen MT" panose="020B0602020104020603" pitchFamily="34" charset="0"/>
                <a:cs typeface="Segoe UI" panose="020B0502040204020203" pitchFamily="34" charset="0"/>
              </a:rPr>
              <a:t>Program</a:t>
            </a:r>
          </a:p>
        </p:txBody>
      </p:sp>
      <p:pic>
        <p:nvPicPr>
          <p:cNvPr id="2" name="Picture 1"/>
          <p:cNvPicPr>
            <a:picLocks noChangeAspect="1"/>
          </p:cNvPicPr>
          <p:nvPr/>
        </p:nvPicPr>
        <p:blipFill>
          <a:blip r:embed="rId2"/>
          <a:stretch>
            <a:fillRect/>
          </a:stretch>
        </p:blipFill>
        <p:spPr>
          <a:xfrm>
            <a:off x="2973318" y="1428022"/>
            <a:ext cx="6127889" cy="5006818"/>
          </a:xfrm>
          <a:prstGeom prst="rect">
            <a:avLst/>
          </a:prstGeom>
        </p:spPr>
      </p:pic>
    </p:spTree>
    <p:extLst>
      <p:ext uri="{BB962C8B-B14F-4D97-AF65-F5344CB8AC3E}">
        <p14:creationId xmlns:p14="http://schemas.microsoft.com/office/powerpoint/2010/main" val="1633515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2500764" y="2396840"/>
            <a:ext cx="7419095" cy="1143000"/>
          </a:xfrm>
          <a:solidFill>
            <a:srgbClr val="00B0F0"/>
          </a:solidFill>
          <a:effectLst>
            <a:glow rad="101600">
              <a:schemeClr val="accent3">
                <a:satMod val="175000"/>
                <a:alpha val="40000"/>
              </a:schemeClr>
            </a:glow>
            <a:outerShdw blurRad="40000" dist="20000" dir="5400000" rotWithShape="0">
              <a:srgbClr val="000000">
                <a:alpha val="38000"/>
              </a:srgbClr>
            </a:outerShdw>
            <a:reflection blurRad="6350" stA="50000" endA="295" endPos="92000" dist="101600" dir="5400000" sy="-100000" algn="bl" rotWithShape="0"/>
          </a:effectLst>
          <a:scene3d>
            <a:camera prst="perspectiveContrastingRightFacing"/>
            <a:lightRig rig="threePt" dir="t"/>
          </a:scene3d>
          <a:sp3d>
            <a:bevelT w="139700" h="139700" prst="divot"/>
          </a:sp3d>
        </p:spPr>
        <p:style>
          <a:lnRef idx="3">
            <a:schemeClr val="lt1"/>
          </a:lnRef>
          <a:fillRef idx="1">
            <a:schemeClr val="accent5"/>
          </a:fillRef>
          <a:effectRef idx="1">
            <a:schemeClr val="accent5"/>
          </a:effectRef>
          <a:fontRef idx="minor">
            <a:schemeClr val="lt1"/>
          </a:fontRef>
        </p:style>
        <p:txBody>
          <a:bodyPr>
            <a:normAutofit/>
          </a:bodyPr>
          <a:lstStyle/>
          <a:p>
            <a:pPr algn="ctr" eaLnBrk="1" hangingPunct="1">
              <a:defRPr/>
            </a:pPr>
            <a:r>
              <a:rPr lang="en-US" sz="6000" b="1">
                <a:solidFill>
                  <a:schemeClr val="bg1"/>
                </a:solidFill>
                <a:latin typeface="Forte" pitchFamily="66" charset="0"/>
              </a:rPr>
              <a:t>THANK   YOU</a:t>
            </a:r>
          </a:p>
        </p:txBody>
      </p:sp>
      <p:sp>
        <p:nvSpPr>
          <p:cNvPr id="11" name="TextBox 10"/>
          <p:cNvSpPr txBox="1">
            <a:spLocks noChangeArrowheads="1"/>
          </p:cNvSpPr>
          <p:nvPr/>
        </p:nvSpPr>
        <p:spPr bwMode="auto">
          <a:xfrm rot="-1379407">
            <a:off x="9132744" y="4466435"/>
            <a:ext cx="2632075" cy="1754326"/>
          </a:xfrm>
          <a:prstGeom prst="rect">
            <a:avLst/>
          </a:prstGeom>
          <a:noFill/>
          <a:ln w="9525">
            <a:noFill/>
            <a:miter lim="800000"/>
            <a:headEnd/>
            <a:tailEnd/>
          </a:ln>
        </p:spPr>
        <p:txBody>
          <a:bodyPr>
            <a:spAutoFit/>
          </a:bodyPr>
          <a:lstStyle/>
          <a:p>
            <a:pPr algn="ctr"/>
            <a:r>
              <a:rPr lang="en-US" sz="5400" b="1">
                <a:solidFill>
                  <a:srgbClr val="C00000"/>
                </a:solidFill>
                <a:latin typeface="Blackadder ITC" pitchFamily="82" charset="0"/>
              </a:rPr>
              <a:t>by</a:t>
            </a:r>
          </a:p>
          <a:p>
            <a:pPr algn="ctr"/>
            <a:r>
              <a:rPr lang="en-US" sz="5400" b="1">
                <a:solidFill>
                  <a:srgbClr val="C00000"/>
                </a:solidFill>
                <a:latin typeface="Blackadder ITC" pitchFamily="82" charset="0"/>
              </a:rPr>
              <a:t> prakash  v</a:t>
            </a:r>
          </a:p>
        </p:txBody>
      </p:sp>
      <p:pic>
        <p:nvPicPr>
          <p:cNvPr id="12" name="Picture 3"/>
          <p:cNvPicPr>
            <a:picLocks noChangeAspect="1" noChangeArrowheads="1"/>
          </p:cNvPicPr>
          <p:nvPr/>
        </p:nvPicPr>
        <p:blipFill>
          <a:blip r:embed="rId2" cstate="print"/>
          <a:srcRect/>
          <a:stretch>
            <a:fillRect/>
          </a:stretch>
        </p:blipFill>
        <p:spPr bwMode="auto">
          <a:xfrm>
            <a:off x="609600" y="762000"/>
            <a:ext cx="7848600" cy="276225"/>
          </a:xfrm>
          <a:prstGeom prst="rect">
            <a:avLst/>
          </a:prstGeom>
          <a:noFill/>
          <a:ln w="9525">
            <a:noFill/>
            <a:miter lim="800000"/>
            <a:headEnd/>
            <a:tailEnd/>
          </a:ln>
        </p:spPr>
      </p:pic>
      <p:pic>
        <p:nvPicPr>
          <p:cNvPr id="13" name="Content Placeholder 4" descr="butterflybluex.gif"/>
          <p:cNvPicPr>
            <a:picLocks noGrp="1" noChangeAspect="1"/>
          </p:cNvPicPr>
          <p:nvPr>
            <p:ph idx="1"/>
          </p:nvPr>
        </p:nvPicPr>
        <p:blipFill>
          <a:blip r:embed="rId3" cstate="print"/>
          <a:stretch>
            <a:fillRect/>
          </a:stretch>
        </p:blipFill>
        <p:spPr>
          <a:xfrm>
            <a:off x="223401" y="5170340"/>
            <a:ext cx="2152650" cy="1590675"/>
          </a:xfrm>
        </p:spPr>
      </p:pic>
    </p:spTree>
    <p:extLst>
      <p:ext uri="{BB962C8B-B14F-4D97-AF65-F5344CB8AC3E}">
        <p14:creationId xmlns:p14="http://schemas.microsoft.com/office/powerpoint/2010/main" val="233871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0" fill="hold"/>
                                        <p:tgtEl>
                                          <p:spTgt spid="7"/>
                                        </p:tgtEl>
                                        <p:attrNameLst>
                                          <p:attrName>ppt_w</p:attrName>
                                        </p:attrNameLst>
                                      </p:cBhvr>
                                      <p:tavLst>
                                        <p:tav tm="0">
                                          <p:val>
                                            <p:strVal val="#ppt_w*0.70"/>
                                          </p:val>
                                        </p:tav>
                                        <p:tav tm="100000">
                                          <p:val>
                                            <p:strVal val="#ppt_w"/>
                                          </p:val>
                                        </p:tav>
                                      </p:tavLst>
                                    </p:anim>
                                    <p:anim calcmode="lin" valueType="num">
                                      <p:cBhvr>
                                        <p:cTn id="8" dur="3000" fill="hold"/>
                                        <p:tgtEl>
                                          <p:spTgt spid="7"/>
                                        </p:tgtEl>
                                        <p:attrNameLst>
                                          <p:attrName>ppt_h</p:attrName>
                                        </p:attrNameLst>
                                      </p:cBhvr>
                                      <p:tavLst>
                                        <p:tav tm="0">
                                          <p:val>
                                            <p:strVal val="#ppt_h"/>
                                          </p:val>
                                        </p:tav>
                                        <p:tav tm="100000">
                                          <p:val>
                                            <p:strVal val="#ppt_h"/>
                                          </p:val>
                                        </p:tav>
                                      </p:tavLst>
                                    </p:anim>
                                    <p:animEffect transition="in" filter="fade">
                                      <p:cBhvr>
                                        <p:cTn id="9" dur="3000"/>
                                        <p:tgtEl>
                                          <p:spTgt spid="7"/>
                                        </p:tgtEl>
                                      </p:cBhvr>
                                    </p:animEffect>
                                  </p:childTnLst>
                                </p:cTn>
                              </p:par>
                            </p:childTnLst>
                          </p:cTn>
                        </p:par>
                        <p:par>
                          <p:cTn id="10" fill="hold">
                            <p:stCondLst>
                              <p:cond delay="30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1"/>
                                        </p:tgtEl>
                                        <p:attrNameLst>
                                          <p:attrName>style.visibility</p:attrName>
                                        </p:attrNameLst>
                                      </p:cBhvr>
                                      <p:to>
                                        <p:strVal val="visible"/>
                                      </p:to>
                                    </p:set>
                                    <p:anim calcmode="discrete" valueType="clr">
                                      <p:cBhvr override="childStyle">
                                        <p:cTn id="13" dur="100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11"/>
                                        </p:tgtEl>
                                        <p:attrNameLst>
                                          <p:attrName>fillcolor</p:attrName>
                                        </p:attrNameLst>
                                      </p:cBhvr>
                                      <p:tavLst>
                                        <p:tav tm="0">
                                          <p:val>
                                            <p:clrVal>
                                              <a:schemeClr val="accent2"/>
                                            </p:clrVal>
                                          </p:val>
                                        </p:tav>
                                        <p:tav tm="50000">
                                          <p:val>
                                            <p:clrVal>
                                              <a:schemeClr val="hlink"/>
                                            </p:clrVal>
                                          </p:val>
                                        </p:tav>
                                      </p:tavLst>
                                    </p:anim>
                                    <p:set>
                                      <p:cBhvr>
                                        <p:cTn id="15" dur="1000"/>
                                        <p:tgtEl>
                                          <p:spTgt spid="11"/>
                                        </p:tgtEl>
                                        <p:attrNameLst>
                                          <p:attrName>fill.type</p:attrName>
                                        </p:attrNameLst>
                                      </p:cBhvr>
                                      <p:to>
                                        <p:strVal val="solid"/>
                                      </p:to>
                                    </p:set>
                                  </p:childTnLst>
                                </p:cTn>
                              </p:par>
                            </p:childTnLst>
                          </p:cTn>
                        </p:par>
                        <p:par>
                          <p:cTn id="16" fill="hold">
                            <p:stCondLst>
                              <p:cond delay="8500"/>
                            </p:stCondLst>
                            <p:childTnLst>
                              <p:par>
                                <p:cTn id="17" presetID="0" presetClass="path" presetSubtype="0" accel="50000" decel="50000" fill="hold" nodeType="afterEffect">
                                  <p:stCondLst>
                                    <p:cond delay="0"/>
                                  </p:stCondLst>
                                  <p:childTnLst>
                                    <p:animMotion origin="layout" path="M -0.06315 0.03796 C 0.07422 0.04398 0.21172 0.05046 0.2332 -0.03033 C 0.25456 -0.11111 0.05703 -0.33172 0.06563 -0.44653 C 0.075 -0.56135 0.17487 -0.68797 0.28724 -0.71968 C 0.4013 -0.75139 0.69622 -0.68241 0.74531 -0.63681 C 0.7944 -0.59121 0.61016 -0.47824 0.58307 -0.44653 " pathEditMode="relative" rAng="0" ptsTypes="aaaaaA">
                                      <p:cBhvr>
                                        <p:cTn id="18" dur="5000" fill="hold"/>
                                        <p:tgtEl>
                                          <p:spTgt spid="13"/>
                                        </p:tgtEl>
                                        <p:attrNameLst>
                                          <p:attrName>ppt_x</p:attrName>
                                          <p:attrName>ppt_y</p:attrName>
                                        </p:attrNameLst>
                                      </p:cBhvr>
                                      <p:rCtr x="42900" y="-38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05BDD8-EC1F-41FA-BE0F-459EF77AF477}">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EF5A07C-320F-4BA6-A3DA-1A08A453E0EF}">
  <ds:schemaRefs>
    <ds:schemaRef ds:uri="http://schemas.microsoft.com/sharepoint/v3/contenttype/forms"/>
  </ds:schemaRefs>
</ds:datastoreItem>
</file>

<file path=customXml/itemProps3.xml><?xml version="1.0" encoding="utf-8"?>
<ds:datastoreItem xmlns:ds="http://schemas.openxmlformats.org/officeDocument/2006/customXml" ds:itemID="{D593636F-D3A4-4870-8308-220EE23AB9A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TC103457452[[fn=Celestial]]</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2</cp:revision>
  <dcterms:created xsi:type="dcterms:W3CDTF">2013-10-21T17:01:43Z</dcterms:created>
  <dcterms:modified xsi:type="dcterms:W3CDTF">2024-11-17T04:11:05Z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0x0101000C30828B62F68548B536606B169F73C7</vt:lpwstr>
  </property>
</Properties>
</file>