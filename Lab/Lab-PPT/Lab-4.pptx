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3"/>
  </p:sldMasterIdLst>
  <p:sldIdLst>
    <p:sldId id="260" r:id="rId4"/>
    <p:sldId id="286" r:id="rId5"/>
    <p:sldId id="296" r:id="rId6"/>
    <p:sldId id="311" r:id="rId7"/>
    <p:sldId id="312" r:id="rId8"/>
    <p:sldId id="313" r:id="rId9"/>
    <p:sldId id="287" r:id="rId10"/>
    <p:sldId id="308" r:id="rId11"/>
    <p:sldId id="309" r:id="rId12"/>
    <p:sldId id="316" r:id="rId13"/>
    <p:sldId id="317" r:id="rId14"/>
    <p:sldId id="318" r:id="rId15"/>
    <p:sldId id="319" r:id="rId16"/>
    <p:sldId id="314" r:id="rId17"/>
    <p:sldId id="315" r:id="rId18"/>
    <p:sldId id="306" r:id="rId19"/>
    <p:sldId id="259" r:id="rId20"/>
  </p:sldIdLst>
  <p:sldSz cx="12192000" cy="6858000"/>
  <p:notesSz cx="6858000" cy="9144000"/>
  <p:custDataLst>
    <p:tags r:id="rId2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33FF"/>
    <a:srgbClr val="CC3300"/>
    <a:srgbClr val="663300"/>
    <a:srgbClr val="FF9900"/>
    <a:srgbClr val="04DA1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DCB723-4838-457E-F53D-B012BFEA06B1}" v="1" dt="2024-08-13T13:30:46.339"/>
    <p1510:client id="{A1DC2D4E-DE57-F278-F3DF-3164CEDFB59A}" v="1" dt="2024-08-14T15:29:19.923"/>
    <p1510:client id="{A4E35DD5-AC60-4767-B1EA-F28CC6E529F4}" v="2" dt="2024-08-14T17:20:17.93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microsoft.com/office/2016/11/relationships/changesInfo" Target="changesInfos/changesInfo1.xml"/><Relationship Id="rId3" Type="http://schemas.openxmlformats.org/officeDocument/2006/relationships/slideMaster" Target="slideMasters/slideMaster1.xml"/><Relationship Id="rId21" Type="http://schemas.openxmlformats.org/officeDocument/2006/relationships/tags" Target="tags/tag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3.xml"/><Relationship Id="rId20" Type="http://schemas.openxmlformats.org/officeDocument/2006/relationships/slide" Target="slides/slide17.xml"/><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wetha G" userId="S::swetha.g2021@vitstudent.ac.in::7d0e1a2e-eeff-4a72-8f10-59ffb7b68d1f" providerId="AD" clId="Web-{A1DC2D4E-DE57-F278-F3DF-3164CEDFB59A}"/>
    <pc:docChg chg="modSld">
      <pc:chgData name="Swetha G" userId="S::swetha.g2021@vitstudent.ac.in::7d0e1a2e-eeff-4a72-8f10-59ffb7b68d1f" providerId="AD" clId="Web-{A1DC2D4E-DE57-F278-F3DF-3164CEDFB59A}" dt="2024-08-14T15:29:19.923" v="0" actId="1076"/>
      <pc:docMkLst>
        <pc:docMk/>
      </pc:docMkLst>
      <pc:sldChg chg="modSp">
        <pc:chgData name="Swetha G" userId="S::swetha.g2021@vitstudent.ac.in::7d0e1a2e-eeff-4a72-8f10-59ffb7b68d1f" providerId="AD" clId="Web-{A1DC2D4E-DE57-F278-F3DF-3164CEDFB59A}" dt="2024-08-14T15:29:19.923" v="0" actId="1076"/>
        <pc:sldMkLst>
          <pc:docMk/>
          <pc:sldMk cId="877961242" sldId="315"/>
        </pc:sldMkLst>
        <pc:picChg chg="mod">
          <ac:chgData name="Swetha G" userId="S::swetha.g2021@vitstudent.ac.in::7d0e1a2e-eeff-4a72-8f10-59ffb7b68d1f" providerId="AD" clId="Web-{A1DC2D4E-DE57-F278-F3DF-3164CEDFB59A}" dt="2024-08-14T15:29:19.923" v="0" actId="1076"/>
          <ac:picMkLst>
            <pc:docMk/>
            <pc:sldMk cId="877961242" sldId="315"/>
            <ac:picMk id="2" creationId="{00000000-0000-0000-0000-000000000000}"/>
          </ac:picMkLst>
        </pc:picChg>
      </pc:sldChg>
    </pc:docChg>
  </pc:docChgLst>
  <pc:docChgLst>
    <pc:chgData name="Aravindh R" userId="S::aravindh.r2021@vitstudent.ac.in::bf8c5142-e2cf-4e52-a9e4-274a366b831a" providerId="AD" clId="Web-{00F2343C-EB0F-44D6-8B40-3F2926B557EF}"/>
    <pc:docChg chg="modSld">
      <pc:chgData name="Aravindh R" userId="S::aravindh.r2021@vitstudent.ac.in::bf8c5142-e2cf-4e52-a9e4-274a366b831a" providerId="AD" clId="Web-{00F2343C-EB0F-44D6-8B40-3F2926B557EF}" dt="2024-08-07T08:02:15.347" v="0" actId="1076"/>
      <pc:docMkLst>
        <pc:docMk/>
      </pc:docMkLst>
      <pc:sldChg chg="modSp">
        <pc:chgData name="Aravindh R" userId="S::aravindh.r2021@vitstudent.ac.in::bf8c5142-e2cf-4e52-a9e4-274a366b831a" providerId="AD" clId="Web-{00F2343C-EB0F-44D6-8B40-3F2926B557EF}" dt="2024-08-07T08:02:15.347" v="0" actId="1076"/>
        <pc:sldMkLst>
          <pc:docMk/>
          <pc:sldMk cId="696622711" sldId="296"/>
        </pc:sldMkLst>
        <pc:spChg chg="mod">
          <ac:chgData name="Aravindh R" userId="S::aravindh.r2021@vitstudent.ac.in::bf8c5142-e2cf-4e52-a9e4-274a366b831a" providerId="AD" clId="Web-{00F2343C-EB0F-44D6-8B40-3F2926B557EF}" dt="2024-08-07T08:02:15.347" v="0" actId="1076"/>
          <ac:spMkLst>
            <pc:docMk/>
            <pc:sldMk cId="696622711" sldId="296"/>
            <ac:spMk id="8" creationId="{00000000-0000-0000-0000-000000000000}"/>
          </ac:spMkLst>
        </pc:spChg>
      </pc:sldChg>
    </pc:docChg>
  </pc:docChgLst>
  <pc:docChgLst>
    <pc:chgData name="Kole Manas" userId="S::kole.manas2021@vitstudent.ac.in::da367d7f-be49-40c4-8884-61015b4cac44" providerId="AD" clId="Web-{C7DB3F86-1322-1500-9B49-0DFE13032826}"/>
    <pc:docChg chg="modSld">
      <pc:chgData name="Kole Manas" userId="S::kole.manas2021@vitstudent.ac.in::da367d7f-be49-40c4-8884-61015b4cac44" providerId="AD" clId="Web-{C7DB3F86-1322-1500-9B49-0DFE13032826}" dt="2024-08-07T05:38:35.690" v="2" actId="1076"/>
      <pc:docMkLst>
        <pc:docMk/>
      </pc:docMkLst>
      <pc:sldChg chg="modSp">
        <pc:chgData name="Kole Manas" userId="S::kole.manas2021@vitstudent.ac.in::da367d7f-be49-40c4-8884-61015b4cac44" providerId="AD" clId="Web-{C7DB3F86-1322-1500-9B49-0DFE13032826}" dt="2024-08-07T05:38:35.690" v="2" actId="1076"/>
        <pc:sldMkLst>
          <pc:docMk/>
          <pc:sldMk cId="1315452350" sldId="287"/>
        </pc:sldMkLst>
        <pc:picChg chg="mod">
          <ac:chgData name="Kole Manas" userId="S::kole.manas2021@vitstudent.ac.in::da367d7f-be49-40c4-8884-61015b4cac44" providerId="AD" clId="Web-{C7DB3F86-1322-1500-9B49-0DFE13032826}" dt="2024-08-07T05:38:35.690" v="2" actId="1076"/>
          <ac:picMkLst>
            <pc:docMk/>
            <pc:sldMk cId="1315452350" sldId="287"/>
            <ac:picMk id="2" creationId="{00000000-0000-0000-0000-000000000000}"/>
          </ac:picMkLst>
        </pc:picChg>
      </pc:sldChg>
    </pc:docChg>
  </pc:docChgLst>
  <pc:docChgLst>
    <pc:chgData name="Kirthick" userId="S::kirthick.2021@vitstudent.ac.in::184f7ff0-8978-470f-9087-8e6d7a591f8e" providerId="AD" clId="Web-{06DCB723-4838-457E-F53D-B012BFEA06B1}"/>
    <pc:docChg chg="modSld">
      <pc:chgData name="Kirthick" userId="S::kirthick.2021@vitstudent.ac.in::184f7ff0-8978-470f-9087-8e6d7a591f8e" providerId="AD" clId="Web-{06DCB723-4838-457E-F53D-B012BFEA06B1}" dt="2024-08-13T13:30:46.339" v="0" actId="1076"/>
      <pc:docMkLst>
        <pc:docMk/>
      </pc:docMkLst>
      <pc:sldChg chg="modSp">
        <pc:chgData name="Kirthick" userId="S::kirthick.2021@vitstudent.ac.in::184f7ff0-8978-470f-9087-8e6d7a591f8e" providerId="AD" clId="Web-{06DCB723-4838-457E-F53D-B012BFEA06B1}" dt="2024-08-13T13:30:46.339" v="0" actId="1076"/>
        <pc:sldMkLst>
          <pc:docMk/>
          <pc:sldMk cId="1315452350" sldId="287"/>
        </pc:sldMkLst>
        <pc:picChg chg="mod">
          <ac:chgData name="Kirthick" userId="S::kirthick.2021@vitstudent.ac.in::184f7ff0-8978-470f-9087-8e6d7a591f8e" providerId="AD" clId="Web-{06DCB723-4838-457E-F53D-B012BFEA06B1}" dt="2024-08-13T13:30:46.339" v="0" actId="1076"/>
          <ac:picMkLst>
            <pc:docMk/>
            <pc:sldMk cId="1315452350" sldId="287"/>
            <ac:picMk id="2" creationId="{00000000-0000-0000-0000-000000000000}"/>
          </ac:picMkLst>
        </pc:picChg>
      </pc:sldChg>
    </pc:docChg>
  </pc:docChgLst>
  <pc:docChgLst>
    <pc:chgData name="Priyankka N R" userId="S::priyankka.nr2021@vitstudent.ac.in::9cb94087-3dd7-4c61-b534-55a4f8dfd5fc" providerId="AD" clId="Web-{7CB60FC2-6A1F-A439-4F73-C88D93ECD78B}"/>
    <pc:docChg chg="addSld delSld">
      <pc:chgData name="Priyankka N R" userId="S::priyankka.nr2021@vitstudent.ac.in::9cb94087-3dd7-4c61-b534-55a4f8dfd5fc" providerId="AD" clId="Web-{7CB60FC2-6A1F-A439-4F73-C88D93ECD78B}" dt="2024-08-06T16:54:20.420" v="5"/>
      <pc:docMkLst>
        <pc:docMk/>
      </pc:docMkLst>
      <pc:sldChg chg="new del">
        <pc:chgData name="Priyankka N R" userId="S::priyankka.nr2021@vitstudent.ac.in::9cb94087-3dd7-4c61-b534-55a4f8dfd5fc" providerId="AD" clId="Web-{7CB60FC2-6A1F-A439-4F73-C88D93ECD78B}" dt="2024-08-06T16:54:20.420" v="5"/>
        <pc:sldMkLst>
          <pc:docMk/>
          <pc:sldMk cId="1135200364" sldId="320"/>
        </pc:sldMkLst>
      </pc:sldChg>
      <pc:sldChg chg="new del">
        <pc:chgData name="Priyankka N R" userId="S::priyankka.nr2021@vitstudent.ac.in::9cb94087-3dd7-4c61-b534-55a4f8dfd5fc" providerId="AD" clId="Web-{7CB60FC2-6A1F-A439-4F73-C88D93ECD78B}" dt="2024-08-06T16:54:19.279" v="4"/>
        <pc:sldMkLst>
          <pc:docMk/>
          <pc:sldMk cId="3973899296" sldId="321"/>
        </pc:sldMkLst>
      </pc:sldChg>
      <pc:sldChg chg="new del">
        <pc:chgData name="Priyankka N R" userId="S::priyankka.nr2021@vitstudent.ac.in::9cb94087-3dd7-4c61-b534-55a4f8dfd5fc" providerId="AD" clId="Web-{7CB60FC2-6A1F-A439-4F73-C88D93ECD78B}" dt="2024-08-06T16:54:18.670" v="3"/>
        <pc:sldMkLst>
          <pc:docMk/>
          <pc:sldMk cId="2821526557" sldId="322"/>
        </pc:sldMkLst>
      </pc:sldChg>
    </pc:docChg>
  </pc:docChgLst>
  <pc:docChgLst>
    <pc:chgData name="Pranesh J R" userId="S::pranesh.jr2021@vitstudent.ac.in::6725c253-3139-451d-acab-7315a6bb5eac" providerId="AD" clId="Web-{7085A42C-0828-46B4-9FCE-37649953D059}"/>
    <pc:docChg chg="modSld">
      <pc:chgData name="Pranesh J R" userId="S::pranesh.jr2021@vitstudent.ac.in::6725c253-3139-451d-acab-7315a6bb5eac" providerId="AD" clId="Web-{7085A42C-0828-46B4-9FCE-37649953D059}" dt="2024-08-07T08:30:36.126" v="0" actId="14100"/>
      <pc:docMkLst>
        <pc:docMk/>
      </pc:docMkLst>
      <pc:sldChg chg="modSp">
        <pc:chgData name="Pranesh J R" userId="S::pranesh.jr2021@vitstudent.ac.in::6725c253-3139-451d-acab-7315a6bb5eac" providerId="AD" clId="Web-{7085A42C-0828-46B4-9FCE-37649953D059}" dt="2024-08-07T08:30:36.126" v="0" actId="14100"/>
        <pc:sldMkLst>
          <pc:docMk/>
          <pc:sldMk cId="696622711" sldId="296"/>
        </pc:sldMkLst>
        <pc:picChg chg="mod">
          <ac:chgData name="Pranesh J R" userId="S::pranesh.jr2021@vitstudent.ac.in::6725c253-3139-451d-acab-7315a6bb5eac" providerId="AD" clId="Web-{7085A42C-0828-46B4-9FCE-37649953D059}" dt="2024-08-07T08:30:36.126" v="0" actId="14100"/>
          <ac:picMkLst>
            <pc:docMk/>
            <pc:sldMk cId="696622711" sldId="296"/>
            <ac:picMk id="3" creationId="{00000000-0000-0000-0000-000000000000}"/>
          </ac:picMkLst>
        </pc:picChg>
      </pc:sldChg>
    </pc:docChg>
  </pc:docChgLst>
  <pc:docChgLst>
    <pc:chgData name="Akhil Hemanth" userId="S::akhil.hemanth2021@vitstudent.ac.in::d09ebd38-ef1c-48f6-8d53-7e25e3d64f3b" providerId="AD" clId="Web-{D9C0CB10-E377-44ED-99FC-F843F4E54392}"/>
    <pc:docChg chg="modSld">
      <pc:chgData name="Akhil Hemanth" userId="S::akhil.hemanth2021@vitstudent.ac.in::d09ebd38-ef1c-48f6-8d53-7e25e3d64f3b" providerId="AD" clId="Web-{D9C0CB10-E377-44ED-99FC-F843F4E54392}" dt="2024-08-07T09:14:04.610" v="12" actId="1076"/>
      <pc:docMkLst>
        <pc:docMk/>
      </pc:docMkLst>
      <pc:sldChg chg="modSp">
        <pc:chgData name="Akhil Hemanth" userId="S::akhil.hemanth2021@vitstudent.ac.in::d09ebd38-ef1c-48f6-8d53-7e25e3d64f3b" providerId="AD" clId="Web-{D9C0CB10-E377-44ED-99FC-F843F4E54392}" dt="2024-08-07T09:14:04.610" v="12" actId="1076"/>
        <pc:sldMkLst>
          <pc:docMk/>
          <pc:sldMk cId="1315452350" sldId="287"/>
        </pc:sldMkLst>
        <pc:picChg chg="mod">
          <ac:chgData name="Akhil Hemanth" userId="S::akhil.hemanth2021@vitstudent.ac.in::d09ebd38-ef1c-48f6-8d53-7e25e3d64f3b" providerId="AD" clId="Web-{D9C0CB10-E377-44ED-99FC-F843F4E54392}" dt="2024-08-07T09:14:04.610" v="12" actId="1076"/>
          <ac:picMkLst>
            <pc:docMk/>
            <pc:sldMk cId="1315452350" sldId="287"/>
            <ac:picMk id="2" creationId="{00000000-0000-0000-0000-000000000000}"/>
          </ac:picMkLst>
        </pc:picChg>
      </pc:sldChg>
    </pc:docChg>
  </pc:docChgLst>
  <pc:docChgLst>
    <pc:chgData name="Dev Ravindra Munvar" userId="S::devravindra.munvar2021@vitstudent.ac.in::6826a94c-98c1-4146-b06e-5b35816dee4d" providerId="AD" clId="Web-{0A839DDC-42D3-9C3A-7DBC-3B450E6BEDE1}"/>
    <pc:docChg chg="modSld">
      <pc:chgData name="Dev Ravindra Munvar" userId="S::devravindra.munvar2021@vitstudent.ac.in::6826a94c-98c1-4146-b06e-5b35816dee4d" providerId="AD" clId="Web-{0A839DDC-42D3-9C3A-7DBC-3B450E6BEDE1}" dt="2024-08-07T06:30:08.137" v="0" actId="1076"/>
      <pc:docMkLst>
        <pc:docMk/>
      </pc:docMkLst>
      <pc:sldChg chg="modSp">
        <pc:chgData name="Dev Ravindra Munvar" userId="S::devravindra.munvar2021@vitstudent.ac.in::6826a94c-98c1-4146-b06e-5b35816dee4d" providerId="AD" clId="Web-{0A839DDC-42D3-9C3A-7DBC-3B450E6BEDE1}" dt="2024-08-07T06:30:08.137" v="0" actId="1076"/>
        <pc:sldMkLst>
          <pc:docMk/>
          <pc:sldMk cId="2338714057" sldId="260"/>
        </pc:sldMkLst>
        <pc:spChg chg="mod">
          <ac:chgData name="Dev Ravindra Munvar" userId="S::devravindra.munvar2021@vitstudent.ac.in::6826a94c-98c1-4146-b06e-5b35816dee4d" providerId="AD" clId="Web-{0A839DDC-42D3-9C3A-7DBC-3B450E6BEDE1}" dt="2024-08-07T06:30:08.137" v="0" actId="1076"/>
          <ac:spMkLst>
            <pc:docMk/>
            <pc:sldMk cId="2338714057" sldId="260"/>
            <ac:spMk id="13" creationId="{00000000-0000-0000-0000-000000000000}"/>
          </ac:spMkLst>
        </pc:spChg>
      </pc:sldChg>
    </pc:docChg>
  </pc:docChgLst>
  <pc:docChgLst>
    <pc:chgData name="Sai Krishna Srikanth" userId="S::saikrishna.srikanth2021@vitstudent.ac.in::f3a2489a-58fb-4c44-813a-0fc20d931c54" providerId="AD" clId="Web-{ED5B2F60-15F7-A93B-42FC-9C448092C753}"/>
    <pc:docChg chg="modSld">
      <pc:chgData name="Sai Krishna Srikanth" userId="S::saikrishna.srikanth2021@vitstudent.ac.in::f3a2489a-58fb-4c44-813a-0fc20d931c54" providerId="AD" clId="Web-{ED5B2F60-15F7-A93B-42FC-9C448092C753}" dt="2024-08-07T08:50:21.901" v="1" actId="1076"/>
      <pc:docMkLst>
        <pc:docMk/>
      </pc:docMkLst>
      <pc:sldChg chg="modSp">
        <pc:chgData name="Sai Krishna Srikanth" userId="S::saikrishna.srikanth2021@vitstudent.ac.in::f3a2489a-58fb-4c44-813a-0fc20d931c54" providerId="AD" clId="Web-{ED5B2F60-15F7-A93B-42FC-9C448092C753}" dt="2024-08-07T08:50:21.901" v="1" actId="1076"/>
        <pc:sldMkLst>
          <pc:docMk/>
          <pc:sldMk cId="1315452350" sldId="287"/>
        </pc:sldMkLst>
        <pc:picChg chg="mod">
          <ac:chgData name="Sai Krishna Srikanth" userId="S::saikrishna.srikanth2021@vitstudent.ac.in::f3a2489a-58fb-4c44-813a-0fc20d931c54" providerId="AD" clId="Web-{ED5B2F60-15F7-A93B-42FC-9C448092C753}" dt="2024-08-07T08:50:21.901" v="1" actId="1076"/>
          <ac:picMkLst>
            <pc:docMk/>
            <pc:sldMk cId="1315452350" sldId="287"/>
            <ac:picMk id="2" creationId="{00000000-0000-0000-0000-000000000000}"/>
          </ac:picMkLst>
        </pc:picChg>
      </pc:sldChg>
    </pc:docChg>
  </pc:docChgLst>
  <pc:docChgLst>
    <pc:chgData name="Dharshini" userId="S::dharshini.2021@vitstudent.ac.in::a9f68a23-63cc-4240-8bfe-d3510ff69fe4" providerId="AD" clId="Web-{A4E35DD5-AC60-4767-B1EA-F28CC6E529F4}"/>
    <pc:docChg chg="modSld">
      <pc:chgData name="Dharshini" userId="S::dharshini.2021@vitstudent.ac.in::a9f68a23-63cc-4240-8bfe-d3510ff69fe4" providerId="AD" clId="Web-{A4E35DD5-AC60-4767-B1EA-F28CC6E529F4}" dt="2024-08-14T17:20:17.937" v="1" actId="1076"/>
      <pc:docMkLst>
        <pc:docMk/>
      </pc:docMkLst>
      <pc:sldChg chg="modSp">
        <pc:chgData name="Dharshini" userId="S::dharshini.2021@vitstudent.ac.in::a9f68a23-63cc-4240-8bfe-d3510ff69fe4" providerId="AD" clId="Web-{A4E35DD5-AC60-4767-B1EA-F28CC6E529F4}" dt="2024-08-14T17:20:17.937" v="1" actId="1076"/>
        <pc:sldMkLst>
          <pc:docMk/>
          <pc:sldMk cId="1315452350" sldId="287"/>
        </pc:sldMkLst>
        <pc:spChg chg="mod">
          <ac:chgData name="Dharshini" userId="S::dharshini.2021@vitstudent.ac.in::a9f68a23-63cc-4240-8bfe-d3510ff69fe4" providerId="AD" clId="Web-{A4E35DD5-AC60-4767-B1EA-F28CC6E529F4}" dt="2024-08-14T17:20:17.937" v="1" actId="1076"/>
          <ac:spMkLst>
            <pc:docMk/>
            <pc:sldMk cId="1315452350" sldId="287"/>
            <ac:spMk id="7"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8932558" y="5870575"/>
            <a:ext cx="1600200" cy="377825"/>
          </a:xfrm>
        </p:spPr>
        <p:txBody>
          <a:bodyPr/>
          <a:lstStyle/>
          <a:p>
            <a:fld id="{0276DE7D-5BF9-462A-88A8-AF83DF48CD51}" type="datetimeFigureOut">
              <a:rPr lang="en-US" smtClean="0"/>
              <a:pPr/>
              <a:t>8/14/2024</a:t>
            </a:fld>
            <a:endParaRPr lang="en-US"/>
          </a:p>
        </p:txBody>
      </p:sp>
      <p:sp>
        <p:nvSpPr>
          <p:cNvPr id="5" name="Footer Placeholder 4"/>
          <p:cNvSpPr>
            <a:spLocks noGrp="1"/>
          </p:cNvSpPr>
          <p:nvPr>
            <p:ph type="ftr" sz="quarter" idx="11"/>
          </p:nvPr>
        </p:nvSpPr>
        <p:spPr>
          <a:xfrm>
            <a:off x="3962399" y="5870575"/>
            <a:ext cx="4893958" cy="377825"/>
          </a:xfrm>
        </p:spPr>
        <p:txBody>
          <a:bodyPr/>
          <a:lstStyle/>
          <a:p>
            <a:endParaRPr lang="en-US"/>
          </a:p>
        </p:txBody>
      </p:sp>
      <p:sp>
        <p:nvSpPr>
          <p:cNvPr id="6" name="Slide Number Placeholder 5"/>
          <p:cNvSpPr>
            <a:spLocks noGrp="1"/>
          </p:cNvSpPr>
          <p:nvPr>
            <p:ph type="sldNum" sz="quarter" idx="12"/>
          </p:nvPr>
        </p:nvSpPr>
        <p:spPr>
          <a:xfrm>
            <a:off x="10608958" y="5870575"/>
            <a:ext cx="551167" cy="377825"/>
          </a:xfrm>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2474097540"/>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276DE7D-5BF9-462A-88A8-AF83DF48CD51}" type="datetimeFigureOut">
              <a:rPr lang="en-US" smtClean="0"/>
              <a:pPr/>
              <a:t>8/14/2024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33724699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76DE7D-5BF9-462A-88A8-AF83DF48CD51}" type="datetimeFigureOut">
              <a:rPr lang="en-US" smtClean="0"/>
              <a:pPr/>
              <a:t>8/14/2024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4248068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276DE7D-5BF9-462A-88A8-AF83DF48CD51}" type="datetimeFigureOut">
              <a:rPr lang="en-US" smtClean="0"/>
              <a:pPr/>
              <a:t>8/14/2024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1585989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hasCustomPrompt="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hasCustomPrompt="1"/>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276DE7D-5BF9-462A-88A8-AF83DF48CD51}" type="datetimeFigureOut">
              <a:rPr lang="en-US" smtClean="0"/>
              <a:pPr/>
              <a:t>8/14/2024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28689025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276DE7D-5BF9-462A-88A8-AF83DF48CD51}" type="datetimeFigureOut">
              <a:rPr lang="en-US" smtClean="0"/>
              <a:pPr/>
              <a:t>8/14/2024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34462934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0276DE7D-5BF9-462A-88A8-AF83DF48CD51}" type="datetimeFigureOut">
              <a:rPr lang="en-US" smtClean="0"/>
              <a:pPr/>
              <a:t>8/14/2024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28398611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276DE7D-5BF9-462A-88A8-AF83DF48CD51}" type="datetimeFigureOut">
              <a:rPr lang="en-US" smtClean="0"/>
              <a:pPr/>
              <a:t>8/14/2024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32563411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276DE7D-5BF9-462A-88A8-AF83DF48CD51}" type="datetimeFigureOut">
              <a:rPr lang="en-US" smtClean="0"/>
              <a:pPr/>
              <a:t>8/14/2024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41084588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276DE7D-5BF9-462A-88A8-AF83DF48CD51}" type="datetimeFigureOut">
              <a:rPr lang="en-US" smtClean="0"/>
              <a:pPr/>
              <a:t>8/14/2024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29349452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76DE7D-5BF9-462A-88A8-AF83DF48CD51}" type="datetimeFigureOut">
              <a:rPr lang="en-US" smtClean="0"/>
              <a:pPr/>
              <a:t>8/14/2024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42704512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76DE7D-5BF9-462A-88A8-AF83DF48CD51}" type="datetimeFigureOut">
              <a:rPr lang="en-US" smtClean="0"/>
              <a:pPr/>
              <a:t>8/14/2024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7708311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76DE7D-5BF9-462A-88A8-AF83DF48CD51}" type="datetimeFigureOut">
              <a:rPr lang="en-US" smtClean="0"/>
              <a:pPr/>
              <a:t>8/14/2024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8251455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76DE7D-5BF9-462A-88A8-AF83DF48CD51}" type="datetimeFigureOut">
              <a:rPr lang="en-US" smtClean="0"/>
              <a:pPr/>
              <a:t>8/14/2024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38042400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76DE7D-5BF9-462A-88A8-AF83DF48CD51}" type="datetimeFigureOut">
              <a:rPr lang="en-US" smtClean="0"/>
              <a:pPr/>
              <a:t>8/14/2024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3390905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276DE7D-5BF9-462A-88A8-AF83DF48CD51}" type="datetimeFigureOut">
              <a:rPr lang="en-US" smtClean="0"/>
              <a:pPr/>
              <a:t>8/14/2024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FFEA6D-D485-41AB-8459-9215472A1970}" type="slidenum">
              <a:rPr lang="en-US" smtClean="0"/>
              <a:pPr/>
              <a:t>‹#›</a:t>
            </a:fld>
            <a:endParaRPr lang="en-US"/>
          </a:p>
        </p:txBody>
      </p:sp>
      <p:sp>
        <p:nvSpPr>
          <p:cNvPr id="8" name="Title 1"/>
          <p:cNvSpPr>
            <a:spLocks noGrp="1"/>
          </p:cNvSpPr>
          <p:nvPr>
            <p:ph type="title"/>
          </p:nvPr>
        </p:nvSpPr>
        <p:spPr>
          <a:xfrm>
            <a:off x="685801" y="609600"/>
            <a:ext cx="10131425" cy="1456267"/>
          </a:xfrm>
        </p:spPr>
        <p:txBody>
          <a:bodyPr/>
          <a:lstStyle/>
          <a:p>
            <a:r>
              <a:rPr lang="en-US"/>
              <a:t>Click to edit Master title style</a:t>
            </a:r>
          </a:p>
        </p:txBody>
      </p:sp>
    </p:spTree>
    <p:extLst>
      <p:ext uri="{BB962C8B-B14F-4D97-AF65-F5344CB8AC3E}">
        <p14:creationId xmlns:p14="http://schemas.microsoft.com/office/powerpoint/2010/main" val="38402087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276DE7D-5BF9-462A-88A8-AF83DF48CD51}" type="datetimeFigureOut">
              <a:rPr lang="en-US" smtClean="0"/>
              <a:pPr/>
              <a:t>8/14/2024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2264183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276DE7D-5BF9-462A-88A8-AF83DF48CD51}" type="datetimeFigureOut">
              <a:rPr lang="en-US" smtClean="0"/>
              <a:pPr/>
              <a:t>8/14/2024</a:t>
            </a:fld>
            <a:endParaRPr lang="en-US"/>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0FFEA6D-D485-41AB-8459-9215472A1970}" type="slidenum">
              <a:rPr lang="en-US" smtClean="0"/>
              <a:pPr/>
              <a:t>‹#›</a:t>
            </a:fld>
            <a:endParaRPr lang="en-US"/>
          </a:p>
        </p:txBody>
      </p:sp>
    </p:spTree>
    <p:extLst>
      <p:ext uri="{BB962C8B-B14F-4D97-AF65-F5344CB8AC3E}">
        <p14:creationId xmlns:p14="http://schemas.microsoft.com/office/powerpoint/2010/main" val="3478499516"/>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gif"/><Relationship Id="rId2" Type="http://schemas.openxmlformats.org/officeDocument/2006/relationships/image" Target="../media/image1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7" name="Rectangle 6"/>
          <p:cNvSpPr/>
          <p:nvPr/>
        </p:nvSpPr>
        <p:spPr>
          <a:xfrm>
            <a:off x="166253" y="1717952"/>
            <a:ext cx="11859493" cy="3435936"/>
          </a:xfrm>
          <a:prstGeom prst="rect">
            <a:avLst/>
          </a:prstGeom>
        </p:spPr>
        <p:style>
          <a:lnRef idx="3">
            <a:schemeClr val="lt1"/>
          </a:lnRef>
          <a:fillRef idx="1">
            <a:schemeClr val="dk1"/>
          </a:fillRef>
          <a:effectRef idx="1">
            <a:schemeClr val="dk1"/>
          </a:effectRef>
          <a:fontRef idx="minor">
            <a:schemeClr val="lt1"/>
          </a:fontRef>
        </p:style>
        <p:txBody>
          <a:bodyPr rtlCol="0" anchor="ctr"/>
          <a:lstStyle/>
          <a:p>
            <a:pPr algn="ctr"/>
            <a:endParaRPr lang="en-US"/>
          </a:p>
        </p:txBody>
      </p:sp>
      <p:sp>
        <p:nvSpPr>
          <p:cNvPr id="6" name="Rounded Rectangle 5"/>
          <p:cNvSpPr/>
          <p:nvPr/>
        </p:nvSpPr>
        <p:spPr>
          <a:xfrm>
            <a:off x="166260" y="228598"/>
            <a:ext cx="11873345" cy="6400800"/>
          </a:xfrm>
          <a:prstGeom prst="round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endParaRPr lang="en-US">
              <a:effectLst>
                <a:glow rad="101600">
                  <a:schemeClr val="bg1">
                    <a:lumMod val="95000"/>
                    <a:lumOff val="5000"/>
                    <a:alpha val="60000"/>
                  </a:schemeClr>
                </a:glow>
              </a:effectLst>
            </a:endParaRPr>
          </a:p>
        </p:txBody>
      </p:sp>
      <p:sp>
        <p:nvSpPr>
          <p:cNvPr id="13" name="Flowchart: Alternate Process 12"/>
          <p:cNvSpPr/>
          <p:nvPr/>
        </p:nvSpPr>
        <p:spPr>
          <a:xfrm>
            <a:off x="692731" y="2451580"/>
            <a:ext cx="10820400" cy="2719241"/>
          </a:xfrm>
          <a:prstGeom prst="flowChartAlternateProcess">
            <a:avLst/>
          </a:prstGeom>
          <a:solidFill>
            <a:schemeClr val="bg1"/>
          </a:solidFill>
          <a:ln w="28575">
            <a:solidFill>
              <a:schemeClr val="accent5"/>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IN" sz="6000" b="1">
                <a:ln w="12700">
                  <a:solidFill>
                    <a:schemeClr val="accent5"/>
                  </a:solidFill>
                  <a:prstDash val="solid"/>
                </a:ln>
                <a:pattFill prst="ltDnDiag">
                  <a:fgClr>
                    <a:schemeClr val="accent5">
                      <a:lumMod val="60000"/>
                      <a:lumOff val="40000"/>
                    </a:schemeClr>
                  </a:fgClr>
                  <a:bgClr>
                    <a:schemeClr val="bg1"/>
                  </a:bgClr>
                </a:pattFill>
                <a:latin typeface="Century Gothic" panose="020B0502020202020204" pitchFamily="34" charset="0"/>
              </a:rPr>
              <a:t>LAB-4</a:t>
            </a:r>
          </a:p>
          <a:p>
            <a:pPr algn="ctr"/>
            <a:r>
              <a:rPr lang="en-US" sz="4800" b="1">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Century Gothic" panose="020B0502020202020204" pitchFamily="34" charset="0"/>
                <a:cs typeface="Narkisim" pitchFamily="34" charset="-79"/>
              </a:rPr>
              <a:t>WORKING WITH SERIAL PORT &amp; ADC</a:t>
            </a:r>
          </a:p>
        </p:txBody>
      </p:sp>
      <p:sp>
        <p:nvSpPr>
          <p:cNvPr id="8" name="TextBox 7"/>
          <p:cNvSpPr txBox="1"/>
          <p:nvPr/>
        </p:nvSpPr>
        <p:spPr>
          <a:xfrm>
            <a:off x="692731" y="1525720"/>
            <a:ext cx="11009118" cy="707886"/>
          </a:xfrm>
          <a:prstGeom prst="rect">
            <a:avLst/>
          </a:prstGeom>
          <a:noFill/>
        </p:spPr>
        <p:txBody>
          <a:bodyPr wrap="square" rtlCol="0">
            <a:spAutoFit/>
          </a:bodyPr>
          <a:lstStyle/>
          <a:p>
            <a:pPr algn="ctr"/>
            <a:r>
              <a:rPr lang="en-US" sz="4000" b="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Century Gothic" panose="020B0502020202020204" pitchFamily="34" charset="0"/>
              </a:rPr>
              <a:t>BECE403E-Embedded System Design Lab</a:t>
            </a:r>
          </a:p>
        </p:txBody>
      </p:sp>
    </p:spTree>
    <p:extLst>
      <p:ext uri="{BB962C8B-B14F-4D97-AF65-F5344CB8AC3E}">
        <p14:creationId xmlns:p14="http://schemas.microsoft.com/office/powerpoint/2010/main" val="23387140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ounded Rectangle 4"/>
          <p:cNvSpPr/>
          <p:nvPr/>
        </p:nvSpPr>
        <p:spPr>
          <a:xfrm>
            <a:off x="1199161" y="318649"/>
            <a:ext cx="9781309" cy="678872"/>
          </a:xfrm>
          <a:prstGeom prst="roundRect">
            <a:avLst/>
          </a:prstGeom>
          <a:solidFill>
            <a:schemeClr val="bg1"/>
          </a:solidFill>
          <a:ln w="28575">
            <a:solidFill>
              <a:schemeClr val="accent5"/>
            </a:solidFill>
          </a:ln>
          <a:effectLst/>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3600" b="1">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Century Gothic" pitchFamily="34" charset="0"/>
                <a:cs typeface="Aharoni" pitchFamily="2" charset="-79"/>
              </a:rPr>
              <a:t>INTRODUCTION TO SERIAL PORT</a:t>
            </a:r>
          </a:p>
        </p:txBody>
      </p:sp>
      <p:sp>
        <p:nvSpPr>
          <p:cNvPr id="8" name="TextBox 7"/>
          <p:cNvSpPr txBox="1"/>
          <p:nvPr/>
        </p:nvSpPr>
        <p:spPr>
          <a:xfrm>
            <a:off x="293687" y="994542"/>
            <a:ext cx="11592251" cy="5293757"/>
          </a:xfrm>
          <a:prstGeom prst="rect">
            <a:avLst/>
          </a:prstGeom>
          <a:noFill/>
        </p:spPr>
        <p:txBody>
          <a:bodyPr wrap="square" rtlCol="0">
            <a:spAutoFit/>
          </a:bodyPr>
          <a:lstStyle/>
          <a:p>
            <a:pPr marL="457200" indent="-457200" algn="just">
              <a:buClr>
                <a:schemeClr val="accent5">
                  <a:lumMod val="75000"/>
                </a:schemeClr>
              </a:buClr>
              <a:buFont typeface="Wingdings" panose="05000000000000000000" pitchFamily="2" charset="2"/>
              <a:buChar char="q"/>
            </a:pPr>
            <a:r>
              <a:rPr lang="en-IN" sz="2600">
                <a:solidFill>
                  <a:schemeClr val="bg1"/>
                </a:solidFill>
                <a:latin typeface="Tw Cen MT" panose="020B0602020104020603" pitchFamily="34" charset="0"/>
                <a:cs typeface="Segoe UI" panose="020B0502040204020203" pitchFamily="34" charset="0"/>
              </a:rPr>
              <a:t>Serial is a generic protocol used by computers and electronic modules to </a:t>
            </a:r>
            <a:r>
              <a:rPr lang="en-IN" sz="2600">
                <a:solidFill>
                  <a:srgbClr val="C00000"/>
                </a:solidFill>
                <a:latin typeface="Tw Cen MT" panose="020B0602020104020603" pitchFamily="34" charset="0"/>
                <a:cs typeface="Segoe UI" panose="020B0502040204020203" pitchFamily="34" charset="0"/>
              </a:rPr>
              <a:t>Transmit  (</a:t>
            </a:r>
            <a:r>
              <a:rPr lang="en-IN" sz="2600" err="1">
                <a:solidFill>
                  <a:srgbClr val="C00000"/>
                </a:solidFill>
                <a:latin typeface="Tw Cen MT" panose="020B0602020104020603" pitchFamily="34" charset="0"/>
                <a:cs typeface="Segoe UI" panose="020B0502040204020203" pitchFamily="34" charset="0"/>
              </a:rPr>
              <a:t>Tx</a:t>
            </a:r>
            <a:r>
              <a:rPr lang="en-IN" sz="2600">
                <a:solidFill>
                  <a:srgbClr val="C00000"/>
                </a:solidFill>
                <a:latin typeface="Tw Cen MT" panose="020B0602020104020603" pitchFamily="34" charset="0"/>
                <a:cs typeface="Segoe UI" panose="020B0502040204020203" pitchFamily="34" charset="0"/>
              </a:rPr>
              <a:t>) and receive (Rx) </a:t>
            </a:r>
            <a:r>
              <a:rPr lang="en-IN" sz="2600">
                <a:solidFill>
                  <a:schemeClr val="bg1"/>
                </a:solidFill>
                <a:latin typeface="Tw Cen MT" panose="020B0602020104020603" pitchFamily="34" charset="0"/>
                <a:cs typeface="Segoe UI" panose="020B0502040204020203" pitchFamily="34" charset="0"/>
              </a:rPr>
              <a:t>control information and data. </a:t>
            </a:r>
          </a:p>
          <a:p>
            <a:pPr marL="457200" indent="-457200" algn="just">
              <a:buClr>
                <a:schemeClr val="accent5">
                  <a:lumMod val="75000"/>
                </a:schemeClr>
              </a:buClr>
              <a:buFont typeface="Wingdings" panose="05000000000000000000" pitchFamily="2" charset="2"/>
              <a:buChar char="q"/>
            </a:pPr>
            <a:endParaRPr lang="en-IN" sz="2600">
              <a:solidFill>
                <a:schemeClr val="bg1"/>
              </a:solidFill>
              <a:latin typeface="Tw Cen MT" panose="020B0602020104020603" pitchFamily="34" charset="0"/>
              <a:cs typeface="Segoe UI" panose="020B0502040204020203" pitchFamily="34" charset="0"/>
            </a:endParaRPr>
          </a:p>
          <a:p>
            <a:pPr marL="457200" indent="-457200" algn="just">
              <a:buClr>
                <a:schemeClr val="accent5">
                  <a:lumMod val="75000"/>
                </a:schemeClr>
              </a:buClr>
              <a:buFont typeface="Wingdings" panose="05000000000000000000" pitchFamily="2" charset="2"/>
              <a:buChar char="q"/>
            </a:pPr>
            <a:r>
              <a:rPr lang="en-IN" sz="2600">
                <a:solidFill>
                  <a:schemeClr val="bg1"/>
                </a:solidFill>
                <a:latin typeface="Tw Cen MT" panose="020B0602020104020603" pitchFamily="34" charset="0"/>
                <a:cs typeface="Segoe UI" panose="020B0502040204020203" pitchFamily="34" charset="0"/>
              </a:rPr>
              <a:t>The Serial link has two </a:t>
            </a:r>
            <a:r>
              <a:rPr lang="en-IN" sz="2600">
                <a:solidFill>
                  <a:srgbClr val="C00000"/>
                </a:solidFill>
                <a:latin typeface="Tw Cen MT" panose="020B0602020104020603" pitchFamily="34" charset="0"/>
                <a:cs typeface="Segoe UI" panose="020B0502040204020203" pitchFamily="34" charset="0"/>
              </a:rPr>
              <a:t>unidirection channels</a:t>
            </a:r>
            <a:r>
              <a:rPr lang="en-IN" sz="2600">
                <a:solidFill>
                  <a:schemeClr val="bg1"/>
                </a:solidFill>
                <a:latin typeface="Tw Cen MT" panose="020B0602020104020603" pitchFamily="34" charset="0"/>
                <a:cs typeface="Segoe UI" panose="020B0502040204020203" pitchFamily="34" charset="0"/>
              </a:rPr>
              <a:t>, one for sending and one for receiving. </a:t>
            </a:r>
          </a:p>
          <a:p>
            <a:pPr marL="457200" indent="-457200" algn="just">
              <a:buClr>
                <a:schemeClr val="accent5">
                  <a:lumMod val="75000"/>
                </a:schemeClr>
              </a:buClr>
              <a:buFont typeface="Wingdings" panose="05000000000000000000" pitchFamily="2" charset="2"/>
              <a:buChar char="q"/>
            </a:pPr>
            <a:endParaRPr lang="en-IN" sz="2600">
              <a:solidFill>
                <a:schemeClr val="bg1"/>
              </a:solidFill>
              <a:latin typeface="Tw Cen MT" panose="020B0602020104020603" pitchFamily="34" charset="0"/>
              <a:cs typeface="Segoe UI" panose="020B0502040204020203" pitchFamily="34" charset="0"/>
            </a:endParaRPr>
          </a:p>
          <a:p>
            <a:pPr marL="457200" indent="-457200" algn="just">
              <a:buClr>
                <a:schemeClr val="accent5">
                  <a:lumMod val="75000"/>
                </a:schemeClr>
              </a:buClr>
              <a:buFont typeface="Wingdings" panose="05000000000000000000" pitchFamily="2" charset="2"/>
              <a:buChar char="q"/>
            </a:pPr>
            <a:r>
              <a:rPr lang="en-IN" sz="2600">
                <a:solidFill>
                  <a:schemeClr val="bg1"/>
                </a:solidFill>
                <a:latin typeface="Tw Cen MT" panose="020B0602020104020603" pitchFamily="34" charset="0"/>
                <a:cs typeface="Segoe UI" panose="020B0502040204020203" pitchFamily="34" charset="0"/>
              </a:rPr>
              <a:t>The link is </a:t>
            </a:r>
            <a:r>
              <a:rPr lang="en-IN" sz="2600">
                <a:solidFill>
                  <a:srgbClr val="C00000"/>
                </a:solidFill>
                <a:latin typeface="Tw Cen MT" panose="020B0602020104020603" pitchFamily="34" charset="0"/>
                <a:cs typeface="Segoe UI" panose="020B0502040204020203" pitchFamily="34" charset="0"/>
              </a:rPr>
              <a:t>asynchronous</a:t>
            </a:r>
            <a:r>
              <a:rPr lang="en-IN" sz="2600">
                <a:solidFill>
                  <a:schemeClr val="bg1"/>
                </a:solidFill>
                <a:latin typeface="Tw Cen MT" panose="020B0602020104020603" pitchFamily="34" charset="0"/>
                <a:cs typeface="Segoe UI" panose="020B0502040204020203" pitchFamily="34" charset="0"/>
              </a:rPr>
              <a:t>, and so both ends of the serial link must be configured to use the same settings.</a:t>
            </a:r>
          </a:p>
          <a:p>
            <a:pPr marL="457200" indent="-457200" algn="just">
              <a:buClr>
                <a:schemeClr val="accent5">
                  <a:lumMod val="75000"/>
                </a:schemeClr>
              </a:buClr>
              <a:buFont typeface="Wingdings" panose="05000000000000000000" pitchFamily="2" charset="2"/>
              <a:buChar char="q"/>
            </a:pPr>
            <a:endParaRPr lang="en-IN" sz="2600">
              <a:solidFill>
                <a:schemeClr val="bg1"/>
              </a:solidFill>
              <a:latin typeface="Tw Cen MT" panose="020B0602020104020603" pitchFamily="34" charset="0"/>
              <a:cs typeface="Segoe UI" panose="020B0502040204020203" pitchFamily="34" charset="0"/>
            </a:endParaRPr>
          </a:p>
          <a:p>
            <a:pPr marL="457200" indent="-457200" algn="just">
              <a:buClr>
                <a:schemeClr val="accent5">
                  <a:lumMod val="75000"/>
                </a:schemeClr>
              </a:buClr>
              <a:buFont typeface="Wingdings" panose="05000000000000000000" pitchFamily="2" charset="2"/>
              <a:buChar char="q"/>
            </a:pPr>
            <a:r>
              <a:rPr lang="en-IN" sz="2600">
                <a:solidFill>
                  <a:schemeClr val="bg1"/>
                </a:solidFill>
                <a:latin typeface="Tw Cen MT" panose="020B0602020104020603" pitchFamily="34" charset="0"/>
                <a:cs typeface="Segoe UI" panose="020B0502040204020203" pitchFamily="34" charset="0"/>
              </a:rPr>
              <a:t>Serial channels have a number of configurable parameters </a:t>
            </a:r>
            <a:r>
              <a:rPr lang="en-IN" sz="2600">
                <a:solidFill>
                  <a:srgbClr val="C00000"/>
                </a:solidFill>
                <a:latin typeface="Tw Cen MT" panose="020B0602020104020603" pitchFamily="34" charset="0"/>
                <a:cs typeface="Segoe UI" panose="020B0502040204020203" pitchFamily="34" charset="0"/>
              </a:rPr>
              <a:t>Baud Rate, Data length, Parity and Stop Bits. </a:t>
            </a:r>
          </a:p>
          <a:p>
            <a:pPr marL="457200" indent="-457200" algn="just">
              <a:buClr>
                <a:schemeClr val="accent5">
                  <a:lumMod val="75000"/>
                </a:schemeClr>
              </a:buClr>
              <a:buFont typeface="Wingdings" panose="05000000000000000000" pitchFamily="2" charset="2"/>
              <a:buChar char="q"/>
            </a:pPr>
            <a:endParaRPr lang="en-IN" sz="2600">
              <a:solidFill>
                <a:schemeClr val="bg1"/>
              </a:solidFill>
              <a:latin typeface="Tw Cen MT" panose="020B0602020104020603" pitchFamily="34" charset="0"/>
              <a:cs typeface="Segoe UI" panose="020B0502040204020203" pitchFamily="34" charset="0"/>
            </a:endParaRPr>
          </a:p>
          <a:p>
            <a:pPr marL="457200" indent="-457200" algn="just">
              <a:buClr>
                <a:schemeClr val="accent5">
                  <a:lumMod val="75000"/>
                </a:schemeClr>
              </a:buClr>
              <a:buFont typeface="Wingdings" panose="05000000000000000000" pitchFamily="2" charset="2"/>
              <a:buChar char="q"/>
            </a:pPr>
            <a:r>
              <a:rPr lang="en-IN" sz="2600">
                <a:solidFill>
                  <a:schemeClr val="bg1"/>
                </a:solidFill>
                <a:latin typeface="Tw Cen MT" panose="020B0602020104020603" pitchFamily="34" charset="0"/>
                <a:cs typeface="Segoe UI" panose="020B0502040204020203" pitchFamily="34" charset="0"/>
              </a:rPr>
              <a:t>The default settings for the </a:t>
            </a:r>
            <a:r>
              <a:rPr lang="en-IN" sz="2600" err="1">
                <a:solidFill>
                  <a:schemeClr val="bg1"/>
                </a:solidFill>
                <a:latin typeface="Tw Cen MT" panose="020B0602020104020603" pitchFamily="34" charset="0"/>
                <a:cs typeface="Segoe UI" panose="020B0502040204020203" pitchFamily="34" charset="0"/>
              </a:rPr>
              <a:t>mbed</a:t>
            </a:r>
            <a:r>
              <a:rPr lang="en-IN" sz="2600">
                <a:solidFill>
                  <a:schemeClr val="bg1"/>
                </a:solidFill>
                <a:latin typeface="Tw Cen MT" panose="020B0602020104020603" pitchFamily="34" charset="0"/>
                <a:cs typeface="Segoe UI" panose="020B0502040204020203" pitchFamily="34" charset="0"/>
              </a:rPr>
              <a:t> microcontroller are described as 9600 baud rate </a:t>
            </a:r>
            <a:r>
              <a:rPr lang="en-IN" sz="2600">
                <a:solidFill>
                  <a:srgbClr val="C00000"/>
                </a:solidFill>
                <a:latin typeface="Tw Cen MT" panose="020B0602020104020603" pitchFamily="34" charset="0"/>
                <a:cs typeface="Segoe UI" panose="020B0502040204020203" pitchFamily="34" charset="0"/>
              </a:rPr>
              <a:t>(8 bits, 1 stop bit, no parity)</a:t>
            </a:r>
          </a:p>
        </p:txBody>
      </p:sp>
      <p:sp>
        <p:nvSpPr>
          <p:cNvPr id="10" name="Round Same Side Corner Rectangle 9"/>
          <p:cNvSpPr/>
          <p:nvPr/>
        </p:nvSpPr>
        <p:spPr>
          <a:xfrm>
            <a:off x="140031" y="130792"/>
            <a:ext cx="11899570" cy="6457750"/>
          </a:xfrm>
          <a:prstGeom prst="round2SameRect">
            <a:avLst/>
          </a:prstGeom>
          <a:noFill/>
          <a:ln w="38100">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2" name="Pentagon 11"/>
          <p:cNvSpPr/>
          <p:nvPr/>
        </p:nvSpPr>
        <p:spPr>
          <a:xfrm flipH="1">
            <a:off x="11651719" y="6650218"/>
            <a:ext cx="502920" cy="182880"/>
          </a:xfrm>
          <a:prstGeom prst="homePlate">
            <a:avLst/>
          </a:prstGeom>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400" b="1">
                <a:solidFill>
                  <a:schemeClr val="bg1"/>
                </a:solidFill>
                <a:latin typeface="Century Gothic" panose="020B0502020202020204" pitchFamily="34" charset="0"/>
              </a:rPr>
              <a:t>8</a:t>
            </a:r>
          </a:p>
        </p:txBody>
      </p:sp>
      <p:sp>
        <p:nvSpPr>
          <p:cNvPr id="7" name="TextBox 6"/>
          <p:cNvSpPr txBox="1"/>
          <p:nvPr/>
        </p:nvSpPr>
        <p:spPr>
          <a:xfrm>
            <a:off x="4036292" y="6587769"/>
            <a:ext cx="3931948" cy="307777"/>
          </a:xfrm>
          <a:prstGeom prst="rect">
            <a:avLst/>
          </a:prstGeom>
          <a:noFill/>
        </p:spPr>
        <p:txBody>
          <a:bodyPr wrap="square" rtlCol="0">
            <a:spAutoFit/>
          </a:bodyPr>
          <a:lstStyle/>
          <a:p>
            <a:pPr algn="ctr"/>
            <a:r>
              <a:rPr lang="en-US" sz="1400" b="1">
                <a:solidFill>
                  <a:srgbClr val="663300"/>
                </a:solidFill>
                <a:latin typeface="Century Gothic" panose="020B0502020202020204" pitchFamily="34" charset="0"/>
              </a:rPr>
              <a:t>BECE403E-Embedded Systems Design Lab</a:t>
            </a:r>
          </a:p>
        </p:txBody>
      </p:sp>
      <p:sp>
        <p:nvSpPr>
          <p:cNvPr id="11" name="TextBox 10"/>
          <p:cNvSpPr txBox="1"/>
          <p:nvPr/>
        </p:nvSpPr>
        <p:spPr>
          <a:xfrm>
            <a:off x="46422" y="6588542"/>
            <a:ext cx="855622" cy="307777"/>
          </a:xfrm>
          <a:prstGeom prst="rect">
            <a:avLst/>
          </a:prstGeom>
          <a:noFill/>
        </p:spPr>
        <p:txBody>
          <a:bodyPr wrap="square" rtlCol="0">
            <a:spAutoFit/>
          </a:bodyPr>
          <a:lstStyle/>
          <a:p>
            <a:r>
              <a:rPr lang="en-US" sz="1400" b="1">
                <a:solidFill>
                  <a:srgbClr val="663300"/>
                </a:solidFill>
                <a:latin typeface="Century Gothic" panose="020B0502020202020204" pitchFamily="34" charset="0"/>
              </a:rPr>
              <a:t>LAB - 4</a:t>
            </a:r>
          </a:p>
        </p:txBody>
      </p:sp>
    </p:spTree>
    <p:extLst>
      <p:ext uri="{BB962C8B-B14F-4D97-AF65-F5344CB8AC3E}">
        <p14:creationId xmlns:p14="http://schemas.microsoft.com/office/powerpoint/2010/main" val="24490754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8" name="TextBox 7"/>
          <p:cNvSpPr txBox="1"/>
          <p:nvPr/>
        </p:nvSpPr>
        <p:spPr>
          <a:xfrm>
            <a:off x="135533" y="565335"/>
            <a:ext cx="11592251" cy="523220"/>
          </a:xfrm>
          <a:prstGeom prst="rect">
            <a:avLst/>
          </a:prstGeom>
          <a:noFill/>
        </p:spPr>
        <p:txBody>
          <a:bodyPr wrap="square" rtlCol="0">
            <a:spAutoFit/>
          </a:bodyPr>
          <a:lstStyle/>
          <a:p>
            <a:pPr algn="ctr">
              <a:buClr>
                <a:schemeClr val="accent5">
                  <a:lumMod val="75000"/>
                </a:schemeClr>
              </a:buClr>
            </a:pPr>
            <a:r>
              <a:rPr lang="en-US" sz="2800">
                <a:solidFill>
                  <a:srgbClr val="0070C0"/>
                </a:solidFill>
                <a:latin typeface="Tw Cen MT" panose="020B0602020104020603" pitchFamily="34" charset="0"/>
                <a:cs typeface="Microsoft Tai Le" panose="020B0502040204020203" pitchFamily="34" charset="0"/>
              </a:rPr>
              <a:t>STM32 Nucleo-64 - Pin Details (</a:t>
            </a:r>
            <a:r>
              <a:rPr lang="en-US" sz="2800" err="1">
                <a:solidFill>
                  <a:srgbClr val="0070C0"/>
                </a:solidFill>
                <a:latin typeface="Tw Cen MT" panose="020B0602020104020603" pitchFamily="34" charset="0"/>
                <a:cs typeface="Microsoft Tai Le" panose="020B0502040204020203" pitchFamily="34" charset="0"/>
              </a:rPr>
              <a:t>Morpho</a:t>
            </a:r>
            <a:r>
              <a:rPr lang="en-US" sz="2800">
                <a:solidFill>
                  <a:srgbClr val="0070C0"/>
                </a:solidFill>
                <a:latin typeface="Tw Cen MT" panose="020B0602020104020603" pitchFamily="34" charset="0"/>
                <a:cs typeface="Microsoft Tai Le" panose="020B0502040204020203" pitchFamily="34" charset="0"/>
              </a:rPr>
              <a:t> Headers)</a:t>
            </a:r>
          </a:p>
        </p:txBody>
      </p:sp>
      <p:sp>
        <p:nvSpPr>
          <p:cNvPr id="10" name="Round Same Side Corner Rectangle 9"/>
          <p:cNvSpPr/>
          <p:nvPr/>
        </p:nvSpPr>
        <p:spPr>
          <a:xfrm>
            <a:off x="140031" y="130792"/>
            <a:ext cx="11899570" cy="6457750"/>
          </a:xfrm>
          <a:prstGeom prst="round2SameRect">
            <a:avLst/>
          </a:prstGeom>
          <a:noFill/>
          <a:ln w="38100">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2" name="Pentagon 11"/>
          <p:cNvSpPr/>
          <p:nvPr/>
        </p:nvSpPr>
        <p:spPr>
          <a:xfrm flipH="1">
            <a:off x="11651719" y="6650218"/>
            <a:ext cx="502920" cy="182880"/>
          </a:xfrm>
          <a:prstGeom prst="homePlate">
            <a:avLst/>
          </a:prstGeom>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1400" b="1">
                <a:solidFill>
                  <a:schemeClr val="bg1"/>
                </a:solidFill>
                <a:latin typeface="Century Gothic" panose="020B0502020202020204" pitchFamily="34" charset="0"/>
              </a:rPr>
              <a:t>4</a:t>
            </a:r>
          </a:p>
        </p:txBody>
      </p:sp>
      <p:sp>
        <p:nvSpPr>
          <p:cNvPr id="7" name="TextBox 6"/>
          <p:cNvSpPr txBox="1"/>
          <p:nvPr/>
        </p:nvSpPr>
        <p:spPr>
          <a:xfrm>
            <a:off x="3971636" y="6587769"/>
            <a:ext cx="3996603" cy="307777"/>
          </a:xfrm>
          <a:prstGeom prst="rect">
            <a:avLst/>
          </a:prstGeom>
          <a:noFill/>
        </p:spPr>
        <p:txBody>
          <a:bodyPr wrap="square" rtlCol="0">
            <a:spAutoFit/>
          </a:bodyPr>
          <a:lstStyle/>
          <a:p>
            <a:pPr algn="ctr"/>
            <a:r>
              <a:rPr lang="en-US" sz="1400" b="1">
                <a:solidFill>
                  <a:srgbClr val="663300"/>
                </a:solidFill>
                <a:latin typeface="Century Gothic" panose="020B0502020202020204" pitchFamily="34" charset="0"/>
              </a:rPr>
              <a:t>BECE403E-Embedded Systems Design Lab</a:t>
            </a:r>
          </a:p>
        </p:txBody>
      </p:sp>
      <p:sp>
        <p:nvSpPr>
          <p:cNvPr id="11" name="TextBox 10"/>
          <p:cNvSpPr txBox="1"/>
          <p:nvPr/>
        </p:nvSpPr>
        <p:spPr>
          <a:xfrm>
            <a:off x="46422" y="6588542"/>
            <a:ext cx="855622" cy="307777"/>
          </a:xfrm>
          <a:prstGeom prst="rect">
            <a:avLst/>
          </a:prstGeom>
          <a:noFill/>
        </p:spPr>
        <p:txBody>
          <a:bodyPr wrap="square" rtlCol="0">
            <a:spAutoFit/>
          </a:bodyPr>
          <a:lstStyle/>
          <a:p>
            <a:r>
              <a:rPr lang="en-US" sz="1400" b="1">
                <a:solidFill>
                  <a:srgbClr val="663300"/>
                </a:solidFill>
                <a:latin typeface="Century Gothic" panose="020B0502020202020204" pitchFamily="34" charset="0"/>
              </a:rPr>
              <a:t>LAB - 4</a:t>
            </a:r>
          </a:p>
        </p:txBody>
      </p:sp>
      <p:sp>
        <p:nvSpPr>
          <p:cNvPr id="2" name="Rectangle 1"/>
          <p:cNvSpPr/>
          <p:nvPr/>
        </p:nvSpPr>
        <p:spPr>
          <a:xfrm>
            <a:off x="875433" y="6213812"/>
            <a:ext cx="10189008" cy="307777"/>
          </a:xfrm>
          <a:prstGeom prst="rect">
            <a:avLst/>
          </a:prstGeom>
        </p:spPr>
        <p:txBody>
          <a:bodyPr wrap="none">
            <a:spAutoFit/>
          </a:bodyPr>
          <a:lstStyle/>
          <a:p>
            <a:r>
              <a:rPr lang="en-IN" sz="1400" b="1">
                <a:solidFill>
                  <a:srgbClr val="3333FF"/>
                </a:solidFill>
                <a:latin typeface="Century Gothic" panose="020B0502020202020204" pitchFamily="34" charset="0"/>
              </a:rPr>
              <a:t>Image credit: arm MBED, Ref. URL : </a:t>
            </a:r>
            <a:r>
              <a:rPr lang="en-IN" sz="1400" b="1" u="sng">
                <a:solidFill>
                  <a:srgbClr val="3333FF"/>
                </a:solidFill>
                <a:latin typeface="Century Gothic" panose="020B0502020202020204" pitchFamily="34" charset="0"/>
              </a:rPr>
              <a:t>https://os.mbed.com/forum/electronics/topic/15346/?page=1#comment-52189</a:t>
            </a:r>
          </a:p>
        </p:txBody>
      </p:sp>
      <p:pic>
        <p:nvPicPr>
          <p:cNvPr id="3" name="Picture 2"/>
          <p:cNvPicPr>
            <a:picLocks noChangeAspect="1"/>
          </p:cNvPicPr>
          <p:nvPr/>
        </p:nvPicPr>
        <p:blipFill>
          <a:blip r:embed="rId2"/>
          <a:stretch>
            <a:fillRect/>
          </a:stretch>
        </p:blipFill>
        <p:spPr>
          <a:xfrm>
            <a:off x="705140" y="1108422"/>
            <a:ext cx="7068530" cy="5081569"/>
          </a:xfrm>
          <a:prstGeom prst="rect">
            <a:avLst/>
          </a:prstGeom>
          <a:ln>
            <a:solidFill>
              <a:schemeClr val="bg1"/>
            </a:solidFill>
          </a:ln>
        </p:spPr>
      </p:pic>
      <p:grpSp>
        <p:nvGrpSpPr>
          <p:cNvPr id="15" name="Group 14"/>
          <p:cNvGrpSpPr/>
          <p:nvPr/>
        </p:nvGrpSpPr>
        <p:grpSpPr>
          <a:xfrm>
            <a:off x="8653371" y="2121894"/>
            <a:ext cx="2906541" cy="3445237"/>
            <a:chOff x="8653371" y="2121894"/>
            <a:chExt cx="2906541" cy="3445237"/>
          </a:xfrm>
        </p:grpSpPr>
        <p:pic>
          <p:nvPicPr>
            <p:cNvPr id="4" name="Picture 3"/>
            <p:cNvPicPr>
              <a:picLocks noChangeAspect="1"/>
            </p:cNvPicPr>
            <p:nvPr/>
          </p:nvPicPr>
          <p:blipFill>
            <a:blip r:embed="rId3"/>
            <a:stretch>
              <a:fillRect/>
            </a:stretch>
          </p:blipFill>
          <p:spPr>
            <a:xfrm>
              <a:off x="8664061" y="2511005"/>
              <a:ext cx="2530059" cy="358171"/>
            </a:xfrm>
            <a:prstGeom prst="rect">
              <a:avLst/>
            </a:prstGeom>
          </p:spPr>
        </p:pic>
        <p:pic>
          <p:nvPicPr>
            <p:cNvPr id="5" name="Picture 4"/>
            <p:cNvPicPr>
              <a:picLocks noChangeAspect="1"/>
            </p:cNvPicPr>
            <p:nvPr/>
          </p:nvPicPr>
          <p:blipFill>
            <a:blip r:embed="rId4"/>
            <a:stretch>
              <a:fillRect/>
            </a:stretch>
          </p:blipFill>
          <p:spPr>
            <a:xfrm>
              <a:off x="8664061" y="3890586"/>
              <a:ext cx="2895851" cy="1676545"/>
            </a:xfrm>
            <a:prstGeom prst="rect">
              <a:avLst/>
            </a:prstGeom>
          </p:spPr>
        </p:pic>
        <p:pic>
          <p:nvPicPr>
            <p:cNvPr id="6" name="Picture 5"/>
            <p:cNvPicPr>
              <a:picLocks noChangeAspect="1"/>
            </p:cNvPicPr>
            <p:nvPr/>
          </p:nvPicPr>
          <p:blipFill>
            <a:blip r:embed="rId5"/>
            <a:stretch>
              <a:fillRect/>
            </a:stretch>
          </p:blipFill>
          <p:spPr>
            <a:xfrm>
              <a:off x="8664061" y="2964265"/>
              <a:ext cx="2059357" cy="337986"/>
            </a:xfrm>
            <a:prstGeom prst="rect">
              <a:avLst/>
            </a:prstGeom>
          </p:spPr>
        </p:pic>
        <p:pic>
          <p:nvPicPr>
            <p:cNvPr id="9" name="Picture 8"/>
            <p:cNvPicPr>
              <a:picLocks noChangeAspect="1"/>
            </p:cNvPicPr>
            <p:nvPr/>
          </p:nvPicPr>
          <p:blipFill>
            <a:blip r:embed="rId6"/>
            <a:stretch>
              <a:fillRect/>
            </a:stretch>
          </p:blipFill>
          <p:spPr>
            <a:xfrm>
              <a:off x="8653371" y="3397340"/>
              <a:ext cx="1905165" cy="381033"/>
            </a:xfrm>
            <a:prstGeom prst="rect">
              <a:avLst/>
            </a:prstGeom>
          </p:spPr>
        </p:pic>
        <p:pic>
          <p:nvPicPr>
            <p:cNvPr id="14" name="Picture 13"/>
            <p:cNvPicPr>
              <a:picLocks noChangeAspect="1"/>
            </p:cNvPicPr>
            <p:nvPr/>
          </p:nvPicPr>
          <p:blipFill>
            <a:blip r:embed="rId7"/>
            <a:stretch>
              <a:fillRect/>
            </a:stretch>
          </p:blipFill>
          <p:spPr>
            <a:xfrm>
              <a:off x="8664061" y="2121894"/>
              <a:ext cx="2370025" cy="342930"/>
            </a:xfrm>
            <a:prstGeom prst="rect">
              <a:avLst/>
            </a:prstGeom>
          </p:spPr>
        </p:pic>
      </p:grpSp>
      <p:sp>
        <p:nvSpPr>
          <p:cNvPr id="16" name="Rectangle 15"/>
          <p:cNvSpPr/>
          <p:nvPr/>
        </p:nvSpPr>
        <p:spPr>
          <a:xfrm>
            <a:off x="9070655" y="1563131"/>
            <a:ext cx="1556836" cy="369332"/>
          </a:xfrm>
          <a:prstGeom prst="rect">
            <a:avLst/>
          </a:prstGeom>
        </p:spPr>
        <p:txBody>
          <a:bodyPr wrap="none">
            <a:spAutoFit/>
          </a:bodyPr>
          <a:lstStyle/>
          <a:p>
            <a:r>
              <a:rPr lang="en-IN" b="1">
                <a:solidFill>
                  <a:srgbClr val="00B0F0"/>
                </a:solidFill>
                <a:latin typeface="Lato"/>
              </a:rPr>
              <a:t>Pins Legend</a:t>
            </a:r>
            <a:endParaRPr lang="en-IN" b="1" i="0">
              <a:solidFill>
                <a:srgbClr val="00B0F0"/>
              </a:solidFill>
              <a:effectLst/>
              <a:latin typeface="Lato"/>
            </a:endParaRPr>
          </a:p>
        </p:txBody>
      </p:sp>
    </p:spTree>
    <p:extLst>
      <p:ext uri="{BB962C8B-B14F-4D97-AF65-F5344CB8AC3E}">
        <p14:creationId xmlns:p14="http://schemas.microsoft.com/office/powerpoint/2010/main" val="6966227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ounded Rectangle 4"/>
          <p:cNvSpPr/>
          <p:nvPr/>
        </p:nvSpPr>
        <p:spPr>
          <a:xfrm>
            <a:off x="1199161" y="318649"/>
            <a:ext cx="9781309" cy="678872"/>
          </a:xfrm>
          <a:prstGeom prst="roundRect">
            <a:avLst/>
          </a:prstGeom>
          <a:solidFill>
            <a:schemeClr val="bg1"/>
          </a:solidFill>
          <a:ln w="28575">
            <a:solidFill>
              <a:schemeClr val="accent5"/>
            </a:solidFill>
          </a:ln>
          <a:effectLst/>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3600" b="1">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Century Gothic" pitchFamily="34" charset="0"/>
                <a:cs typeface="Aharoni" pitchFamily="2" charset="-79"/>
              </a:rPr>
              <a:t>INTRODUCTION TO SERIAL PORT</a:t>
            </a:r>
          </a:p>
        </p:txBody>
      </p:sp>
      <p:sp>
        <p:nvSpPr>
          <p:cNvPr id="8" name="TextBox 7"/>
          <p:cNvSpPr txBox="1"/>
          <p:nvPr/>
        </p:nvSpPr>
        <p:spPr>
          <a:xfrm>
            <a:off x="293687" y="994542"/>
            <a:ext cx="11592251" cy="5170646"/>
          </a:xfrm>
          <a:prstGeom prst="rect">
            <a:avLst/>
          </a:prstGeom>
          <a:noFill/>
        </p:spPr>
        <p:txBody>
          <a:bodyPr wrap="square" rtlCol="0">
            <a:spAutoFit/>
          </a:bodyPr>
          <a:lstStyle/>
          <a:p>
            <a:pPr marL="457200" indent="-457200" algn="just">
              <a:buClr>
                <a:schemeClr val="accent5">
                  <a:lumMod val="75000"/>
                </a:schemeClr>
              </a:buClr>
              <a:buFont typeface="Wingdings" panose="05000000000000000000" pitchFamily="2" charset="2"/>
              <a:buChar char="q"/>
            </a:pPr>
            <a:r>
              <a:rPr lang="en-IN" sz="2600">
                <a:solidFill>
                  <a:schemeClr val="bg1"/>
                </a:solidFill>
                <a:latin typeface="Tw Cen MT" panose="020B0602020104020603" pitchFamily="34" charset="0"/>
                <a:cs typeface="Segoe UI" panose="020B0502040204020203" pitchFamily="34" charset="0"/>
              </a:rPr>
              <a:t>The </a:t>
            </a:r>
            <a:r>
              <a:rPr lang="en-IN" sz="2600" err="1">
                <a:solidFill>
                  <a:schemeClr val="bg1"/>
                </a:solidFill>
                <a:latin typeface="Tw Cen MT" panose="020B0602020104020603" pitchFamily="34" charset="0"/>
                <a:cs typeface="Segoe UI" panose="020B0502040204020203" pitchFamily="34" charset="0"/>
              </a:rPr>
              <a:t>mbed</a:t>
            </a:r>
            <a:r>
              <a:rPr lang="en-IN" sz="2600">
                <a:solidFill>
                  <a:schemeClr val="bg1"/>
                </a:solidFill>
                <a:latin typeface="Tw Cen MT" panose="020B0602020104020603" pitchFamily="34" charset="0"/>
                <a:cs typeface="Segoe UI" panose="020B0502040204020203" pitchFamily="34" charset="0"/>
              </a:rPr>
              <a:t> Microcontroller can communicate with a host PC through a </a:t>
            </a:r>
            <a:r>
              <a:rPr lang="en-IN" sz="2600">
                <a:solidFill>
                  <a:srgbClr val="C00000"/>
                </a:solidFill>
                <a:latin typeface="Tw Cen MT" panose="020B0602020104020603" pitchFamily="34" charset="0"/>
                <a:cs typeface="Segoe UI" panose="020B0502040204020203" pitchFamily="34" charset="0"/>
              </a:rPr>
              <a:t>"USB Virtual Serial Port" </a:t>
            </a:r>
            <a:r>
              <a:rPr lang="en-IN" sz="2600">
                <a:solidFill>
                  <a:schemeClr val="bg1"/>
                </a:solidFill>
                <a:latin typeface="Tw Cen MT" panose="020B0602020104020603" pitchFamily="34" charset="0"/>
                <a:cs typeface="Segoe UI" panose="020B0502040204020203" pitchFamily="34" charset="0"/>
              </a:rPr>
              <a:t>over the same USB cable that is used for programming.</a:t>
            </a:r>
          </a:p>
          <a:p>
            <a:pPr marL="457200" indent="-457200" algn="just">
              <a:buClr>
                <a:schemeClr val="accent5">
                  <a:lumMod val="75000"/>
                </a:schemeClr>
              </a:buClr>
              <a:buFont typeface="Wingdings" panose="05000000000000000000" pitchFamily="2" charset="2"/>
              <a:buChar char="q"/>
            </a:pPr>
            <a:endParaRPr lang="en-IN" sz="2600">
              <a:solidFill>
                <a:schemeClr val="bg1"/>
              </a:solidFill>
              <a:latin typeface="Tw Cen MT" panose="020B0602020104020603" pitchFamily="34" charset="0"/>
              <a:cs typeface="Segoe UI" panose="020B0502040204020203" pitchFamily="34" charset="0"/>
            </a:endParaRPr>
          </a:p>
          <a:p>
            <a:pPr marL="457200" indent="-457200" algn="just">
              <a:buClr>
                <a:schemeClr val="accent5">
                  <a:lumMod val="75000"/>
                </a:schemeClr>
              </a:buClr>
              <a:buFont typeface="Wingdings" panose="05000000000000000000" pitchFamily="2" charset="2"/>
              <a:buChar char="q"/>
            </a:pPr>
            <a:r>
              <a:rPr lang="en-IN" sz="2600">
                <a:solidFill>
                  <a:schemeClr val="bg1"/>
                </a:solidFill>
                <a:latin typeface="Tw Cen MT" panose="020B0602020104020603" pitchFamily="34" charset="0"/>
                <a:cs typeface="Segoe UI" panose="020B0502040204020203" pitchFamily="34" charset="0"/>
              </a:rPr>
              <a:t>This enables you to:</a:t>
            </a:r>
          </a:p>
          <a:p>
            <a:pPr marL="1371600" lvl="2" indent="-457200" algn="just">
              <a:buClr>
                <a:schemeClr val="accent5">
                  <a:lumMod val="75000"/>
                </a:schemeClr>
              </a:buClr>
              <a:buFont typeface="Wingdings" panose="05000000000000000000" pitchFamily="2" charset="2"/>
              <a:buChar char="Ø"/>
            </a:pPr>
            <a:r>
              <a:rPr lang="en-IN" sz="2400">
                <a:solidFill>
                  <a:srgbClr val="C00000"/>
                </a:solidFill>
                <a:latin typeface="Tw Cen MT" panose="020B0602020104020603" pitchFamily="34" charset="0"/>
                <a:cs typeface="Segoe UI" panose="020B0502040204020203" pitchFamily="34" charset="0"/>
              </a:rPr>
              <a:t>Print out messages to a host PC terminal </a:t>
            </a:r>
          </a:p>
          <a:p>
            <a:pPr marL="1371600" lvl="2" indent="-457200" algn="just">
              <a:buClr>
                <a:schemeClr val="accent5">
                  <a:lumMod val="75000"/>
                </a:schemeClr>
              </a:buClr>
              <a:buFont typeface="Wingdings" panose="05000000000000000000" pitchFamily="2" charset="2"/>
              <a:buChar char="Ø"/>
            </a:pPr>
            <a:r>
              <a:rPr lang="en-IN" sz="2400">
                <a:solidFill>
                  <a:srgbClr val="C00000"/>
                </a:solidFill>
                <a:latin typeface="Tw Cen MT" panose="020B0602020104020603" pitchFamily="34" charset="0"/>
                <a:cs typeface="Segoe UI" panose="020B0502040204020203" pitchFamily="34" charset="0"/>
              </a:rPr>
              <a:t>Read input from the host PC keyboard</a:t>
            </a:r>
          </a:p>
          <a:p>
            <a:pPr marL="1371600" lvl="2" indent="-457200" algn="just">
              <a:buClr>
                <a:schemeClr val="accent5">
                  <a:lumMod val="75000"/>
                </a:schemeClr>
              </a:buClr>
              <a:buFont typeface="Wingdings" panose="05000000000000000000" pitchFamily="2" charset="2"/>
              <a:buChar char="Ø"/>
            </a:pPr>
            <a:r>
              <a:rPr lang="en-IN" sz="2400">
                <a:solidFill>
                  <a:srgbClr val="C00000"/>
                </a:solidFill>
                <a:latin typeface="Tw Cen MT" panose="020B0602020104020603" pitchFamily="34" charset="0"/>
                <a:cs typeface="Segoe UI" panose="020B0502040204020203" pitchFamily="34" charset="0"/>
              </a:rPr>
              <a:t>Communicate with applications and programming languages running on the host PC </a:t>
            </a:r>
            <a:r>
              <a:rPr lang="en-IN" sz="2400">
                <a:solidFill>
                  <a:schemeClr val="bg1"/>
                </a:solidFill>
                <a:latin typeface="Tw Cen MT" panose="020B0602020104020603" pitchFamily="34" charset="0"/>
                <a:cs typeface="Segoe UI" panose="020B0502040204020203" pitchFamily="34" charset="0"/>
              </a:rPr>
              <a:t>that can communicate with a serial port, e.g. python, java and so on.</a:t>
            </a:r>
          </a:p>
          <a:p>
            <a:pPr marL="457200" indent="-457200" algn="just">
              <a:buClr>
                <a:schemeClr val="accent5">
                  <a:lumMod val="75000"/>
                </a:schemeClr>
              </a:buClr>
              <a:buFont typeface="Wingdings" panose="05000000000000000000" pitchFamily="2" charset="2"/>
              <a:buChar char="q"/>
            </a:pPr>
            <a:endParaRPr lang="en-IN" sz="2600">
              <a:solidFill>
                <a:schemeClr val="bg1"/>
              </a:solidFill>
              <a:latin typeface="Tw Cen MT" panose="020B0602020104020603" pitchFamily="34" charset="0"/>
              <a:cs typeface="Segoe UI" panose="020B0502040204020203" pitchFamily="34" charset="0"/>
            </a:endParaRPr>
          </a:p>
          <a:p>
            <a:pPr marL="457200" indent="-457200" algn="just">
              <a:buClr>
                <a:schemeClr val="accent5">
                  <a:lumMod val="75000"/>
                </a:schemeClr>
              </a:buClr>
              <a:buFont typeface="Wingdings" panose="05000000000000000000" pitchFamily="2" charset="2"/>
              <a:buChar char="q"/>
            </a:pPr>
            <a:r>
              <a:rPr lang="en-IN" sz="2600">
                <a:solidFill>
                  <a:schemeClr val="bg1"/>
                </a:solidFill>
                <a:latin typeface="Tw Cen MT" panose="020B0602020104020603" pitchFamily="34" charset="0"/>
                <a:cs typeface="Segoe UI" panose="020B0502040204020203" pitchFamily="34" charset="0"/>
              </a:rPr>
              <a:t>The Serial Interface can be used on supported pins and </a:t>
            </a:r>
            <a:r>
              <a:rPr lang="en-IN" sz="2600">
                <a:solidFill>
                  <a:srgbClr val="C00000"/>
                </a:solidFill>
                <a:latin typeface="Tw Cen MT" panose="020B0602020104020603" pitchFamily="34" charset="0"/>
                <a:cs typeface="Segoe UI" panose="020B0502040204020203" pitchFamily="34" charset="0"/>
              </a:rPr>
              <a:t>USBTX/USBRX</a:t>
            </a:r>
          </a:p>
          <a:p>
            <a:pPr marL="457200" indent="-457200" algn="just">
              <a:buClr>
                <a:schemeClr val="accent5">
                  <a:lumMod val="75000"/>
                </a:schemeClr>
              </a:buClr>
              <a:buFont typeface="Wingdings" panose="05000000000000000000" pitchFamily="2" charset="2"/>
              <a:buChar char="q"/>
            </a:pPr>
            <a:endParaRPr lang="en-IN" sz="2600">
              <a:solidFill>
                <a:schemeClr val="bg1"/>
              </a:solidFill>
              <a:latin typeface="Tw Cen MT" panose="020B0602020104020603" pitchFamily="34" charset="0"/>
              <a:cs typeface="Segoe UI" panose="020B0502040204020203" pitchFamily="34" charset="0"/>
            </a:endParaRPr>
          </a:p>
          <a:p>
            <a:pPr marL="457200" indent="-457200" algn="just">
              <a:buClr>
                <a:schemeClr val="accent5">
                  <a:lumMod val="75000"/>
                </a:schemeClr>
              </a:buClr>
              <a:buFont typeface="Wingdings" panose="05000000000000000000" pitchFamily="2" charset="2"/>
              <a:buChar char="q"/>
            </a:pPr>
            <a:r>
              <a:rPr lang="en-IN" sz="2600">
                <a:solidFill>
                  <a:srgbClr val="C00000"/>
                </a:solidFill>
                <a:latin typeface="Tw Cen MT" panose="020B0602020104020603" pitchFamily="34" charset="0"/>
                <a:cs typeface="Segoe UI" panose="020B0502040204020203" pitchFamily="34" charset="0"/>
              </a:rPr>
              <a:t>Note that USBTX/USBRX are not pins; </a:t>
            </a:r>
            <a:r>
              <a:rPr lang="en-IN" sz="2600">
                <a:solidFill>
                  <a:schemeClr val="bg1"/>
                </a:solidFill>
                <a:latin typeface="Tw Cen MT" panose="020B0602020104020603" pitchFamily="34" charset="0"/>
                <a:cs typeface="Segoe UI" panose="020B0502040204020203" pitchFamily="34" charset="0"/>
              </a:rPr>
              <a:t>they represent the pins that route to the interface USB Serial port so you can communicate with a host PC.</a:t>
            </a:r>
          </a:p>
        </p:txBody>
      </p:sp>
      <p:sp>
        <p:nvSpPr>
          <p:cNvPr id="10" name="Round Same Side Corner Rectangle 9"/>
          <p:cNvSpPr/>
          <p:nvPr/>
        </p:nvSpPr>
        <p:spPr>
          <a:xfrm>
            <a:off x="140031" y="130792"/>
            <a:ext cx="11899570" cy="6457750"/>
          </a:xfrm>
          <a:prstGeom prst="round2SameRect">
            <a:avLst/>
          </a:prstGeom>
          <a:noFill/>
          <a:ln w="38100">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2" name="Pentagon 11"/>
          <p:cNvSpPr/>
          <p:nvPr/>
        </p:nvSpPr>
        <p:spPr>
          <a:xfrm flipH="1">
            <a:off x="11651719" y="6650218"/>
            <a:ext cx="502920" cy="182880"/>
          </a:xfrm>
          <a:prstGeom prst="homePlate">
            <a:avLst/>
          </a:prstGeom>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400" b="1">
                <a:solidFill>
                  <a:schemeClr val="bg1"/>
                </a:solidFill>
                <a:latin typeface="Century Gothic" panose="020B0502020202020204" pitchFamily="34" charset="0"/>
              </a:rPr>
              <a:t>8</a:t>
            </a:r>
          </a:p>
        </p:txBody>
      </p:sp>
      <p:sp>
        <p:nvSpPr>
          <p:cNvPr id="7" name="TextBox 6"/>
          <p:cNvSpPr txBox="1"/>
          <p:nvPr/>
        </p:nvSpPr>
        <p:spPr>
          <a:xfrm>
            <a:off x="4036292" y="6587769"/>
            <a:ext cx="3931948" cy="307777"/>
          </a:xfrm>
          <a:prstGeom prst="rect">
            <a:avLst/>
          </a:prstGeom>
          <a:noFill/>
        </p:spPr>
        <p:txBody>
          <a:bodyPr wrap="square" rtlCol="0">
            <a:spAutoFit/>
          </a:bodyPr>
          <a:lstStyle/>
          <a:p>
            <a:pPr algn="ctr"/>
            <a:r>
              <a:rPr lang="en-US" sz="1400" b="1">
                <a:solidFill>
                  <a:srgbClr val="663300"/>
                </a:solidFill>
                <a:latin typeface="Century Gothic" panose="020B0502020202020204" pitchFamily="34" charset="0"/>
              </a:rPr>
              <a:t>BECE403E-Embedded Systems Design Lab</a:t>
            </a:r>
          </a:p>
        </p:txBody>
      </p:sp>
      <p:sp>
        <p:nvSpPr>
          <p:cNvPr id="11" name="TextBox 10"/>
          <p:cNvSpPr txBox="1"/>
          <p:nvPr/>
        </p:nvSpPr>
        <p:spPr>
          <a:xfrm>
            <a:off x="46422" y="6588542"/>
            <a:ext cx="855622" cy="307777"/>
          </a:xfrm>
          <a:prstGeom prst="rect">
            <a:avLst/>
          </a:prstGeom>
          <a:noFill/>
        </p:spPr>
        <p:txBody>
          <a:bodyPr wrap="square" rtlCol="0">
            <a:spAutoFit/>
          </a:bodyPr>
          <a:lstStyle/>
          <a:p>
            <a:r>
              <a:rPr lang="en-US" sz="1400" b="1">
                <a:solidFill>
                  <a:srgbClr val="663300"/>
                </a:solidFill>
                <a:latin typeface="Century Gothic" panose="020B0502020202020204" pitchFamily="34" charset="0"/>
              </a:rPr>
              <a:t>LAB - 4</a:t>
            </a:r>
          </a:p>
        </p:txBody>
      </p:sp>
    </p:spTree>
    <p:extLst>
      <p:ext uri="{BB962C8B-B14F-4D97-AF65-F5344CB8AC3E}">
        <p14:creationId xmlns:p14="http://schemas.microsoft.com/office/powerpoint/2010/main" val="22281528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ounded Rectangle 4"/>
          <p:cNvSpPr/>
          <p:nvPr/>
        </p:nvSpPr>
        <p:spPr>
          <a:xfrm>
            <a:off x="1199161" y="318649"/>
            <a:ext cx="9781309" cy="678872"/>
          </a:xfrm>
          <a:prstGeom prst="roundRect">
            <a:avLst/>
          </a:prstGeom>
          <a:solidFill>
            <a:schemeClr val="bg1"/>
          </a:solidFill>
          <a:ln w="28575">
            <a:solidFill>
              <a:schemeClr val="accent5"/>
            </a:solidFill>
          </a:ln>
          <a:effectLst/>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3600" b="1">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Century Gothic" pitchFamily="34" charset="0"/>
                <a:cs typeface="Aharoni" pitchFamily="2" charset="-79"/>
              </a:rPr>
              <a:t>INTRODUCTION TO SERIAL PORT</a:t>
            </a:r>
          </a:p>
        </p:txBody>
      </p:sp>
      <p:sp>
        <p:nvSpPr>
          <p:cNvPr id="10" name="Round Same Side Corner Rectangle 9"/>
          <p:cNvSpPr/>
          <p:nvPr/>
        </p:nvSpPr>
        <p:spPr>
          <a:xfrm>
            <a:off x="140031" y="130792"/>
            <a:ext cx="11899570" cy="6457750"/>
          </a:xfrm>
          <a:prstGeom prst="round2SameRect">
            <a:avLst/>
          </a:prstGeom>
          <a:noFill/>
          <a:ln w="38100">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2" name="Pentagon 11"/>
          <p:cNvSpPr/>
          <p:nvPr/>
        </p:nvSpPr>
        <p:spPr>
          <a:xfrm flipH="1">
            <a:off x="11651719" y="6650218"/>
            <a:ext cx="502920" cy="182880"/>
          </a:xfrm>
          <a:prstGeom prst="homePlate">
            <a:avLst/>
          </a:prstGeom>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400" b="1">
                <a:solidFill>
                  <a:schemeClr val="bg1"/>
                </a:solidFill>
                <a:latin typeface="Century Gothic" panose="020B0502020202020204" pitchFamily="34" charset="0"/>
              </a:rPr>
              <a:t>8</a:t>
            </a:r>
          </a:p>
        </p:txBody>
      </p:sp>
      <p:sp>
        <p:nvSpPr>
          <p:cNvPr id="7" name="TextBox 6"/>
          <p:cNvSpPr txBox="1"/>
          <p:nvPr/>
        </p:nvSpPr>
        <p:spPr>
          <a:xfrm>
            <a:off x="4036292" y="6587769"/>
            <a:ext cx="3931948" cy="307777"/>
          </a:xfrm>
          <a:prstGeom prst="rect">
            <a:avLst/>
          </a:prstGeom>
          <a:noFill/>
        </p:spPr>
        <p:txBody>
          <a:bodyPr wrap="square" rtlCol="0">
            <a:spAutoFit/>
          </a:bodyPr>
          <a:lstStyle/>
          <a:p>
            <a:pPr algn="ctr"/>
            <a:r>
              <a:rPr lang="en-US" sz="1400" b="1">
                <a:solidFill>
                  <a:srgbClr val="663300"/>
                </a:solidFill>
                <a:latin typeface="Century Gothic" panose="020B0502020202020204" pitchFamily="34" charset="0"/>
              </a:rPr>
              <a:t>BECE403E-Embedded Systems Design Lab</a:t>
            </a:r>
          </a:p>
        </p:txBody>
      </p:sp>
      <p:sp>
        <p:nvSpPr>
          <p:cNvPr id="11" name="TextBox 10"/>
          <p:cNvSpPr txBox="1"/>
          <p:nvPr/>
        </p:nvSpPr>
        <p:spPr>
          <a:xfrm>
            <a:off x="46422" y="6588542"/>
            <a:ext cx="855622" cy="307777"/>
          </a:xfrm>
          <a:prstGeom prst="rect">
            <a:avLst/>
          </a:prstGeom>
          <a:noFill/>
        </p:spPr>
        <p:txBody>
          <a:bodyPr wrap="square" rtlCol="0">
            <a:spAutoFit/>
          </a:bodyPr>
          <a:lstStyle/>
          <a:p>
            <a:r>
              <a:rPr lang="en-US" sz="1400" b="1">
                <a:solidFill>
                  <a:srgbClr val="663300"/>
                </a:solidFill>
                <a:latin typeface="Century Gothic" panose="020B0502020202020204" pitchFamily="34" charset="0"/>
              </a:rPr>
              <a:t>LAB - 4</a:t>
            </a:r>
          </a:p>
        </p:txBody>
      </p:sp>
      <p:sp>
        <p:nvSpPr>
          <p:cNvPr id="9" name="TextBox 8"/>
          <p:cNvSpPr txBox="1"/>
          <p:nvPr/>
        </p:nvSpPr>
        <p:spPr>
          <a:xfrm>
            <a:off x="310928" y="1037597"/>
            <a:ext cx="11592251" cy="5632311"/>
          </a:xfrm>
          <a:prstGeom prst="rect">
            <a:avLst/>
          </a:prstGeom>
          <a:noFill/>
        </p:spPr>
        <p:txBody>
          <a:bodyPr wrap="square" rtlCol="0">
            <a:spAutoFit/>
          </a:bodyPr>
          <a:lstStyle/>
          <a:p>
            <a:pPr algn="just">
              <a:buClr>
                <a:schemeClr val="accent5">
                  <a:lumMod val="75000"/>
                </a:schemeClr>
              </a:buClr>
            </a:pPr>
            <a:r>
              <a:rPr lang="en-IN" sz="2400" b="1" u="sng">
                <a:solidFill>
                  <a:srgbClr val="C00000"/>
                </a:solidFill>
                <a:latin typeface="Tw Cen MT" panose="020B0602020104020603" pitchFamily="34" charset="0"/>
                <a:cs typeface="Segoe UI" panose="020B0502040204020203" pitchFamily="34" charset="0"/>
              </a:rPr>
              <a:t>API required:</a:t>
            </a:r>
          </a:p>
          <a:p>
            <a:pPr marL="457200" indent="-457200" algn="just">
              <a:buClr>
                <a:schemeClr val="accent5">
                  <a:lumMod val="75000"/>
                </a:schemeClr>
              </a:buClr>
              <a:buFont typeface="Wingdings" panose="05000000000000000000" pitchFamily="2" charset="2"/>
              <a:buChar char="Ø"/>
            </a:pPr>
            <a:r>
              <a:rPr lang="en-IN" sz="2400">
                <a:solidFill>
                  <a:srgbClr val="C00000"/>
                </a:solidFill>
                <a:latin typeface="Tw Cen MT" panose="020B0602020104020603" pitchFamily="34" charset="0"/>
                <a:cs typeface="Segoe UI" panose="020B0502040204020203" pitchFamily="34" charset="0"/>
              </a:rPr>
              <a:t>Serial Identifier(</a:t>
            </a:r>
            <a:r>
              <a:rPr lang="en-IN" sz="2400" err="1">
                <a:solidFill>
                  <a:srgbClr val="C00000"/>
                </a:solidFill>
                <a:latin typeface="Tw Cen MT" panose="020B0602020104020603" pitchFamily="34" charset="0"/>
                <a:cs typeface="Segoe UI" panose="020B0502040204020203" pitchFamily="34" charset="0"/>
              </a:rPr>
              <a:t>PinName</a:t>
            </a:r>
            <a:r>
              <a:rPr lang="en-IN" sz="2400">
                <a:solidFill>
                  <a:srgbClr val="C00000"/>
                </a:solidFill>
                <a:latin typeface="Tw Cen MT" panose="020B0602020104020603" pitchFamily="34" charset="0"/>
                <a:cs typeface="Segoe UI" panose="020B0502040204020203" pitchFamily="34" charset="0"/>
              </a:rPr>
              <a:t> </a:t>
            </a:r>
            <a:r>
              <a:rPr lang="en-IN" sz="2400" err="1">
                <a:solidFill>
                  <a:srgbClr val="C00000"/>
                </a:solidFill>
                <a:latin typeface="Tw Cen MT" panose="020B0602020104020603" pitchFamily="34" charset="0"/>
                <a:cs typeface="Segoe UI" panose="020B0502040204020203" pitchFamily="34" charset="0"/>
              </a:rPr>
              <a:t>tx</a:t>
            </a:r>
            <a:r>
              <a:rPr lang="en-IN" sz="2400">
                <a:solidFill>
                  <a:srgbClr val="C00000"/>
                </a:solidFill>
                <a:latin typeface="Tw Cen MT" panose="020B0602020104020603" pitchFamily="34" charset="0"/>
                <a:cs typeface="Segoe UI" panose="020B0502040204020203" pitchFamily="34" charset="0"/>
              </a:rPr>
              <a:t>, </a:t>
            </a:r>
            <a:r>
              <a:rPr lang="en-IN" sz="2400" err="1">
                <a:solidFill>
                  <a:srgbClr val="C00000"/>
                </a:solidFill>
                <a:latin typeface="Tw Cen MT" panose="020B0602020104020603" pitchFamily="34" charset="0"/>
                <a:cs typeface="Segoe UI" panose="020B0502040204020203" pitchFamily="34" charset="0"/>
              </a:rPr>
              <a:t>PinName</a:t>
            </a:r>
            <a:r>
              <a:rPr lang="en-IN" sz="2400">
                <a:solidFill>
                  <a:srgbClr val="C00000"/>
                </a:solidFill>
                <a:latin typeface="Tw Cen MT" panose="020B0602020104020603" pitchFamily="34" charset="0"/>
                <a:cs typeface="Segoe UI" panose="020B0502040204020203" pitchFamily="34" charset="0"/>
              </a:rPr>
              <a:t> </a:t>
            </a:r>
            <a:r>
              <a:rPr lang="en-IN" sz="2400" err="1">
                <a:solidFill>
                  <a:srgbClr val="C00000"/>
                </a:solidFill>
                <a:latin typeface="Tw Cen MT" panose="020B0602020104020603" pitchFamily="34" charset="0"/>
                <a:cs typeface="Segoe UI" panose="020B0502040204020203" pitchFamily="34" charset="0"/>
              </a:rPr>
              <a:t>rx</a:t>
            </a:r>
            <a:r>
              <a:rPr lang="en-IN" sz="2400">
                <a:solidFill>
                  <a:srgbClr val="C00000"/>
                </a:solidFill>
                <a:latin typeface="Tw Cen MT" panose="020B0602020104020603" pitchFamily="34" charset="0"/>
                <a:cs typeface="Segoe UI" panose="020B0502040204020203" pitchFamily="34" charset="0"/>
              </a:rPr>
              <a:t>, </a:t>
            </a:r>
            <a:r>
              <a:rPr lang="en-IN" sz="2400" err="1">
                <a:solidFill>
                  <a:srgbClr val="C00000"/>
                </a:solidFill>
                <a:latin typeface="Tw Cen MT" panose="020B0602020104020603" pitchFamily="34" charset="0"/>
                <a:cs typeface="Segoe UI" panose="020B0502040204020203" pitchFamily="34" charset="0"/>
              </a:rPr>
              <a:t>int</a:t>
            </a:r>
            <a:r>
              <a:rPr lang="en-IN" sz="2400">
                <a:solidFill>
                  <a:srgbClr val="C00000"/>
                </a:solidFill>
                <a:latin typeface="Tw Cen MT" panose="020B0602020104020603" pitchFamily="34" charset="0"/>
                <a:cs typeface="Segoe UI" panose="020B0502040204020203" pitchFamily="34" charset="0"/>
              </a:rPr>
              <a:t> baud) – Used to access serial port</a:t>
            </a:r>
          </a:p>
          <a:p>
            <a:pPr algn="just">
              <a:buClr>
                <a:schemeClr val="accent5">
                  <a:lumMod val="75000"/>
                </a:schemeClr>
              </a:buClr>
            </a:pPr>
            <a:r>
              <a:rPr lang="en-IN" sz="2400">
                <a:solidFill>
                  <a:schemeClr val="bg1"/>
                </a:solidFill>
                <a:latin typeface="Tw Cen MT" panose="020B0602020104020603" pitchFamily="34" charset="0"/>
                <a:cs typeface="Segoe UI" panose="020B0502040204020203" pitchFamily="34" charset="0"/>
              </a:rPr>
              <a:t>	- </a:t>
            </a:r>
            <a:r>
              <a:rPr lang="en-IN" sz="2400">
                <a:solidFill>
                  <a:srgbClr val="C00000"/>
                </a:solidFill>
                <a:latin typeface="Tw Cen MT" panose="020B0602020104020603" pitchFamily="34" charset="0"/>
                <a:cs typeface="Segoe UI" panose="020B0502040204020203" pitchFamily="34" charset="0"/>
              </a:rPr>
              <a:t>Identifier</a:t>
            </a:r>
            <a:r>
              <a:rPr lang="en-IN" sz="2400">
                <a:solidFill>
                  <a:schemeClr val="bg1"/>
                </a:solidFill>
                <a:latin typeface="Tw Cen MT" panose="020B0602020104020603" pitchFamily="34" charset="0"/>
                <a:cs typeface="Segoe UI" panose="020B0502040204020203" pitchFamily="34" charset="0"/>
              </a:rPr>
              <a:t>: User defined name to access the specified serial port</a:t>
            </a:r>
          </a:p>
          <a:p>
            <a:pPr algn="just">
              <a:buClr>
                <a:schemeClr val="accent5">
                  <a:lumMod val="75000"/>
                </a:schemeClr>
              </a:buClr>
            </a:pPr>
            <a:r>
              <a:rPr lang="en-IN" sz="2400">
                <a:solidFill>
                  <a:schemeClr val="bg1"/>
                </a:solidFill>
                <a:latin typeface="Tw Cen MT" panose="020B0602020104020603" pitchFamily="34" charset="0"/>
                <a:cs typeface="Segoe UI" panose="020B0502040204020203" pitchFamily="34" charset="0"/>
              </a:rPr>
              <a:t>	- </a:t>
            </a:r>
            <a:r>
              <a:rPr lang="en-IN" sz="2400" err="1">
                <a:solidFill>
                  <a:srgbClr val="C00000"/>
                </a:solidFill>
                <a:latin typeface="Tw Cen MT" panose="020B0602020104020603" pitchFamily="34" charset="0"/>
                <a:cs typeface="Segoe UI" panose="020B0502040204020203" pitchFamily="34" charset="0"/>
              </a:rPr>
              <a:t>PinName</a:t>
            </a:r>
            <a:r>
              <a:rPr lang="en-IN" sz="2400">
                <a:solidFill>
                  <a:srgbClr val="C00000"/>
                </a:solidFill>
                <a:latin typeface="Tw Cen MT" panose="020B0602020104020603" pitchFamily="34" charset="0"/>
                <a:cs typeface="Segoe UI" panose="020B0502040204020203" pitchFamily="34" charset="0"/>
              </a:rPr>
              <a:t> </a:t>
            </a:r>
            <a:r>
              <a:rPr lang="en-IN" sz="2400" err="1">
                <a:solidFill>
                  <a:srgbClr val="C00000"/>
                </a:solidFill>
                <a:latin typeface="Tw Cen MT" panose="020B0602020104020603" pitchFamily="34" charset="0"/>
                <a:cs typeface="Segoe UI" panose="020B0502040204020203" pitchFamily="34" charset="0"/>
              </a:rPr>
              <a:t>Tx</a:t>
            </a:r>
            <a:r>
              <a:rPr lang="en-IN" sz="2400">
                <a:solidFill>
                  <a:schemeClr val="bg1"/>
                </a:solidFill>
                <a:latin typeface="Tw Cen MT" panose="020B0602020104020603" pitchFamily="34" charset="0"/>
                <a:cs typeface="Segoe UI" panose="020B0502040204020203" pitchFamily="34" charset="0"/>
              </a:rPr>
              <a:t>: Name of the pins as specified in the Nucleo board for serial transit</a:t>
            </a:r>
          </a:p>
          <a:p>
            <a:pPr algn="just">
              <a:buClr>
                <a:schemeClr val="accent5">
                  <a:lumMod val="75000"/>
                </a:schemeClr>
              </a:buClr>
            </a:pPr>
            <a:r>
              <a:rPr lang="en-IN" sz="2400">
                <a:solidFill>
                  <a:schemeClr val="bg1"/>
                </a:solidFill>
                <a:latin typeface="Tw Cen MT" panose="020B0602020104020603" pitchFamily="34" charset="0"/>
                <a:cs typeface="Segoe UI" panose="020B0502040204020203" pitchFamily="34" charset="0"/>
              </a:rPr>
              <a:t>	- </a:t>
            </a:r>
            <a:r>
              <a:rPr lang="en-IN" sz="2400" err="1">
                <a:solidFill>
                  <a:srgbClr val="C00000"/>
                </a:solidFill>
                <a:latin typeface="Tw Cen MT" panose="020B0602020104020603" pitchFamily="34" charset="0"/>
                <a:cs typeface="Segoe UI" panose="020B0502040204020203" pitchFamily="34" charset="0"/>
              </a:rPr>
              <a:t>PinName</a:t>
            </a:r>
            <a:r>
              <a:rPr lang="en-IN" sz="2400">
                <a:solidFill>
                  <a:srgbClr val="C00000"/>
                </a:solidFill>
                <a:latin typeface="Tw Cen MT" panose="020B0602020104020603" pitchFamily="34" charset="0"/>
                <a:cs typeface="Segoe UI" panose="020B0502040204020203" pitchFamily="34" charset="0"/>
              </a:rPr>
              <a:t> Rx</a:t>
            </a:r>
            <a:r>
              <a:rPr lang="en-IN" sz="2400">
                <a:solidFill>
                  <a:schemeClr val="bg1"/>
                </a:solidFill>
                <a:latin typeface="Tw Cen MT" panose="020B0602020104020603" pitchFamily="34" charset="0"/>
                <a:cs typeface="Segoe UI" panose="020B0502040204020203" pitchFamily="34" charset="0"/>
              </a:rPr>
              <a:t>: Name of the pins as specified in the Nucleo board for serial receive</a:t>
            </a:r>
          </a:p>
          <a:p>
            <a:pPr algn="just">
              <a:buClr>
                <a:schemeClr val="accent5">
                  <a:lumMod val="75000"/>
                </a:schemeClr>
              </a:buClr>
            </a:pPr>
            <a:r>
              <a:rPr lang="en-IN" sz="2400">
                <a:solidFill>
                  <a:srgbClr val="C00000"/>
                </a:solidFill>
                <a:latin typeface="Tw Cen MT" panose="020B0602020104020603" pitchFamily="34" charset="0"/>
                <a:cs typeface="Segoe UI" panose="020B0502040204020203" pitchFamily="34" charset="0"/>
              </a:rPr>
              <a:t>	- Examples: 	Serial BT(PC_10, PC_11, 9600);   </a:t>
            </a:r>
            <a:r>
              <a:rPr lang="en-IN" sz="2400">
                <a:solidFill>
                  <a:schemeClr val="bg1"/>
                </a:solidFill>
                <a:latin typeface="Tw Cen MT" panose="020B0602020104020603" pitchFamily="34" charset="0"/>
                <a:cs typeface="Segoe UI" panose="020B0502040204020203" pitchFamily="34" charset="0"/>
              </a:rPr>
              <a:t>//Accessing serial port 4 of the 							Nucleo L152RE board with 9600 as baud rate</a:t>
            </a:r>
          </a:p>
          <a:p>
            <a:pPr marL="457200" indent="-457200" algn="just">
              <a:buClr>
                <a:schemeClr val="accent5">
                  <a:lumMod val="75000"/>
                </a:schemeClr>
              </a:buClr>
              <a:buFont typeface="Wingdings" panose="05000000000000000000" pitchFamily="2" charset="2"/>
              <a:buChar char="Ø"/>
            </a:pPr>
            <a:endParaRPr lang="en-IN" sz="1200">
              <a:solidFill>
                <a:srgbClr val="C00000"/>
              </a:solidFill>
              <a:latin typeface="Tw Cen MT" panose="020B0602020104020603" pitchFamily="34" charset="0"/>
              <a:cs typeface="Segoe UI" panose="020B0502040204020203" pitchFamily="34" charset="0"/>
            </a:endParaRPr>
          </a:p>
          <a:p>
            <a:pPr marL="457200" indent="-457200" algn="just">
              <a:buClr>
                <a:schemeClr val="accent5">
                  <a:lumMod val="75000"/>
                </a:schemeClr>
              </a:buClr>
              <a:buFont typeface="Wingdings" panose="05000000000000000000" pitchFamily="2" charset="2"/>
              <a:buChar char="Ø"/>
            </a:pPr>
            <a:r>
              <a:rPr lang="en-IN" sz="2400">
                <a:solidFill>
                  <a:srgbClr val="C00000"/>
                </a:solidFill>
                <a:latin typeface="Tw Cen MT" panose="020B0602020104020603" pitchFamily="34" charset="0"/>
                <a:cs typeface="Segoe UI" panose="020B0502040204020203" pitchFamily="34" charset="0"/>
              </a:rPr>
              <a:t>Serial Identifier(USBTX, USBRX) </a:t>
            </a:r>
            <a:r>
              <a:rPr lang="en-IN" sz="2400">
                <a:solidFill>
                  <a:schemeClr val="bg1"/>
                </a:solidFill>
                <a:latin typeface="Tw Cen MT" panose="020B0602020104020603" pitchFamily="34" charset="0"/>
                <a:cs typeface="Segoe UI" panose="020B0502040204020203" pitchFamily="34" charset="0"/>
              </a:rPr>
              <a:t>-  Used to access “USB Virtual Serial Port” </a:t>
            </a:r>
          </a:p>
          <a:p>
            <a:pPr algn="just">
              <a:buClr>
                <a:schemeClr val="accent5">
                  <a:lumMod val="75000"/>
                </a:schemeClr>
              </a:buClr>
            </a:pPr>
            <a:r>
              <a:rPr lang="en-IN" sz="2400">
                <a:solidFill>
                  <a:schemeClr val="bg1"/>
                </a:solidFill>
                <a:latin typeface="Tw Cen MT" panose="020B0602020104020603" pitchFamily="34" charset="0"/>
                <a:cs typeface="Segoe UI" panose="020B0502040204020203" pitchFamily="34" charset="0"/>
              </a:rPr>
              <a:t>	- </a:t>
            </a:r>
            <a:r>
              <a:rPr lang="en-IN" sz="2400">
                <a:solidFill>
                  <a:srgbClr val="C00000"/>
                </a:solidFill>
                <a:latin typeface="Tw Cen MT" panose="020B0602020104020603" pitchFamily="34" charset="0"/>
                <a:cs typeface="Segoe UI" panose="020B0502040204020203" pitchFamily="34" charset="0"/>
              </a:rPr>
              <a:t>Identifier</a:t>
            </a:r>
            <a:r>
              <a:rPr lang="en-IN" sz="2400">
                <a:solidFill>
                  <a:schemeClr val="bg1"/>
                </a:solidFill>
                <a:latin typeface="Tw Cen MT" panose="020B0602020104020603" pitchFamily="34" charset="0"/>
                <a:cs typeface="Segoe UI" panose="020B0502040204020203" pitchFamily="34" charset="0"/>
              </a:rPr>
              <a:t>: User defined name to access this USB Virtual Serial Port </a:t>
            </a:r>
          </a:p>
          <a:p>
            <a:pPr algn="just">
              <a:buClr>
                <a:schemeClr val="accent5">
                  <a:lumMod val="75000"/>
                </a:schemeClr>
              </a:buClr>
            </a:pPr>
            <a:r>
              <a:rPr lang="en-IN" sz="2400">
                <a:solidFill>
                  <a:schemeClr val="bg1"/>
                </a:solidFill>
                <a:latin typeface="Tw Cen MT" panose="020B0602020104020603" pitchFamily="34" charset="0"/>
                <a:cs typeface="Segoe UI" panose="020B0502040204020203" pitchFamily="34" charset="0"/>
              </a:rPr>
              <a:t>	- </a:t>
            </a:r>
            <a:r>
              <a:rPr lang="en-IN" sz="2400">
                <a:solidFill>
                  <a:srgbClr val="C00000"/>
                </a:solidFill>
                <a:latin typeface="Tw Cen MT" panose="020B0602020104020603" pitchFamily="34" charset="0"/>
                <a:cs typeface="Segoe UI" panose="020B0502040204020203" pitchFamily="34" charset="0"/>
              </a:rPr>
              <a:t>Examples: 	 Serial pc(USBTX, USBRX);   </a:t>
            </a:r>
            <a:r>
              <a:rPr lang="en-IN" sz="2400">
                <a:solidFill>
                  <a:schemeClr val="bg1"/>
                </a:solidFill>
                <a:latin typeface="Tw Cen MT" panose="020B0602020104020603" pitchFamily="34" charset="0"/>
                <a:cs typeface="Segoe UI" panose="020B0502040204020203" pitchFamily="34" charset="0"/>
              </a:rPr>
              <a:t>//Accessing USB Virtual Serial Port using 							the identifier name pc </a:t>
            </a:r>
          </a:p>
          <a:p>
            <a:pPr marL="342900" indent="-342900" algn="just">
              <a:buClr>
                <a:schemeClr val="accent5">
                  <a:lumMod val="75000"/>
                </a:schemeClr>
              </a:buClr>
              <a:buFont typeface="Wingdings" panose="05000000000000000000" pitchFamily="2" charset="2"/>
              <a:buChar char="Ø"/>
            </a:pPr>
            <a:endParaRPr lang="en-IN" sz="1200">
              <a:solidFill>
                <a:srgbClr val="C00000"/>
              </a:solidFill>
              <a:latin typeface="Tw Cen MT" panose="020B0602020104020603" pitchFamily="34" charset="0"/>
              <a:cs typeface="Segoe UI" panose="020B0502040204020203" pitchFamily="34" charset="0"/>
            </a:endParaRPr>
          </a:p>
          <a:p>
            <a:pPr marL="342900" indent="-342900" algn="just">
              <a:buClr>
                <a:schemeClr val="accent5">
                  <a:lumMod val="75000"/>
                </a:schemeClr>
              </a:buClr>
              <a:buFont typeface="Wingdings" panose="05000000000000000000" pitchFamily="2" charset="2"/>
              <a:buChar char="Ø"/>
            </a:pPr>
            <a:r>
              <a:rPr lang="en-IN" sz="2400" err="1">
                <a:solidFill>
                  <a:srgbClr val="C00000"/>
                </a:solidFill>
                <a:latin typeface="Tw Cen MT" panose="020B0602020104020603" pitchFamily="34" charset="0"/>
                <a:cs typeface="Segoe UI" panose="020B0502040204020203" pitchFamily="34" charset="0"/>
              </a:rPr>
              <a:t>putc</a:t>
            </a:r>
            <a:r>
              <a:rPr lang="en-IN" sz="2400">
                <a:solidFill>
                  <a:srgbClr val="C00000"/>
                </a:solidFill>
                <a:latin typeface="Tw Cen MT" panose="020B0602020104020603" pitchFamily="34" charset="0"/>
                <a:cs typeface="Segoe UI" panose="020B0502040204020203" pitchFamily="34" charset="0"/>
              </a:rPr>
              <a:t> </a:t>
            </a:r>
            <a:r>
              <a:rPr lang="en-IN" sz="2400">
                <a:solidFill>
                  <a:schemeClr val="bg1"/>
                </a:solidFill>
                <a:latin typeface="Tw Cen MT" panose="020B0602020104020603" pitchFamily="34" charset="0"/>
                <a:cs typeface="Segoe UI" panose="020B0502040204020203" pitchFamily="34" charset="0"/>
              </a:rPr>
              <a:t>-  Used to send a character from Nucleo board to host PC </a:t>
            </a:r>
          </a:p>
          <a:p>
            <a:pPr marL="342900" indent="-342900" algn="just">
              <a:buClr>
                <a:schemeClr val="accent5">
                  <a:lumMod val="75000"/>
                </a:schemeClr>
              </a:buClr>
              <a:buFont typeface="Wingdings" panose="05000000000000000000" pitchFamily="2" charset="2"/>
              <a:buChar char="Ø"/>
            </a:pPr>
            <a:endParaRPr lang="en-IN" sz="1200">
              <a:solidFill>
                <a:srgbClr val="C00000"/>
              </a:solidFill>
              <a:latin typeface="Tw Cen MT" panose="020B0602020104020603" pitchFamily="34" charset="0"/>
              <a:cs typeface="Segoe UI" panose="020B0502040204020203" pitchFamily="34" charset="0"/>
            </a:endParaRPr>
          </a:p>
          <a:p>
            <a:pPr marL="342900" indent="-342900" algn="just">
              <a:buClr>
                <a:schemeClr val="accent5">
                  <a:lumMod val="75000"/>
                </a:schemeClr>
              </a:buClr>
              <a:buFont typeface="Wingdings" panose="05000000000000000000" pitchFamily="2" charset="2"/>
              <a:buChar char="Ø"/>
            </a:pPr>
            <a:r>
              <a:rPr lang="en-IN" sz="2400" err="1">
                <a:solidFill>
                  <a:srgbClr val="C00000"/>
                </a:solidFill>
                <a:latin typeface="Tw Cen MT" panose="020B0602020104020603" pitchFamily="34" charset="0"/>
                <a:cs typeface="Segoe UI" panose="020B0502040204020203" pitchFamily="34" charset="0"/>
              </a:rPr>
              <a:t>getc</a:t>
            </a:r>
            <a:r>
              <a:rPr lang="en-IN" sz="2400">
                <a:solidFill>
                  <a:srgbClr val="C00000"/>
                </a:solidFill>
                <a:latin typeface="Tw Cen MT" panose="020B0602020104020603" pitchFamily="34" charset="0"/>
                <a:cs typeface="Segoe UI" panose="020B0502040204020203" pitchFamily="34" charset="0"/>
              </a:rPr>
              <a:t> </a:t>
            </a:r>
            <a:r>
              <a:rPr lang="en-IN" sz="2400">
                <a:solidFill>
                  <a:schemeClr val="bg1"/>
                </a:solidFill>
                <a:latin typeface="Tw Cen MT" panose="020B0602020104020603" pitchFamily="34" charset="0"/>
                <a:cs typeface="Segoe UI" panose="020B0502040204020203" pitchFamily="34" charset="0"/>
              </a:rPr>
              <a:t>-  Used to read a character from host PC to Nucleo board</a:t>
            </a:r>
          </a:p>
        </p:txBody>
      </p:sp>
    </p:spTree>
    <p:extLst>
      <p:ext uri="{BB962C8B-B14F-4D97-AF65-F5344CB8AC3E}">
        <p14:creationId xmlns:p14="http://schemas.microsoft.com/office/powerpoint/2010/main" val="29919707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ounded Rectangle 4"/>
          <p:cNvSpPr/>
          <p:nvPr/>
        </p:nvSpPr>
        <p:spPr>
          <a:xfrm>
            <a:off x="1199161" y="318649"/>
            <a:ext cx="9781309" cy="678872"/>
          </a:xfrm>
          <a:prstGeom prst="roundRect">
            <a:avLst/>
          </a:prstGeom>
          <a:solidFill>
            <a:schemeClr val="bg1"/>
          </a:solidFill>
          <a:ln w="28575">
            <a:solidFill>
              <a:schemeClr val="accent5"/>
            </a:solidFill>
          </a:ln>
          <a:effectLst/>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3600" b="1">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Century Gothic" pitchFamily="34" charset="0"/>
                <a:cs typeface="Aharoni" pitchFamily="2" charset="-79"/>
              </a:rPr>
              <a:t>LAB TASK-1</a:t>
            </a:r>
          </a:p>
        </p:txBody>
      </p:sp>
      <p:sp>
        <p:nvSpPr>
          <p:cNvPr id="8" name="TextBox 7"/>
          <p:cNvSpPr txBox="1"/>
          <p:nvPr/>
        </p:nvSpPr>
        <p:spPr>
          <a:xfrm>
            <a:off x="293687" y="911418"/>
            <a:ext cx="11592251" cy="3139321"/>
          </a:xfrm>
          <a:prstGeom prst="rect">
            <a:avLst/>
          </a:prstGeom>
          <a:noFill/>
        </p:spPr>
        <p:txBody>
          <a:bodyPr wrap="square" rtlCol="0">
            <a:spAutoFit/>
          </a:bodyPr>
          <a:lstStyle/>
          <a:p>
            <a:pPr algn="ctr">
              <a:lnSpc>
                <a:spcPct val="150000"/>
              </a:lnSpc>
              <a:buClr>
                <a:schemeClr val="accent5">
                  <a:lumMod val="75000"/>
                </a:schemeClr>
              </a:buClr>
            </a:pPr>
            <a:r>
              <a:rPr lang="en-IN" sz="2800" b="1">
                <a:solidFill>
                  <a:srgbClr val="C00000"/>
                </a:solidFill>
                <a:latin typeface="Tw Cen MT" panose="020B0602020104020603" pitchFamily="34" charset="0"/>
                <a:cs typeface="Segoe UI" panose="020B0502040204020203" pitchFamily="34" charset="0"/>
              </a:rPr>
              <a:t>Controlling on-board LED using USB Virtual serial port </a:t>
            </a:r>
          </a:p>
          <a:p>
            <a:pPr algn="just">
              <a:lnSpc>
                <a:spcPct val="150000"/>
              </a:lnSpc>
              <a:buClr>
                <a:schemeClr val="accent5">
                  <a:lumMod val="75000"/>
                </a:schemeClr>
              </a:buClr>
            </a:pPr>
            <a:r>
              <a:rPr lang="en-IN" sz="2600">
                <a:solidFill>
                  <a:schemeClr val="bg1"/>
                </a:solidFill>
                <a:latin typeface="Tw Cen MT" panose="020B0602020104020603" pitchFamily="34" charset="0"/>
                <a:cs typeface="Segoe UI" panose="020B0502040204020203" pitchFamily="34" charset="0"/>
              </a:rPr>
              <a:t>Write a C++ code with </a:t>
            </a:r>
            <a:r>
              <a:rPr lang="en-IN" sz="2600" err="1">
                <a:solidFill>
                  <a:schemeClr val="bg1"/>
                </a:solidFill>
                <a:latin typeface="Tw Cen MT" panose="020B0602020104020603" pitchFamily="34" charset="0"/>
                <a:cs typeface="Segoe UI" panose="020B0502040204020203" pitchFamily="34" charset="0"/>
              </a:rPr>
              <a:t>mbed</a:t>
            </a:r>
            <a:r>
              <a:rPr lang="en-IN" sz="2600">
                <a:solidFill>
                  <a:schemeClr val="bg1"/>
                </a:solidFill>
                <a:latin typeface="Tw Cen MT" panose="020B0602020104020603" pitchFamily="34" charset="0"/>
                <a:cs typeface="Segoe UI" panose="020B0502040204020203" pitchFamily="34" charset="0"/>
              </a:rPr>
              <a:t> APIs to receive a character (H) from PC via host terminal application (</a:t>
            </a:r>
            <a:r>
              <a:rPr lang="en-IN" sz="2600" err="1">
                <a:solidFill>
                  <a:schemeClr val="bg1"/>
                </a:solidFill>
                <a:latin typeface="Tw Cen MT" panose="020B0602020104020603" pitchFamily="34" charset="0"/>
                <a:cs typeface="Segoe UI" panose="020B0502040204020203" pitchFamily="34" charset="0"/>
              </a:rPr>
              <a:t>Tera</a:t>
            </a:r>
            <a:r>
              <a:rPr lang="en-IN" sz="2600">
                <a:solidFill>
                  <a:schemeClr val="bg1"/>
                </a:solidFill>
                <a:latin typeface="Tw Cen MT" panose="020B0602020104020603" pitchFamily="34" charset="0"/>
                <a:cs typeface="Segoe UI" panose="020B0502040204020203" pitchFamily="34" charset="0"/>
              </a:rPr>
              <a:t> term) &amp; switch ON the LED.  For all other character LED1 must be in OFF state. Implement and verify this logic on the STM32 Nucleo-64  board using </a:t>
            </a:r>
            <a:r>
              <a:rPr lang="en-IN" sz="2600" err="1">
                <a:solidFill>
                  <a:schemeClr val="bg1"/>
                </a:solidFill>
                <a:latin typeface="Tw Cen MT" panose="020B0602020104020603" pitchFamily="34" charset="0"/>
                <a:cs typeface="Segoe UI" panose="020B0502040204020203" pitchFamily="34" charset="0"/>
              </a:rPr>
              <a:t>Keil</a:t>
            </a:r>
            <a:r>
              <a:rPr lang="en-IN" sz="2600">
                <a:solidFill>
                  <a:schemeClr val="bg1"/>
                </a:solidFill>
                <a:latin typeface="Tw Cen MT" panose="020B0602020104020603" pitchFamily="34" charset="0"/>
                <a:cs typeface="Segoe UI" panose="020B0502040204020203" pitchFamily="34" charset="0"/>
              </a:rPr>
              <a:t> Studio Cloud IDE. </a:t>
            </a:r>
            <a:endParaRPr lang="en-IN" sz="2800">
              <a:solidFill>
                <a:schemeClr val="bg1"/>
              </a:solidFill>
              <a:latin typeface="Tw Cen MT" panose="020B0602020104020603" pitchFamily="34" charset="0"/>
              <a:cs typeface="Segoe UI" panose="020B0502040204020203" pitchFamily="34" charset="0"/>
            </a:endParaRPr>
          </a:p>
        </p:txBody>
      </p:sp>
      <p:sp>
        <p:nvSpPr>
          <p:cNvPr id="10" name="Round Same Side Corner Rectangle 9"/>
          <p:cNvSpPr/>
          <p:nvPr/>
        </p:nvSpPr>
        <p:spPr>
          <a:xfrm>
            <a:off x="140031" y="130792"/>
            <a:ext cx="11899570" cy="6457750"/>
          </a:xfrm>
          <a:prstGeom prst="round2SameRect">
            <a:avLst/>
          </a:prstGeom>
          <a:noFill/>
          <a:ln w="38100">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2" name="Pentagon 11"/>
          <p:cNvSpPr/>
          <p:nvPr/>
        </p:nvSpPr>
        <p:spPr>
          <a:xfrm flipH="1">
            <a:off x="11651719" y="6650218"/>
            <a:ext cx="502920" cy="182880"/>
          </a:xfrm>
          <a:prstGeom prst="homePlate">
            <a:avLst/>
          </a:prstGeom>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400" b="1">
                <a:solidFill>
                  <a:schemeClr val="bg1"/>
                </a:solidFill>
                <a:latin typeface="Century Gothic" panose="020B0502020202020204" pitchFamily="34" charset="0"/>
              </a:rPr>
              <a:t>8</a:t>
            </a:r>
          </a:p>
        </p:txBody>
      </p:sp>
      <p:sp>
        <p:nvSpPr>
          <p:cNvPr id="7" name="TextBox 6"/>
          <p:cNvSpPr txBox="1"/>
          <p:nvPr/>
        </p:nvSpPr>
        <p:spPr>
          <a:xfrm>
            <a:off x="4036292" y="6587769"/>
            <a:ext cx="3931948" cy="307777"/>
          </a:xfrm>
          <a:prstGeom prst="rect">
            <a:avLst/>
          </a:prstGeom>
          <a:noFill/>
        </p:spPr>
        <p:txBody>
          <a:bodyPr wrap="square" rtlCol="0">
            <a:spAutoFit/>
          </a:bodyPr>
          <a:lstStyle/>
          <a:p>
            <a:pPr algn="ctr"/>
            <a:r>
              <a:rPr lang="en-US" sz="1400" b="1">
                <a:solidFill>
                  <a:srgbClr val="663300"/>
                </a:solidFill>
                <a:latin typeface="Century Gothic" panose="020B0502020202020204" pitchFamily="34" charset="0"/>
              </a:rPr>
              <a:t>BECE403E-Embedded Systems Design Lab</a:t>
            </a:r>
          </a:p>
        </p:txBody>
      </p:sp>
      <p:sp>
        <p:nvSpPr>
          <p:cNvPr id="11" name="TextBox 10"/>
          <p:cNvSpPr txBox="1"/>
          <p:nvPr/>
        </p:nvSpPr>
        <p:spPr>
          <a:xfrm>
            <a:off x="46422" y="6588542"/>
            <a:ext cx="855622" cy="307777"/>
          </a:xfrm>
          <a:prstGeom prst="rect">
            <a:avLst/>
          </a:prstGeom>
          <a:noFill/>
        </p:spPr>
        <p:txBody>
          <a:bodyPr wrap="square" rtlCol="0">
            <a:spAutoFit/>
          </a:bodyPr>
          <a:lstStyle/>
          <a:p>
            <a:r>
              <a:rPr lang="en-US" sz="1400" b="1">
                <a:solidFill>
                  <a:srgbClr val="663300"/>
                </a:solidFill>
                <a:latin typeface="Century Gothic" panose="020B0502020202020204" pitchFamily="34" charset="0"/>
              </a:rPr>
              <a:t>LAB - 4</a:t>
            </a:r>
          </a:p>
        </p:txBody>
      </p:sp>
    </p:spTree>
    <p:extLst>
      <p:ext uri="{BB962C8B-B14F-4D97-AF65-F5344CB8AC3E}">
        <p14:creationId xmlns:p14="http://schemas.microsoft.com/office/powerpoint/2010/main" val="23077340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ounded Rectangle 4"/>
          <p:cNvSpPr/>
          <p:nvPr/>
        </p:nvSpPr>
        <p:spPr>
          <a:xfrm>
            <a:off x="1199161" y="318649"/>
            <a:ext cx="9781309" cy="678872"/>
          </a:xfrm>
          <a:prstGeom prst="roundRect">
            <a:avLst/>
          </a:prstGeom>
          <a:solidFill>
            <a:schemeClr val="bg1"/>
          </a:solidFill>
          <a:ln w="28575">
            <a:solidFill>
              <a:schemeClr val="accent5"/>
            </a:solidFill>
          </a:ln>
          <a:effectLst/>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3600" b="1">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Century Gothic" pitchFamily="34" charset="0"/>
                <a:cs typeface="Aharoni" pitchFamily="2" charset="-79"/>
              </a:rPr>
              <a:t>LAB TASK-1</a:t>
            </a:r>
          </a:p>
        </p:txBody>
      </p:sp>
      <p:sp>
        <p:nvSpPr>
          <p:cNvPr id="8" name="TextBox 7"/>
          <p:cNvSpPr txBox="1"/>
          <p:nvPr/>
        </p:nvSpPr>
        <p:spPr>
          <a:xfrm>
            <a:off x="293689" y="1135950"/>
            <a:ext cx="11592251" cy="523220"/>
          </a:xfrm>
          <a:prstGeom prst="rect">
            <a:avLst/>
          </a:prstGeom>
          <a:noFill/>
        </p:spPr>
        <p:txBody>
          <a:bodyPr wrap="square" rtlCol="0">
            <a:spAutoFit/>
          </a:bodyPr>
          <a:lstStyle/>
          <a:p>
            <a:pPr algn="just">
              <a:buClr>
                <a:schemeClr val="accent5">
                  <a:lumMod val="75000"/>
                </a:schemeClr>
              </a:buClr>
            </a:pPr>
            <a:r>
              <a:rPr lang="en-IN" sz="2800" b="1" u="sng">
                <a:solidFill>
                  <a:srgbClr val="C00000"/>
                </a:solidFill>
                <a:latin typeface="Tw Cen MT" panose="020B0602020104020603" pitchFamily="34" charset="0"/>
                <a:cs typeface="Segoe UI" panose="020B0502040204020203" pitchFamily="34" charset="0"/>
              </a:rPr>
              <a:t>Program:</a:t>
            </a:r>
            <a:r>
              <a:rPr lang="en-IN" sz="2800" b="1">
                <a:solidFill>
                  <a:srgbClr val="C00000"/>
                </a:solidFill>
                <a:latin typeface="Tw Cen MT" panose="020B0602020104020603" pitchFamily="34" charset="0"/>
                <a:cs typeface="Segoe UI" panose="020B0502040204020203" pitchFamily="34" charset="0"/>
              </a:rPr>
              <a:t>							</a:t>
            </a:r>
            <a:endParaRPr lang="en-IN" sz="2800" b="1" u="sng">
              <a:solidFill>
                <a:srgbClr val="C00000"/>
              </a:solidFill>
              <a:latin typeface="Tw Cen MT" panose="020B0602020104020603" pitchFamily="34" charset="0"/>
              <a:cs typeface="Segoe UI" panose="020B0502040204020203" pitchFamily="34" charset="0"/>
            </a:endParaRPr>
          </a:p>
        </p:txBody>
      </p:sp>
      <p:sp>
        <p:nvSpPr>
          <p:cNvPr id="10" name="Round Same Side Corner Rectangle 9"/>
          <p:cNvSpPr/>
          <p:nvPr/>
        </p:nvSpPr>
        <p:spPr>
          <a:xfrm>
            <a:off x="140031" y="130792"/>
            <a:ext cx="11899570" cy="6457750"/>
          </a:xfrm>
          <a:prstGeom prst="round2SameRect">
            <a:avLst/>
          </a:prstGeom>
          <a:noFill/>
          <a:ln w="38100">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2" name="Pentagon 11"/>
          <p:cNvSpPr/>
          <p:nvPr/>
        </p:nvSpPr>
        <p:spPr>
          <a:xfrm flipH="1">
            <a:off x="11651719" y="6650218"/>
            <a:ext cx="502920" cy="182880"/>
          </a:xfrm>
          <a:prstGeom prst="homePlate">
            <a:avLst/>
          </a:prstGeom>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400" b="1">
                <a:solidFill>
                  <a:schemeClr val="bg1"/>
                </a:solidFill>
                <a:latin typeface="Century Gothic" panose="020B0502020202020204" pitchFamily="34" charset="0"/>
              </a:rPr>
              <a:t>10</a:t>
            </a:r>
          </a:p>
        </p:txBody>
      </p:sp>
      <p:sp>
        <p:nvSpPr>
          <p:cNvPr id="7" name="TextBox 6"/>
          <p:cNvSpPr txBox="1"/>
          <p:nvPr/>
        </p:nvSpPr>
        <p:spPr>
          <a:xfrm>
            <a:off x="4010712" y="6607307"/>
            <a:ext cx="3996603" cy="307777"/>
          </a:xfrm>
          <a:prstGeom prst="rect">
            <a:avLst/>
          </a:prstGeom>
          <a:noFill/>
        </p:spPr>
        <p:txBody>
          <a:bodyPr wrap="square" rtlCol="0">
            <a:spAutoFit/>
          </a:bodyPr>
          <a:lstStyle/>
          <a:p>
            <a:pPr algn="ctr"/>
            <a:r>
              <a:rPr lang="en-US" sz="1400" b="1">
                <a:solidFill>
                  <a:srgbClr val="663300"/>
                </a:solidFill>
                <a:latin typeface="Century Gothic" panose="020B0502020202020204" pitchFamily="34" charset="0"/>
              </a:rPr>
              <a:t>BECE403E-Embedded Systems Design Lab</a:t>
            </a:r>
          </a:p>
        </p:txBody>
      </p:sp>
      <p:sp>
        <p:nvSpPr>
          <p:cNvPr id="11" name="TextBox 10"/>
          <p:cNvSpPr txBox="1"/>
          <p:nvPr/>
        </p:nvSpPr>
        <p:spPr>
          <a:xfrm>
            <a:off x="46422" y="6588542"/>
            <a:ext cx="855622" cy="307777"/>
          </a:xfrm>
          <a:prstGeom prst="rect">
            <a:avLst/>
          </a:prstGeom>
          <a:noFill/>
        </p:spPr>
        <p:txBody>
          <a:bodyPr wrap="square" rtlCol="0">
            <a:spAutoFit/>
          </a:bodyPr>
          <a:lstStyle/>
          <a:p>
            <a:r>
              <a:rPr lang="en-US" sz="1400" b="1">
                <a:solidFill>
                  <a:srgbClr val="663300"/>
                </a:solidFill>
                <a:latin typeface="Century Gothic" panose="020B0502020202020204" pitchFamily="34" charset="0"/>
              </a:rPr>
              <a:t>LAB - 4</a:t>
            </a:r>
          </a:p>
        </p:txBody>
      </p:sp>
      <p:pic>
        <p:nvPicPr>
          <p:cNvPr id="2" name="Picture 1"/>
          <p:cNvPicPr>
            <a:picLocks noChangeAspect="1"/>
          </p:cNvPicPr>
          <p:nvPr/>
        </p:nvPicPr>
        <p:blipFill>
          <a:blip r:embed="rId2"/>
          <a:stretch>
            <a:fillRect/>
          </a:stretch>
        </p:blipFill>
        <p:spPr>
          <a:xfrm>
            <a:off x="2938852" y="1282451"/>
            <a:ext cx="3922814" cy="5123568"/>
          </a:xfrm>
          <a:prstGeom prst="rect">
            <a:avLst/>
          </a:prstGeom>
        </p:spPr>
      </p:pic>
    </p:spTree>
    <p:extLst>
      <p:ext uri="{BB962C8B-B14F-4D97-AF65-F5344CB8AC3E}">
        <p14:creationId xmlns:p14="http://schemas.microsoft.com/office/powerpoint/2010/main" val="13154523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ounded Rectangle 4"/>
          <p:cNvSpPr/>
          <p:nvPr/>
        </p:nvSpPr>
        <p:spPr>
          <a:xfrm>
            <a:off x="1199161" y="318649"/>
            <a:ext cx="9781309" cy="678872"/>
          </a:xfrm>
          <a:prstGeom prst="roundRect">
            <a:avLst/>
          </a:prstGeom>
          <a:solidFill>
            <a:schemeClr val="bg1"/>
          </a:solidFill>
          <a:ln w="28575">
            <a:solidFill>
              <a:schemeClr val="accent5"/>
            </a:solidFill>
          </a:ln>
          <a:effectLst/>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3600" b="1">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Century Gothic" pitchFamily="34" charset="0"/>
                <a:cs typeface="Aharoni" pitchFamily="2" charset="-79"/>
              </a:rPr>
              <a:t>LAB TASK-2</a:t>
            </a:r>
          </a:p>
        </p:txBody>
      </p:sp>
      <p:sp>
        <p:nvSpPr>
          <p:cNvPr id="8" name="TextBox 7"/>
          <p:cNvSpPr txBox="1"/>
          <p:nvPr/>
        </p:nvSpPr>
        <p:spPr>
          <a:xfrm>
            <a:off x="293687" y="911418"/>
            <a:ext cx="11592251" cy="3139321"/>
          </a:xfrm>
          <a:prstGeom prst="rect">
            <a:avLst/>
          </a:prstGeom>
          <a:noFill/>
        </p:spPr>
        <p:txBody>
          <a:bodyPr wrap="square" rtlCol="0">
            <a:spAutoFit/>
          </a:bodyPr>
          <a:lstStyle/>
          <a:p>
            <a:pPr algn="ctr">
              <a:lnSpc>
                <a:spcPct val="150000"/>
              </a:lnSpc>
              <a:buClr>
                <a:schemeClr val="accent5">
                  <a:lumMod val="75000"/>
                </a:schemeClr>
              </a:buClr>
            </a:pPr>
            <a:r>
              <a:rPr lang="en-IN" sz="2800" b="1">
                <a:solidFill>
                  <a:srgbClr val="C00000"/>
                </a:solidFill>
                <a:latin typeface="Tw Cen MT" panose="020B0602020104020603" pitchFamily="34" charset="0"/>
                <a:cs typeface="Segoe UI" panose="020B0502040204020203" pitchFamily="34" charset="0"/>
              </a:rPr>
              <a:t>Increasing/Decreasing Brightness Using Serial Port </a:t>
            </a:r>
          </a:p>
          <a:p>
            <a:pPr algn="just">
              <a:buClr>
                <a:schemeClr val="accent5">
                  <a:lumMod val="75000"/>
                </a:schemeClr>
              </a:buClr>
            </a:pPr>
            <a:endParaRPr lang="en-IN" sz="1200">
              <a:solidFill>
                <a:schemeClr val="bg1"/>
              </a:solidFill>
              <a:latin typeface="Tw Cen MT" panose="020B0602020104020603" pitchFamily="34" charset="0"/>
              <a:cs typeface="Segoe UI" panose="020B0502040204020203" pitchFamily="34" charset="0"/>
            </a:endParaRPr>
          </a:p>
          <a:p>
            <a:pPr algn="just">
              <a:lnSpc>
                <a:spcPct val="150000"/>
              </a:lnSpc>
              <a:buClr>
                <a:schemeClr val="accent5">
                  <a:lumMod val="75000"/>
                </a:schemeClr>
              </a:buClr>
            </a:pPr>
            <a:r>
              <a:rPr lang="en-IN" sz="2400">
                <a:solidFill>
                  <a:schemeClr val="bg1"/>
                </a:solidFill>
                <a:latin typeface="Tw Cen MT" panose="020B0602020104020603" pitchFamily="34" charset="0"/>
                <a:cs typeface="Segoe UI" panose="020B0502040204020203" pitchFamily="34" charset="0"/>
              </a:rPr>
              <a:t>Write a C++ program with </a:t>
            </a:r>
            <a:r>
              <a:rPr lang="en-IN" sz="2400" err="1">
                <a:solidFill>
                  <a:schemeClr val="bg1"/>
                </a:solidFill>
                <a:latin typeface="Tw Cen MT" panose="020B0602020104020603" pitchFamily="34" charset="0"/>
                <a:cs typeface="Segoe UI" panose="020B0502040204020203" pitchFamily="34" charset="0"/>
              </a:rPr>
              <a:t>mbed</a:t>
            </a:r>
            <a:r>
              <a:rPr lang="en-IN" sz="2400">
                <a:solidFill>
                  <a:schemeClr val="bg1"/>
                </a:solidFill>
                <a:latin typeface="Tw Cen MT" panose="020B0602020104020603" pitchFamily="34" charset="0"/>
                <a:cs typeface="Segoe UI" panose="020B0502040204020203" pitchFamily="34" charset="0"/>
              </a:rPr>
              <a:t> APIs to gradually increase and decrease LED brightness by receiving a character (“</a:t>
            </a:r>
            <a:r>
              <a:rPr lang="en-IN" sz="2400" err="1">
                <a:solidFill>
                  <a:schemeClr val="bg1"/>
                </a:solidFill>
                <a:latin typeface="Tw Cen MT" panose="020B0602020104020603" pitchFamily="34" charset="0"/>
                <a:cs typeface="Segoe UI" panose="020B0502040204020203" pitchFamily="34" charset="0"/>
              </a:rPr>
              <a:t>i</a:t>
            </a:r>
            <a:r>
              <a:rPr lang="en-IN" sz="2400">
                <a:solidFill>
                  <a:schemeClr val="bg1"/>
                </a:solidFill>
                <a:latin typeface="Tw Cen MT" panose="020B0602020104020603" pitchFamily="34" charset="0"/>
                <a:cs typeface="Segoe UI" panose="020B0502040204020203" pitchFamily="34" charset="0"/>
              </a:rPr>
              <a:t>” for increase and “d” for decrease) from PC via host terminal application (</a:t>
            </a:r>
            <a:r>
              <a:rPr lang="en-IN" sz="2400" err="1">
                <a:solidFill>
                  <a:schemeClr val="bg1"/>
                </a:solidFill>
                <a:latin typeface="Tw Cen MT" panose="020B0602020104020603" pitchFamily="34" charset="0"/>
                <a:cs typeface="Segoe UI" panose="020B0502040204020203" pitchFamily="34" charset="0"/>
              </a:rPr>
              <a:t>Tera</a:t>
            </a:r>
            <a:r>
              <a:rPr lang="en-IN" sz="2400">
                <a:solidFill>
                  <a:schemeClr val="bg1"/>
                </a:solidFill>
                <a:latin typeface="Tw Cen MT" panose="020B0602020104020603" pitchFamily="34" charset="0"/>
                <a:cs typeface="Segoe UI" panose="020B0502040204020203" pitchFamily="34" charset="0"/>
              </a:rPr>
              <a:t> term) using PWM signal with variable duty cycle. Implement and verify this logic on the STM32 Nucleo-64  board using </a:t>
            </a:r>
            <a:r>
              <a:rPr lang="en-IN" sz="2400" err="1">
                <a:solidFill>
                  <a:schemeClr val="bg1"/>
                </a:solidFill>
                <a:latin typeface="Tw Cen MT" panose="020B0602020104020603" pitchFamily="34" charset="0"/>
                <a:cs typeface="Segoe UI" panose="020B0502040204020203" pitchFamily="34" charset="0"/>
              </a:rPr>
              <a:t>Keil</a:t>
            </a:r>
            <a:r>
              <a:rPr lang="en-IN" sz="2400">
                <a:solidFill>
                  <a:schemeClr val="bg1"/>
                </a:solidFill>
                <a:latin typeface="Tw Cen MT" panose="020B0602020104020603" pitchFamily="34" charset="0"/>
                <a:cs typeface="Segoe UI" panose="020B0502040204020203" pitchFamily="34" charset="0"/>
              </a:rPr>
              <a:t> Studio Cloud IDE. </a:t>
            </a:r>
          </a:p>
        </p:txBody>
      </p:sp>
      <p:sp>
        <p:nvSpPr>
          <p:cNvPr id="10" name="Round Same Side Corner Rectangle 9"/>
          <p:cNvSpPr/>
          <p:nvPr/>
        </p:nvSpPr>
        <p:spPr>
          <a:xfrm>
            <a:off x="140031" y="130792"/>
            <a:ext cx="11899570" cy="6457750"/>
          </a:xfrm>
          <a:prstGeom prst="round2SameRect">
            <a:avLst/>
          </a:prstGeom>
          <a:noFill/>
          <a:ln w="38100">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2" name="Pentagon 11"/>
          <p:cNvSpPr/>
          <p:nvPr/>
        </p:nvSpPr>
        <p:spPr>
          <a:xfrm flipH="1">
            <a:off x="11651719" y="6650218"/>
            <a:ext cx="502920" cy="182880"/>
          </a:xfrm>
          <a:prstGeom prst="homePlate">
            <a:avLst/>
          </a:prstGeom>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400" b="1">
                <a:solidFill>
                  <a:schemeClr val="bg1"/>
                </a:solidFill>
                <a:latin typeface="Century Gothic" panose="020B0502020202020204" pitchFamily="34" charset="0"/>
              </a:rPr>
              <a:t>8</a:t>
            </a:r>
          </a:p>
        </p:txBody>
      </p:sp>
      <p:sp>
        <p:nvSpPr>
          <p:cNvPr id="7" name="TextBox 6"/>
          <p:cNvSpPr txBox="1"/>
          <p:nvPr/>
        </p:nvSpPr>
        <p:spPr>
          <a:xfrm>
            <a:off x="4036292" y="6587769"/>
            <a:ext cx="3931948" cy="307777"/>
          </a:xfrm>
          <a:prstGeom prst="rect">
            <a:avLst/>
          </a:prstGeom>
          <a:noFill/>
        </p:spPr>
        <p:txBody>
          <a:bodyPr wrap="square" rtlCol="0">
            <a:spAutoFit/>
          </a:bodyPr>
          <a:lstStyle/>
          <a:p>
            <a:pPr algn="ctr"/>
            <a:r>
              <a:rPr lang="en-US" sz="1400" b="1">
                <a:solidFill>
                  <a:srgbClr val="663300"/>
                </a:solidFill>
                <a:latin typeface="Century Gothic" panose="020B0502020202020204" pitchFamily="34" charset="0"/>
              </a:rPr>
              <a:t>BECE403E-Embedded Systems Design Lab</a:t>
            </a:r>
          </a:p>
        </p:txBody>
      </p:sp>
      <p:sp>
        <p:nvSpPr>
          <p:cNvPr id="11" name="TextBox 10"/>
          <p:cNvSpPr txBox="1"/>
          <p:nvPr/>
        </p:nvSpPr>
        <p:spPr>
          <a:xfrm>
            <a:off x="46422" y="6588542"/>
            <a:ext cx="855622" cy="307777"/>
          </a:xfrm>
          <a:prstGeom prst="rect">
            <a:avLst/>
          </a:prstGeom>
          <a:noFill/>
        </p:spPr>
        <p:txBody>
          <a:bodyPr wrap="square" rtlCol="0">
            <a:spAutoFit/>
          </a:bodyPr>
          <a:lstStyle/>
          <a:p>
            <a:r>
              <a:rPr lang="en-US" sz="1400" b="1">
                <a:solidFill>
                  <a:srgbClr val="663300"/>
                </a:solidFill>
                <a:latin typeface="Century Gothic" panose="020B0502020202020204" pitchFamily="34" charset="0"/>
              </a:rPr>
              <a:t>LAB - 4</a:t>
            </a:r>
          </a:p>
        </p:txBody>
      </p:sp>
    </p:spTree>
    <p:extLst>
      <p:ext uri="{BB962C8B-B14F-4D97-AF65-F5344CB8AC3E}">
        <p14:creationId xmlns:p14="http://schemas.microsoft.com/office/powerpoint/2010/main" val="1067034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ounded Rectangle 4"/>
          <p:cNvSpPr/>
          <p:nvPr/>
        </p:nvSpPr>
        <p:spPr>
          <a:xfrm>
            <a:off x="1199161" y="318649"/>
            <a:ext cx="9781309" cy="678872"/>
          </a:xfrm>
          <a:prstGeom prst="roundRect">
            <a:avLst/>
          </a:prstGeom>
          <a:solidFill>
            <a:schemeClr val="bg1"/>
          </a:solidFill>
          <a:ln w="28575">
            <a:solidFill>
              <a:schemeClr val="accent5"/>
            </a:solidFill>
          </a:ln>
          <a:effectLst/>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3600" b="1">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Century Gothic" pitchFamily="34" charset="0"/>
                <a:cs typeface="Aharoni" pitchFamily="2" charset="-79"/>
              </a:rPr>
              <a:t>LAB TASK-2</a:t>
            </a:r>
          </a:p>
        </p:txBody>
      </p:sp>
      <p:sp>
        <p:nvSpPr>
          <p:cNvPr id="8" name="TextBox 7"/>
          <p:cNvSpPr txBox="1"/>
          <p:nvPr/>
        </p:nvSpPr>
        <p:spPr>
          <a:xfrm>
            <a:off x="293689" y="1135950"/>
            <a:ext cx="11592251" cy="523220"/>
          </a:xfrm>
          <a:prstGeom prst="rect">
            <a:avLst/>
          </a:prstGeom>
          <a:noFill/>
        </p:spPr>
        <p:txBody>
          <a:bodyPr wrap="square" rtlCol="0">
            <a:spAutoFit/>
          </a:bodyPr>
          <a:lstStyle/>
          <a:p>
            <a:pPr algn="just">
              <a:buClr>
                <a:schemeClr val="accent5">
                  <a:lumMod val="75000"/>
                </a:schemeClr>
              </a:buClr>
            </a:pPr>
            <a:r>
              <a:rPr lang="en-IN" sz="2800" b="1" u="sng">
                <a:solidFill>
                  <a:srgbClr val="C00000"/>
                </a:solidFill>
                <a:latin typeface="Tw Cen MT" panose="020B0602020104020603" pitchFamily="34" charset="0"/>
                <a:cs typeface="Segoe UI" panose="020B0502040204020203" pitchFamily="34" charset="0"/>
              </a:rPr>
              <a:t>Program:</a:t>
            </a:r>
            <a:r>
              <a:rPr lang="en-IN" sz="2800" b="1">
                <a:solidFill>
                  <a:srgbClr val="C00000"/>
                </a:solidFill>
                <a:latin typeface="Tw Cen MT" panose="020B0602020104020603" pitchFamily="34" charset="0"/>
                <a:cs typeface="Segoe UI" panose="020B0502040204020203" pitchFamily="34" charset="0"/>
              </a:rPr>
              <a:t>							</a:t>
            </a:r>
            <a:endParaRPr lang="en-IN" sz="2800" b="1" u="sng">
              <a:solidFill>
                <a:srgbClr val="C00000"/>
              </a:solidFill>
              <a:latin typeface="Tw Cen MT" panose="020B0602020104020603" pitchFamily="34" charset="0"/>
              <a:cs typeface="Segoe UI" panose="020B0502040204020203" pitchFamily="34" charset="0"/>
            </a:endParaRPr>
          </a:p>
        </p:txBody>
      </p:sp>
      <p:sp>
        <p:nvSpPr>
          <p:cNvPr id="10" name="Round Same Side Corner Rectangle 9"/>
          <p:cNvSpPr/>
          <p:nvPr/>
        </p:nvSpPr>
        <p:spPr>
          <a:xfrm>
            <a:off x="140031" y="130792"/>
            <a:ext cx="11899570" cy="6457750"/>
          </a:xfrm>
          <a:prstGeom prst="round2SameRect">
            <a:avLst/>
          </a:prstGeom>
          <a:noFill/>
          <a:ln w="38100">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2" name="Pentagon 11"/>
          <p:cNvSpPr/>
          <p:nvPr/>
        </p:nvSpPr>
        <p:spPr>
          <a:xfrm flipH="1">
            <a:off x="11651719" y="6650218"/>
            <a:ext cx="502920" cy="182880"/>
          </a:xfrm>
          <a:prstGeom prst="homePlate">
            <a:avLst/>
          </a:prstGeom>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400" b="1">
                <a:solidFill>
                  <a:schemeClr val="bg1"/>
                </a:solidFill>
                <a:latin typeface="Century Gothic" panose="020B0502020202020204" pitchFamily="34" charset="0"/>
              </a:rPr>
              <a:t>10</a:t>
            </a:r>
          </a:p>
        </p:txBody>
      </p:sp>
      <p:sp>
        <p:nvSpPr>
          <p:cNvPr id="7" name="TextBox 6"/>
          <p:cNvSpPr txBox="1"/>
          <p:nvPr/>
        </p:nvSpPr>
        <p:spPr>
          <a:xfrm>
            <a:off x="3971636" y="6587769"/>
            <a:ext cx="3996603" cy="307777"/>
          </a:xfrm>
          <a:prstGeom prst="rect">
            <a:avLst/>
          </a:prstGeom>
          <a:noFill/>
        </p:spPr>
        <p:txBody>
          <a:bodyPr wrap="square" rtlCol="0">
            <a:spAutoFit/>
          </a:bodyPr>
          <a:lstStyle/>
          <a:p>
            <a:pPr algn="ctr"/>
            <a:r>
              <a:rPr lang="en-US" sz="1400" b="1">
                <a:solidFill>
                  <a:srgbClr val="663300"/>
                </a:solidFill>
                <a:latin typeface="Century Gothic" panose="020B0502020202020204" pitchFamily="34" charset="0"/>
              </a:rPr>
              <a:t>BECE403E-Embedded Systems Design Lab</a:t>
            </a:r>
          </a:p>
        </p:txBody>
      </p:sp>
      <p:sp>
        <p:nvSpPr>
          <p:cNvPr id="11" name="TextBox 10"/>
          <p:cNvSpPr txBox="1"/>
          <p:nvPr/>
        </p:nvSpPr>
        <p:spPr>
          <a:xfrm>
            <a:off x="46422" y="6588542"/>
            <a:ext cx="855622" cy="307777"/>
          </a:xfrm>
          <a:prstGeom prst="rect">
            <a:avLst/>
          </a:prstGeom>
          <a:noFill/>
        </p:spPr>
        <p:txBody>
          <a:bodyPr wrap="square" rtlCol="0">
            <a:spAutoFit/>
          </a:bodyPr>
          <a:lstStyle/>
          <a:p>
            <a:r>
              <a:rPr lang="en-US" sz="1400" b="1">
                <a:solidFill>
                  <a:srgbClr val="663300"/>
                </a:solidFill>
                <a:latin typeface="Century Gothic" panose="020B0502020202020204" pitchFamily="34" charset="0"/>
              </a:rPr>
              <a:t>LAB - 4</a:t>
            </a:r>
          </a:p>
        </p:txBody>
      </p:sp>
      <p:pic>
        <p:nvPicPr>
          <p:cNvPr id="13" name="Picture 12"/>
          <p:cNvPicPr>
            <a:picLocks noChangeAspect="1"/>
          </p:cNvPicPr>
          <p:nvPr/>
        </p:nvPicPr>
        <p:blipFill>
          <a:blip r:embed="rId2"/>
          <a:stretch>
            <a:fillRect/>
          </a:stretch>
        </p:blipFill>
        <p:spPr>
          <a:xfrm>
            <a:off x="2278128" y="1249491"/>
            <a:ext cx="6701471" cy="5030501"/>
          </a:xfrm>
          <a:prstGeom prst="rect">
            <a:avLst/>
          </a:prstGeom>
        </p:spPr>
      </p:pic>
      <p:sp>
        <p:nvSpPr>
          <p:cNvPr id="9" name="Rectangle 8"/>
          <p:cNvSpPr/>
          <p:nvPr/>
        </p:nvSpPr>
        <p:spPr>
          <a:xfrm>
            <a:off x="9296401" y="3359667"/>
            <a:ext cx="2489199" cy="923330"/>
          </a:xfrm>
          <a:prstGeom prst="rect">
            <a:avLst/>
          </a:prstGeom>
        </p:spPr>
        <p:txBody>
          <a:bodyPr wrap="square">
            <a:spAutoFit/>
          </a:bodyPr>
          <a:lstStyle/>
          <a:p>
            <a:pPr>
              <a:buFont typeface="Arial" panose="020B0604020202020204" pitchFamily="34" charset="0"/>
              <a:buChar char="•"/>
            </a:pPr>
            <a:r>
              <a:rPr lang="en-IN">
                <a:solidFill>
                  <a:srgbClr val="C00000"/>
                </a:solidFill>
                <a:latin typeface="Tw Cen MT" panose="020B0602020104020603" pitchFamily="34" charset="0"/>
              </a:rPr>
              <a:t>The default period is 0.020s, and the default pulse width is 0.</a:t>
            </a:r>
            <a:endParaRPr lang="en-IN" b="0" i="0">
              <a:solidFill>
                <a:srgbClr val="C00000"/>
              </a:solidFill>
              <a:effectLst/>
              <a:latin typeface="Tw Cen MT" panose="020B0602020104020603" pitchFamily="34" charset="0"/>
            </a:endParaRPr>
          </a:p>
        </p:txBody>
      </p:sp>
    </p:spTree>
    <p:extLst>
      <p:ext uri="{BB962C8B-B14F-4D97-AF65-F5344CB8AC3E}">
        <p14:creationId xmlns:p14="http://schemas.microsoft.com/office/powerpoint/2010/main" val="422515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ounded Rectangle 4"/>
          <p:cNvSpPr/>
          <p:nvPr/>
        </p:nvSpPr>
        <p:spPr>
          <a:xfrm>
            <a:off x="1199161" y="318649"/>
            <a:ext cx="9781309" cy="678872"/>
          </a:xfrm>
          <a:prstGeom prst="roundRect">
            <a:avLst/>
          </a:prstGeom>
          <a:solidFill>
            <a:schemeClr val="bg1"/>
          </a:solidFill>
          <a:ln w="28575">
            <a:solidFill>
              <a:schemeClr val="accent5"/>
            </a:solidFill>
          </a:ln>
          <a:effectLst/>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a:ln w="9525">
                  <a:solidFill>
                    <a:prstClr val="black"/>
                  </a:solidFill>
                  <a:prstDash val="solid"/>
                </a:ln>
                <a:solidFill>
                  <a:srgbClr val="DD9D31"/>
                </a:solidFill>
                <a:effectLst>
                  <a:outerShdw blurRad="12700" dist="38100" dir="2700000" algn="tl" rotWithShape="0">
                    <a:srgbClr val="DD9D31">
                      <a:lumMod val="60000"/>
                      <a:lumOff val="40000"/>
                    </a:srgbClr>
                  </a:outerShdw>
                </a:effectLst>
                <a:uLnTx/>
                <a:uFillTx/>
                <a:latin typeface="Century Gothic" pitchFamily="34" charset="0"/>
                <a:ea typeface="+mn-ea"/>
                <a:cs typeface="Aharoni" pitchFamily="2" charset="-79"/>
              </a:rPr>
              <a:t>INTRODUCTION TO ADC</a:t>
            </a:r>
          </a:p>
        </p:txBody>
      </p:sp>
      <p:sp>
        <p:nvSpPr>
          <p:cNvPr id="8" name="TextBox 7"/>
          <p:cNvSpPr txBox="1"/>
          <p:nvPr/>
        </p:nvSpPr>
        <p:spPr>
          <a:xfrm>
            <a:off x="216859" y="1185378"/>
            <a:ext cx="11745907" cy="5262979"/>
          </a:xfrm>
          <a:prstGeom prst="rect">
            <a:avLst/>
          </a:prstGeom>
          <a:noFill/>
        </p:spPr>
        <p:txBody>
          <a:bodyPr wrap="square" rtlCol="0">
            <a:spAutoFit/>
          </a:bodyPr>
          <a:lstStyle/>
          <a:p>
            <a:pPr marL="457200" marR="0" lvl="0" indent="-457200" algn="just" defTabSz="914400" rtl="0" eaLnBrk="1" fontAlgn="auto" latinLnBrk="0" hangingPunct="1">
              <a:lnSpc>
                <a:spcPct val="100000"/>
              </a:lnSpc>
              <a:spcBef>
                <a:spcPts val="0"/>
              </a:spcBef>
              <a:spcAft>
                <a:spcPts val="0"/>
              </a:spcAft>
              <a:buClr>
                <a:srgbClr val="DD9D31">
                  <a:lumMod val="75000"/>
                </a:srgbClr>
              </a:buClr>
              <a:buSzTx/>
              <a:buFont typeface="Wingdings" panose="05000000000000000000" pitchFamily="2" charset="2"/>
              <a:buChar char="Ø"/>
              <a:tabLst/>
              <a:defRPr/>
            </a:pPr>
            <a:r>
              <a:rPr kumimoji="0" lang="en-IN" sz="2800" b="0" i="0" u="none" strike="noStrike" kern="1200" cap="none" spc="0" normalizeH="0" baseline="0" noProof="0">
                <a:ln>
                  <a:noFill/>
                </a:ln>
                <a:solidFill>
                  <a:prstClr val="black"/>
                </a:solidFill>
                <a:effectLst/>
                <a:uLnTx/>
                <a:uFillTx/>
                <a:latin typeface="Tw Cen MT" panose="020B0602020104020603" pitchFamily="34" charset="0"/>
                <a:ea typeface="+mn-ea"/>
                <a:cs typeface="Segoe UI" panose="020B0502040204020203" pitchFamily="34" charset="0"/>
              </a:rPr>
              <a:t>An </a:t>
            </a:r>
            <a:r>
              <a:rPr kumimoji="0" lang="en-IN" sz="2800" b="0" i="0" u="none" strike="noStrike" kern="1200" cap="none" spc="0" normalizeH="0" baseline="0" noProof="0">
                <a:ln>
                  <a:noFill/>
                </a:ln>
                <a:solidFill>
                  <a:srgbClr val="C00000"/>
                </a:solidFill>
                <a:effectLst/>
                <a:uLnTx/>
                <a:uFillTx/>
                <a:latin typeface="Tw Cen MT" panose="020B0602020104020603" pitchFamily="34" charset="0"/>
                <a:ea typeface="+mn-ea"/>
                <a:cs typeface="Segoe UI" panose="020B0502040204020203" pitchFamily="34" charset="0"/>
              </a:rPr>
              <a:t>Analog to Digital Converter(ADC) </a:t>
            </a:r>
            <a:r>
              <a:rPr kumimoji="0" lang="en-IN" sz="2800" b="0" i="0" u="none" strike="noStrike" kern="1200" cap="none" spc="0" normalizeH="0" baseline="0" noProof="0">
                <a:ln>
                  <a:noFill/>
                </a:ln>
                <a:solidFill>
                  <a:prstClr val="black"/>
                </a:solidFill>
                <a:effectLst/>
                <a:uLnTx/>
                <a:uFillTx/>
                <a:latin typeface="Tw Cen MT" panose="020B0602020104020603" pitchFamily="34" charset="0"/>
                <a:ea typeface="+mn-ea"/>
                <a:cs typeface="Segoe UI" panose="020B0502040204020203" pitchFamily="34" charset="0"/>
              </a:rPr>
              <a:t>is a electronic circuit that converts  analog signal into digital form which could be understood by a digital device </a:t>
            </a:r>
          </a:p>
          <a:p>
            <a:pPr marL="457200" marR="0" lvl="0" indent="-457200" algn="just" defTabSz="914400" rtl="0" eaLnBrk="1" fontAlgn="auto" latinLnBrk="0" hangingPunct="1">
              <a:lnSpc>
                <a:spcPct val="100000"/>
              </a:lnSpc>
              <a:spcBef>
                <a:spcPts val="0"/>
              </a:spcBef>
              <a:spcAft>
                <a:spcPts val="0"/>
              </a:spcAft>
              <a:buClr>
                <a:srgbClr val="DD9D31">
                  <a:lumMod val="75000"/>
                </a:srgbClr>
              </a:buClr>
              <a:buSzTx/>
              <a:buFont typeface="Wingdings" panose="05000000000000000000" pitchFamily="2" charset="2"/>
              <a:buChar char="Ø"/>
              <a:tabLst/>
              <a:defRPr/>
            </a:pPr>
            <a:endParaRPr kumimoji="0" lang="en-IN" sz="2800" b="0" i="0" u="none" strike="noStrike" kern="1200" cap="none" spc="0" normalizeH="0" baseline="0" noProof="0">
              <a:ln>
                <a:noFill/>
              </a:ln>
              <a:solidFill>
                <a:prstClr val="black"/>
              </a:solidFill>
              <a:effectLst/>
              <a:uLnTx/>
              <a:uFillTx/>
              <a:latin typeface="Tw Cen MT" panose="020B0602020104020603" pitchFamily="34" charset="0"/>
              <a:ea typeface="+mn-ea"/>
              <a:cs typeface="Segoe UI" panose="020B0502040204020203" pitchFamily="34" charset="0"/>
            </a:endParaRPr>
          </a:p>
          <a:p>
            <a:pPr marL="457200" marR="0" lvl="0" indent="-457200" algn="just" defTabSz="914400" rtl="0" eaLnBrk="1" fontAlgn="auto" latinLnBrk="0" hangingPunct="1">
              <a:lnSpc>
                <a:spcPct val="100000"/>
              </a:lnSpc>
              <a:spcBef>
                <a:spcPts val="0"/>
              </a:spcBef>
              <a:spcAft>
                <a:spcPts val="0"/>
              </a:spcAft>
              <a:buClr>
                <a:srgbClr val="DD9D31">
                  <a:lumMod val="75000"/>
                </a:srgbClr>
              </a:buClr>
              <a:buSzTx/>
              <a:buFont typeface="Wingdings" panose="05000000000000000000" pitchFamily="2" charset="2"/>
              <a:buChar char="Ø"/>
              <a:tabLst/>
              <a:defRPr/>
            </a:pPr>
            <a:r>
              <a:rPr kumimoji="0" lang="en-IN" sz="2800" b="0" i="0" u="none" strike="noStrike" kern="1200" cap="none" spc="0" normalizeH="0" baseline="0" noProof="0">
                <a:ln>
                  <a:noFill/>
                </a:ln>
                <a:solidFill>
                  <a:prstClr val="black"/>
                </a:solidFill>
                <a:effectLst/>
                <a:uLnTx/>
                <a:uFillTx/>
                <a:latin typeface="Tw Cen MT" panose="020B0602020104020603" pitchFamily="34" charset="0"/>
                <a:ea typeface="+mn-ea"/>
                <a:cs typeface="Segoe UI" panose="020B0502040204020203" pitchFamily="34" charset="0"/>
              </a:rPr>
              <a:t>The list of possible analog input signals is endless such as s </a:t>
            </a:r>
            <a:r>
              <a:rPr kumimoji="0" lang="en-IN" sz="2800" b="0" i="0" u="none" strike="noStrike" kern="1200" cap="none" spc="0" normalizeH="0" baseline="0" noProof="0">
                <a:ln>
                  <a:noFill/>
                </a:ln>
                <a:solidFill>
                  <a:srgbClr val="C00000"/>
                </a:solidFill>
                <a:effectLst/>
                <a:uLnTx/>
                <a:uFillTx/>
                <a:latin typeface="Tw Cen MT" panose="020B0602020104020603" pitchFamily="34" charset="0"/>
                <a:ea typeface="+mn-ea"/>
                <a:cs typeface="Segoe UI" panose="020B0502040204020203" pitchFamily="34" charset="0"/>
              </a:rPr>
              <a:t>light, temperature, speed, pressure etc</a:t>
            </a:r>
            <a:r>
              <a:rPr kumimoji="0" lang="en-IN" sz="2800" b="0" i="0" u="none" strike="noStrike" kern="1200" cap="none" spc="0" normalizeH="0" baseline="0" noProof="0">
                <a:ln>
                  <a:noFill/>
                </a:ln>
                <a:solidFill>
                  <a:prstClr val="black"/>
                </a:solidFill>
                <a:effectLst/>
                <a:uLnTx/>
                <a:uFillTx/>
                <a:latin typeface="Tw Cen MT" panose="020B0602020104020603" pitchFamily="34" charset="0"/>
                <a:ea typeface="+mn-ea"/>
                <a:cs typeface="Segoe UI" panose="020B0502040204020203" pitchFamily="34" charset="0"/>
              </a:rPr>
              <a:t>. </a:t>
            </a:r>
          </a:p>
          <a:p>
            <a:pPr marL="457200" marR="0" lvl="0" indent="-457200" algn="just" defTabSz="914400" rtl="0" eaLnBrk="1" fontAlgn="auto" latinLnBrk="0" hangingPunct="1">
              <a:lnSpc>
                <a:spcPct val="100000"/>
              </a:lnSpc>
              <a:spcBef>
                <a:spcPts val="0"/>
              </a:spcBef>
              <a:spcAft>
                <a:spcPts val="0"/>
              </a:spcAft>
              <a:buClr>
                <a:srgbClr val="DD9D31">
                  <a:lumMod val="75000"/>
                </a:srgbClr>
              </a:buClr>
              <a:buSzTx/>
              <a:buFont typeface="Wingdings" panose="05000000000000000000" pitchFamily="2" charset="2"/>
              <a:buChar char="Ø"/>
              <a:tabLst/>
              <a:defRPr/>
            </a:pPr>
            <a:endParaRPr kumimoji="0" lang="en-IN" sz="2800" b="0" i="0" u="none" strike="noStrike" kern="1200" cap="none" spc="0" normalizeH="0" baseline="0" noProof="0">
              <a:ln>
                <a:noFill/>
              </a:ln>
              <a:solidFill>
                <a:prstClr val="black"/>
              </a:solidFill>
              <a:effectLst/>
              <a:uLnTx/>
              <a:uFillTx/>
              <a:latin typeface="Tw Cen MT" panose="020B0602020104020603" pitchFamily="34" charset="0"/>
              <a:ea typeface="+mn-ea"/>
              <a:cs typeface="Segoe UI" panose="020B0502040204020203" pitchFamily="34" charset="0"/>
            </a:endParaRPr>
          </a:p>
          <a:p>
            <a:pPr marL="457200" marR="0" lvl="0" indent="-457200" algn="just" defTabSz="914400" rtl="0" eaLnBrk="1" fontAlgn="auto" latinLnBrk="0" hangingPunct="1">
              <a:lnSpc>
                <a:spcPct val="100000"/>
              </a:lnSpc>
              <a:spcBef>
                <a:spcPts val="0"/>
              </a:spcBef>
              <a:spcAft>
                <a:spcPts val="0"/>
              </a:spcAft>
              <a:buClr>
                <a:srgbClr val="DD9D31">
                  <a:lumMod val="75000"/>
                </a:srgbClr>
              </a:buClr>
              <a:buSzTx/>
              <a:buFont typeface="Wingdings" panose="05000000000000000000" pitchFamily="2" charset="2"/>
              <a:buChar char="Ø"/>
              <a:tabLst/>
              <a:defRPr/>
            </a:pPr>
            <a:r>
              <a:rPr kumimoji="0" lang="en-IN" sz="2800" b="0" i="0" u="none" strike="noStrike" kern="1200" cap="none" spc="0" normalizeH="0" baseline="0" noProof="0">
                <a:ln>
                  <a:noFill/>
                </a:ln>
                <a:solidFill>
                  <a:prstClr val="black"/>
                </a:solidFill>
                <a:effectLst/>
                <a:uLnTx/>
                <a:uFillTx/>
                <a:latin typeface="Tw Cen MT" panose="020B0602020104020603" pitchFamily="34" charset="0"/>
                <a:ea typeface="+mn-ea"/>
                <a:cs typeface="Segoe UI" panose="020B0502040204020203" pitchFamily="34" charset="0"/>
              </a:rPr>
              <a:t>ADC effectively measures the </a:t>
            </a:r>
            <a:r>
              <a:rPr kumimoji="0" lang="en-IN" sz="2800" b="0" i="0" u="none" strike="noStrike" kern="1200" cap="none" spc="0" normalizeH="0" baseline="0" noProof="0">
                <a:ln>
                  <a:noFill/>
                </a:ln>
                <a:solidFill>
                  <a:srgbClr val="C00000"/>
                </a:solidFill>
                <a:effectLst/>
                <a:uLnTx/>
                <a:uFillTx/>
                <a:latin typeface="Tw Cen MT" panose="020B0602020104020603" pitchFamily="34" charset="0"/>
                <a:ea typeface="+mn-ea"/>
                <a:cs typeface="Segoe UI" panose="020B0502040204020203" pitchFamily="34" charset="0"/>
              </a:rPr>
              <a:t>analog input voltage </a:t>
            </a:r>
            <a:r>
              <a:rPr kumimoji="0" lang="en-IN" sz="2800" b="0" i="0" u="none" strike="noStrike" kern="1200" cap="none" spc="0" normalizeH="0" baseline="0" noProof="0">
                <a:ln>
                  <a:noFill/>
                </a:ln>
                <a:solidFill>
                  <a:prstClr val="black"/>
                </a:solidFill>
                <a:effectLst/>
                <a:uLnTx/>
                <a:uFillTx/>
                <a:latin typeface="Tw Cen MT" panose="020B0602020104020603" pitchFamily="34" charset="0"/>
                <a:ea typeface="+mn-ea"/>
                <a:cs typeface="Segoe UI" panose="020B0502040204020203" pitchFamily="34" charset="0"/>
              </a:rPr>
              <a:t>and gives a </a:t>
            </a:r>
            <a:r>
              <a:rPr kumimoji="0" lang="en-IN" sz="2800" b="0" i="0" u="none" strike="noStrike" kern="1200" cap="none" spc="0" normalizeH="0" baseline="0" noProof="0">
                <a:ln>
                  <a:noFill/>
                </a:ln>
                <a:solidFill>
                  <a:srgbClr val="C00000"/>
                </a:solidFill>
                <a:effectLst/>
                <a:uLnTx/>
                <a:uFillTx/>
                <a:latin typeface="Tw Cen MT" panose="020B0602020104020603" pitchFamily="34" charset="0"/>
                <a:ea typeface="+mn-ea"/>
                <a:cs typeface="Segoe UI" panose="020B0502040204020203" pitchFamily="34" charset="0"/>
              </a:rPr>
              <a:t>binary output </a:t>
            </a:r>
            <a:r>
              <a:rPr kumimoji="0" lang="en-IN" sz="2800" b="0" i="0" u="none" strike="noStrike" kern="1200" cap="none" spc="0" normalizeH="0" baseline="0" noProof="0">
                <a:ln>
                  <a:noFill/>
                </a:ln>
                <a:solidFill>
                  <a:prstClr val="black"/>
                </a:solidFill>
                <a:effectLst/>
                <a:uLnTx/>
                <a:uFillTx/>
                <a:latin typeface="Tw Cen MT" panose="020B0602020104020603" pitchFamily="34" charset="0"/>
                <a:ea typeface="+mn-ea"/>
                <a:cs typeface="Segoe UI" panose="020B0502040204020203" pitchFamily="34" charset="0"/>
              </a:rPr>
              <a:t>number proportional to its size.</a:t>
            </a:r>
          </a:p>
          <a:p>
            <a:pPr marL="457200" marR="0" lvl="0" indent="-457200" algn="just" defTabSz="914400" rtl="0" eaLnBrk="1" fontAlgn="auto" latinLnBrk="0" hangingPunct="1">
              <a:lnSpc>
                <a:spcPct val="100000"/>
              </a:lnSpc>
              <a:spcBef>
                <a:spcPts val="0"/>
              </a:spcBef>
              <a:spcAft>
                <a:spcPts val="0"/>
              </a:spcAft>
              <a:buClr>
                <a:srgbClr val="DD9D31">
                  <a:lumMod val="75000"/>
                </a:srgbClr>
              </a:buClr>
              <a:buSzTx/>
              <a:buFont typeface="Wingdings" panose="05000000000000000000" pitchFamily="2" charset="2"/>
              <a:buChar char="Ø"/>
              <a:tabLst/>
              <a:defRPr/>
            </a:pPr>
            <a:endParaRPr kumimoji="0" lang="en-IN" sz="2800" b="0" i="0" u="none" strike="noStrike" kern="1200" cap="none" spc="0" normalizeH="0" baseline="0" noProof="0">
              <a:ln>
                <a:noFill/>
              </a:ln>
              <a:solidFill>
                <a:prstClr val="black"/>
              </a:solidFill>
              <a:effectLst/>
              <a:uLnTx/>
              <a:uFillTx/>
              <a:latin typeface="Tw Cen MT" panose="020B0602020104020603" pitchFamily="34" charset="0"/>
              <a:ea typeface="+mn-ea"/>
              <a:cs typeface="Segoe UI" panose="020B0502040204020203" pitchFamily="34" charset="0"/>
            </a:endParaRPr>
          </a:p>
          <a:p>
            <a:pPr marL="457200" marR="0" lvl="0" indent="-457200" algn="just" defTabSz="914400" rtl="0" eaLnBrk="1" fontAlgn="auto" latinLnBrk="0" hangingPunct="1">
              <a:lnSpc>
                <a:spcPct val="100000"/>
              </a:lnSpc>
              <a:spcBef>
                <a:spcPts val="0"/>
              </a:spcBef>
              <a:spcAft>
                <a:spcPts val="0"/>
              </a:spcAft>
              <a:buClr>
                <a:srgbClr val="DD9D31">
                  <a:lumMod val="75000"/>
                </a:srgbClr>
              </a:buClr>
              <a:buSzTx/>
              <a:buFont typeface="Wingdings" panose="05000000000000000000" pitchFamily="2" charset="2"/>
              <a:buChar char="Ø"/>
              <a:tabLst/>
              <a:defRPr/>
            </a:pPr>
            <a:r>
              <a:rPr kumimoji="0" lang="en-IN" sz="2800" b="0" i="0" u="none" strike="noStrike" kern="1200" cap="none" spc="0" normalizeH="0" baseline="0" noProof="0">
                <a:ln>
                  <a:noFill/>
                </a:ln>
                <a:solidFill>
                  <a:prstClr val="black"/>
                </a:solidFill>
                <a:effectLst/>
                <a:uLnTx/>
                <a:uFillTx/>
                <a:latin typeface="Tw Cen MT" panose="020B0602020104020603" pitchFamily="34" charset="0"/>
                <a:ea typeface="+mn-ea"/>
                <a:cs typeface="Segoe UI" panose="020B0502040204020203" pitchFamily="34" charset="0"/>
              </a:rPr>
              <a:t>ADC types: </a:t>
            </a:r>
            <a:r>
              <a:rPr kumimoji="0" lang="en-IN" sz="2800" b="0" i="0" u="none" strike="noStrike" kern="1200" cap="none" spc="0" normalizeH="0" baseline="0" noProof="0">
                <a:ln>
                  <a:noFill/>
                </a:ln>
                <a:solidFill>
                  <a:srgbClr val="C00000"/>
                </a:solidFill>
                <a:effectLst/>
                <a:uLnTx/>
                <a:uFillTx/>
                <a:latin typeface="Tw Cen MT" panose="020B0602020104020603" pitchFamily="34" charset="0"/>
                <a:ea typeface="+mn-ea"/>
                <a:cs typeface="Segoe UI" panose="020B0502040204020203" pitchFamily="34" charset="0"/>
              </a:rPr>
              <a:t>Successive Approximation, Dual slope, delta-sigma, flash type </a:t>
            </a:r>
            <a:r>
              <a:rPr kumimoji="0" lang="en-IN" sz="2800" b="0" i="0" u="none" strike="noStrike" kern="1200" cap="none" spc="0" normalizeH="0" baseline="0" noProof="0">
                <a:ln>
                  <a:noFill/>
                </a:ln>
                <a:solidFill>
                  <a:prstClr val="black"/>
                </a:solidFill>
                <a:effectLst/>
                <a:uLnTx/>
                <a:uFillTx/>
                <a:latin typeface="Tw Cen MT" panose="020B0602020104020603" pitchFamily="34" charset="0"/>
                <a:ea typeface="+mn-ea"/>
                <a:cs typeface="Segoe UI" panose="020B0502040204020203" pitchFamily="34" charset="0"/>
              </a:rPr>
              <a:t>etc.,</a:t>
            </a:r>
          </a:p>
          <a:p>
            <a:pPr marL="457200" marR="0" lvl="0" indent="-457200" algn="just" defTabSz="914400" rtl="0" eaLnBrk="1" fontAlgn="auto" latinLnBrk="0" hangingPunct="1">
              <a:lnSpc>
                <a:spcPct val="100000"/>
              </a:lnSpc>
              <a:spcBef>
                <a:spcPts val="0"/>
              </a:spcBef>
              <a:spcAft>
                <a:spcPts val="0"/>
              </a:spcAft>
              <a:buClr>
                <a:srgbClr val="DD9D31">
                  <a:lumMod val="75000"/>
                </a:srgbClr>
              </a:buClr>
              <a:buSzTx/>
              <a:buFont typeface="Wingdings" panose="05000000000000000000" pitchFamily="2" charset="2"/>
              <a:buChar char="Ø"/>
              <a:tabLst/>
              <a:defRPr/>
            </a:pPr>
            <a:endParaRPr kumimoji="0" lang="en-IN" sz="2800" b="0" i="0" u="none" strike="noStrike" kern="1200" cap="none" spc="0" normalizeH="0" baseline="0" noProof="0">
              <a:ln>
                <a:noFill/>
              </a:ln>
              <a:solidFill>
                <a:prstClr val="black"/>
              </a:solidFill>
              <a:effectLst/>
              <a:uLnTx/>
              <a:uFillTx/>
              <a:latin typeface="Tw Cen MT" panose="020B0602020104020603" pitchFamily="34" charset="0"/>
              <a:ea typeface="+mn-ea"/>
              <a:cs typeface="Segoe UI" panose="020B0502040204020203" pitchFamily="34" charset="0"/>
            </a:endParaRPr>
          </a:p>
          <a:p>
            <a:pPr marL="457200" marR="0" lvl="0" indent="-457200" algn="just" defTabSz="914400" rtl="0" eaLnBrk="1" fontAlgn="auto" latinLnBrk="0" hangingPunct="1">
              <a:lnSpc>
                <a:spcPct val="100000"/>
              </a:lnSpc>
              <a:spcBef>
                <a:spcPts val="0"/>
              </a:spcBef>
              <a:spcAft>
                <a:spcPts val="0"/>
              </a:spcAft>
              <a:buClr>
                <a:srgbClr val="DD9D31">
                  <a:lumMod val="75000"/>
                </a:srgbClr>
              </a:buClr>
              <a:buSzTx/>
              <a:buFont typeface="Wingdings" panose="05000000000000000000" pitchFamily="2" charset="2"/>
              <a:buChar char="Ø"/>
              <a:tabLst/>
              <a:defRPr/>
            </a:pPr>
            <a:r>
              <a:rPr kumimoji="0" lang="en-IN" sz="2800" b="0" i="0" u="none" strike="noStrike" kern="1200" cap="none" spc="0" normalizeH="0" baseline="0" noProof="0">
                <a:ln>
                  <a:noFill/>
                </a:ln>
                <a:solidFill>
                  <a:prstClr val="black"/>
                </a:solidFill>
                <a:effectLst/>
                <a:uLnTx/>
                <a:uFillTx/>
                <a:latin typeface="Tw Cen MT" panose="020B0602020104020603" pitchFamily="34" charset="0"/>
                <a:ea typeface="+mn-ea"/>
                <a:cs typeface="Segoe UI" panose="020B0502040204020203" pitchFamily="34" charset="0"/>
              </a:rPr>
              <a:t>ADC has </a:t>
            </a:r>
            <a:r>
              <a:rPr kumimoji="0" lang="en-IN" sz="2800" b="0" i="0" u="none" strike="noStrike" kern="1200" cap="none" spc="0" normalizeH="0" baseline="0" noProof="0">
                <a:ln>
                  <a:noFill/>
                </a:ln>
                <a:solidFill>
                  <a:srgbClr val="C00000"/>
                </a:solidFill>
                <a:effectLst/>
                <a:uLnTx/>
                <a:uFillTx/>
                <a:latin typeface="Tw Cen MT" panose="020B0602020104020603" pitchFamily="34" charset="0"/>
                <a:ea typeface="+mn-ea"/>
                <a:cs typeface="Segoe UI" panose="020B0502040204020203" pitchFamily="34" charset="0"/>
              </a:rPr>
              <a:t>maximum and minimum </a:t>
            </a:r>
            <a:r>
              <a:rPr kumimoji="0" lang="en-IN" sz="2800" b="0" i="0" u="none" strike="noStrike" kern="1200" cap="none" spc="0" normalizeH="0" baseline="0" noProof="0">
                <a:ln>
                  <a:noFill/>
                </a:ln>
                <a:solidFill>
                  <a:prstClr val="black"/>
                </a:solidFill>
                <a:effectLst/>
                <a:uLnTx/>
                <a:uFillTx/>
                <a:latin typeface="Tw Cen MT" panose="020B0602020104020603" pitchFamily="34" charset="0"/>
                <a:ea typeface="+mn-ea"/>
                <a:cs typeface="Segoe UI" panose="020B0502040204020203" pitchFamily="34" charset="0"/>
              </a:rPr>
              <a:t>permissible input values.</a:t>
            </a:r>
          </a:p>
        </p:txBody>
      </p:sp>
      <p:sp>
        <p:nvSpPr>
          <p:cNvPr id="10" name="Round Same Side Corner Rectangle 9"/>
          <p:cNvSpPr/>
          <p:nvPr/>
        </p:nvSpPr>
        <p:spPr>
          <a:xfrm>
            <a:off x="140031" y="130792"/>
            <a:ext cx="11899570" cy="6457750"/>
          </a:xfrm>
          <a:prstGeom prst="round2SameRect">
            <a:avLst/>
          </a:prstGeom>
          <a:noFill/>
          <a:ln w="38100">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Pentagon 11"/>
          <p:cNvSpPr/>
          <p:nvPr/>
        </p:nvSpPr>
        <p:spPr>
          <a:xfrm flipH="1">
            <a:off x="11651719" y="6650218"/>
            <a:ext cx="502920" cy="182880"/>
          </a:xfrm>
          <a:prstGeom prst="homePlate">
            <a:avLst/>
          </a:prstGeom>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fld id="{AE471DC6-CC24-4344-AD7A-B802DC426001}" type="slidenum">
              <a:rPr kumimoji="0" lang="en-US" sz="1400" b="1" i="0" u="none" strike="noStrike" kern="1200" cap="none" spc="0" normalizeH="0" baseline="0" noProof="0" smtClean="0">
                <a:ln>
                  <a:noFill/>
                </a:ln>
                <a:solidFill>
                  <a:prstClr val="black"/>
                </a:solidFill>
                <a:effectLst/>
                <a:uLnTx/>
                <a:uFillTx/>
                <a:latin typeface="Century Gothic" panose="020B0502020202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10</a:t>
            </a:fld>
            <a:endParaRPr kumimoji="0" lang="en-US" sz="1400" b="1" i="0" u="none" strike="noStrike" kern="1200" cap="none" spc="0" normalizeH="0" baseline="0" noProof="0">
              <a:ln>
                <a:noFill/>
              </a:ln>
              <a:solidFill>
                <a:prstClr val="black"/>
              </a:solidFill>
              <a:effectLst/>
              <a:uLnTx/>
              <a:uFillTx/>
              <a:latin typeface="Century Gothic" panose="020B0502020202020204" pitchFamily="34" charset="0"/>
              <a:ea typeface="+mn-ea"/>
              <a:cs typeface="+mn-cs"/>
            </a:endParaRPr>
          </a:p>
        </p:txBody>
      </p:sp>
      <p:sp>
        <p:nvSpPr>
          <p:cNvPr id="11" name="TextBox 10"/>
          <p:cNvSpPr txBox="1"/>
          <p:nvPr/>
        </p:nvSpPr>
        <p:spPr>
          <a:xfrm>
            <a:off x="46422" y="6588542"/>
            <a:ext cx="855622"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663300"/>
                </a:solidFill>
                <a:effectLst/>
                <a:uLnTx/>
                <a:uFillTx/>
                <a:latin typeface="Century Gothic" panose="020B0502020202020204" pitchFamily="34" charset="0"/>
                <a:ea typeface="+mn-ea"/>
                <a:cs typeface="+mn-cs"/>
              </a:rPr>
              <a:t>LAB - 4</a:t>
            </a:r>
          </a:p>
        </p:txBody>
      </p:sp>
      <p:sp>
        <p:nvSpPr>
          <p:cNvPr id="9" name="TextBox 8"/>
          <p:cNvSpPr txBox="1"/>
          <p:nvPr/>
        </p:nvSpPr>
        <p:spPr>
          <a:xfrm>
            <a:off x="4036292" y="6587769"/>
            <a:ext cx="3931948" cy="307777"/>
          </a:xfrm>
          <a:prstGeom prst="rect">
            <a:avLst/>
          </a:prstGeom>
          <a:noFill/>
        </p:spPr>
        <p:txBody>
          <a:bodyPr wrap="square" rtlCol="0">
            <a:spAutoFit/>
          </a:bodyPr>
          <a:lstStyle/>
          <a:p>
            <a:pPr algn="ctr"/>
            <a:r>
              <a:rPr lang="en-US" sz="1400" b="1">
                <a:solidFill>
                  <a:srgbClr val="663300"/>
                </a:solidFill>
                <a:latin typeface="Century Gothic" panose="020B0502020202020204" pitchFamily="34" charset="0"/>
              </a:rPr>
              <a:t>BECE403E-Embedded Systems Design Lab</a:t>
            </a:r>
          </a:p>
        </p:txBody>
      </p:sp>
    </p:spTree>
    <p:extLst>
      <p:ext uri="{BB962C8B-B14F-4D97-AF65-F5344CB8AC3E}">
        <p14:creationId xmlns:p14="http://schemas.microsoft.com/office/powerpoint/2010/main" val="1580304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6" end="6"/>
                                            </p:txEl>
                                          </p:spTgt>
                                        </p:tgtEl>
                                        <p:attrNameLst>
                                          <p:attrName>style.visibility</p:attrName>
                                        </p:attrNameLst>
                                      </p:cBhvr>
                                      <p:to>
                                        <p:strVal val="visible"/>
                                      </p:to>
                                    </p:set>
                                    <p:animEffect transition="in" filter="fade">
                                      <p:cBhvr>
                                        <p:cTn id="12" dur="500"/>
                                        <p:tgtEl>
                                          <p:spTgt spid="8">
                                            <p:txEl>
                                              <p:pRg st="6" end="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8" end="8"/>
                                            </p:txEl>
                                          </p:spTgt>
                                        </p:tgtEl>
                                        <p:attrNameLst>
                                          <p:attrName>style.visibility</p:attrName>
                                        </p:attrNameLst>
                                      </p:cBhvr>
                                      <p:to>
                                        <p:strVal val="visible"/>
                                      </p:to>
                                    </p:set>
                                    <p:animEffect transition="in" filter="fade">
                                      <p:cBhvr>
                                        <p:cTn id="17" dur="500"/>
                                        <p:tgtEl>
                                          <p:spTgt spid="8">
                                            <p:txEl>
                                              <p:pRg st="8" end="8"/>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xEl>
                                              <p:pRg st="4" end="4"/>
                                            </p:txEl>
                                          </p:spTgt>
                                        </p:tgtEl>
                                        <p:attrNameLst>
                                          <p:attrName>style.visibility</p:attrName>
                                        </p:attrNameLst>
                                      </p:cBhvr>
                                      <p:to>
                                        <p:strVal val="visible"/>
                                      </p:to>
                                    </p:set>
                                    <p:animEffect transition="in" filter="fade">
                                      <p:cBhvr>
                                        <p:cTn id="22" dur="500"/>
                                        <p:tgtEl>
                                          <p:spTgt spid="8">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
                                            <p:txEl>
                                              <p:pRg st="2" end="2"/>
                                            </p:txEl>
                                          </p:spTgt>
                                        </p:tgtEl>
                                        <p:attrNameLst>
                                          <p:attrName>style.visibility</p:attrName>
                                        </p:attrNameLst>
                                      </p:cBhvr>
                                      <p:to>
                                        <p:strVal val="visible"/>
                                      </p:to>
                                    </p:set>
                                    <p:animEffect transition="in" filter="fade">
                                      <p:cBhvr>
                                        <p:cTn id="27" dur="5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ounded Rectangle 4"/>
          <p:cNvSpPr/>
          <p:nvPr/>
        </p:nvSpPr>
        <p:spPr>
          <a:xfrm>
            <a:off x="1199161" y="318649"/>
            <a:ext cx="9781309" cy="678872"/>
          </a:xfrm>
          <a:prstGeom prst="roundRect">
            <a:avLst/>
          </a:prstGeom>
          <a:solidFill>
            <a:schemeClr val="bg1"/>
          </a:solidFill>
          <a:ln w="28575">
            <a:solidFill>
              <a:schemeClr val="accent5"/>
            </a:solidFill>
          </a:ln>
          <a:effectLst/>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a:ln w="9525">
                  <a:solidFill>
                    <a:prstClr val="black"/>
                  </a:solidFill>
                  <a:prstDash val="solid"/>
                </a:ln>
                <a:solidFill>
                  <a:srgbClr val="DD9D31"/>
                </a:solidFill>
                <a:effectLst>
                  <a:outerShdw blurRad="12700" dist="38100" dir="2700000" algn="tl" rotWithShape="0">
                    <a:srgbClr val="DD9D31">
                      <a:lumMod val="60000"/>
                      <a:lumOff val="40000"/>
                    </a:srgbClr>
                  </a:outerShdw>
                </a:effectLst>
                <a:uLnTx/>
                <a:uFillTx/>
                <a:latin typeface="Century Gothic" pitchFamily="34" charset="0"/>
                <a:ea typeface="+mn-ea"/>
                <a:cs typeface="Aharoni" pitchFamily="2" charset="-79"/>
              </a:rPr>
              <a:t>INTRODUCTION TO ADC</a:t>
            </a:r>
          </a:p>
        </p:txBody>
      </p:sp>
      <p:sp>
        <p:nvSpPr>
          <p:cNvPr id="8" name="TextBox 7"/>
          <p:cNvSpPr txBox="1"/>
          <p:nvPr/>
        </p:nvSpPr>
        <p:spPr>
          <a:xfrm>
            <a:off x="216859" y="1185378"/>
            <a:ext cx="11745907" cy="4832092"/>
          </a:xfrm>
          <a:prstGeom prst="rect">
            <a:avLst/>
          </a:prstGeom>
          <a:noFill/>
        </p:spPr>
        <p:txBody>
          <a:bodyPr wrap="square" rtlCol="0">
            <a:spAutoFit/>
          </a:bodyPr>
          <a:lstStyle/>
          <a:p>
            <a:pPr marL="457200" marR="0" lvl="0" indent="-457200" algn="just" defTabSz="914400" rtl="0" eaLnBrk="1" fontAlgn="auto" latinLnBrk="0" hangingPunct="1">
              <a:lnSpc>
                <a:spcPct val="100000"/>
              </a:lnSpc>
              <a:spcBef>
                <a:spcPts val="0"/>
              </a:spcBef>
              <a:spcAft>
                <a:spcPts val="0"/>
              </a:spcAft>
              <a:buClr>
                <a:srgbClr val="DD9D31">
                  <a:lumMod val="75000"/>
                </a:srgbClr>
              </a:buClr>
              <a:buSzTx/>
              <a:buFont typeface="Wingdings" panose="05000000000000000000" pitchFamily="2" charset="2"/>
              <a:buChar char="Ø"/>
              <a:tabLst/>
              <a:defRPr/>
            </a:pPr>
            <a:r>
              <a:rPr kumimoji="0" lang="en-IN" sz="2800" b="0" i="0" u="none" strike="noStrike" kern="1200" cap="none" spc="0" normalizeH="0" baseline="0" noProof="0">
                <a:ln>
                  <a:noFill/>
                </a:ln>
                <a:solidFill>
                  <a:prstClr val="black"/>
                </a:solidFill>
                <a:effectLst/>
                <a:uLnTx/>
                <a:uFillTx/>
                <a:latin typeface="Tw Cen MT" panose="020B0602020104020603" pitchFamily="34" charset="0"/>
                <a:ea typeface="+mn-ea"/>
                <a:cs typeface="Segoe UI" panose="020B0502040204020203" pitchFamily="34" charset="0"/>
              </a:rPr>
              <a:t>Not </a:t>
            </a:r>
            <a:r>
              <a:rPr kumimoji="0" lang="en-IN" sz="2800" b="0" i="0" u="none" strike="noStrike" kern="1200" cap="none" spc="0" normalizeH="0" baseline="0" noProof="0">
                <a:ln>
                  <a:noFill/>
                </a:ln>
                <a:solidFill>
                  <a:srgbClr val="C00000"/>
                </a:solidFill>
                <a:effectLst/>
                <a:uLnTx/>
                <a:uFillTx/>
                <a:latin typeface="Tw Cen MT" panose="020B0602020104020603" pitchFamily="34" charset="0"/>
                <a:ea typeface="+mn-ea"/>
                <a:cs typeface="Segoe UI" panose="020B0502040204020203" pitchFamily="34" charset="0"/>
              </a:rPr>
              <a:t>all the pins on a microcontroller have the ability </a:t>
            </a:r>
            <a:r>
              <a:rPr kumimoji="0" lang="en-IN" sz="2800" b="0" i="0" u="none" strike="noStrike" kern="1200" cap="none" spc="0" normalizeH="0" baseline="0" noProof="0">
                <a:ln>
                  <a:noFill/>
                </a:ln>
                <a:solidFill>
                  <a:prstClr val="black"/>
                </a:solidFill>
                <a:effectLst/>
                <a:uLnTx/>
                <a:uFillTx/>
                <a:latin typeface="Tw Cen MT" panose="020B0602020104020603" pitchFamily="34" charset="0"/>
                <a:ea typeface="+mn-ea"/>
                <a:cs typeface="Segoe UI" panose="020B0502040204020203" pitchFamily="34" charset="0"/>
              </a:rPr>
              <a:t>to do analog to digital conversions.</a:t>
            </a:r>
          </a:p>
          <a:p>
            <a:pPr marL="457200" marR="0" lvl="0" indent="-457200" algn="just" defTabSz="914400" rtl="0" eaLnBrk="1" fontAlgn="auto" latinLnBrk="0" hangingPunct="1">
              <a:lnSpc>
                <a:spcPct val="100000"/>
              </a:lnSpc>
              <a:spcBef>
                <a:spcPts val="0"/>
              </a:spcBef>
              <a:spcAft>
                <a:spcPts val="0"/>
              </a:spcAft>
              <a:buClr>
                <a:srgbClr val="DD9D31">
                  <a:lumMod val="75000"/>
                </a:srgbClr>
              </a:buClr>
              <a:buSzTx/>
              <a:buFont typeface="Wingdings" panose="05000000000000000000" pitchFamily="2" charset="2"/>
              <a:buChar char="Ø"/>
              <a:tabLst/>
              <a:defRPr/>
            </a:pPr>
            <a:endParaRPr kumimoji="0" lang="en-IN" sz="2800" b="0" i="0" u="none" strike="noStrike" kern="1200" cap="none" spc="0" normalizeH="0" baseline="0" noProof="0">
              <a:ln>
                <a:noFill/>
              </a:ln>
              <a:solidFill>
                <a:prstClr val="black"/>
              </a:solidFill>
              <a:effectLst/>
              <a:uLnTx/>
              <a:uFillTx/>
              <a:latin typeface="Tw Cen MT" panose="020B0602020104020603" pitchFamily="34" charset="0"/>
              <a:ea typeface="+mn-ea"/>
              <a:cs typeface="Segoe UI" panose="020B0502040204020203" pitchFamily="34" charset="0"/>
            </a:endParaRPr>
          </a:p>
          <a:p>
            <a:pPr marL="457200" marR="0" lvl="0" indent="-457200" algn="just" defTabSz="914400" rtl="0" eaLnBrk="1" fontAlgn="auto" latinLnBrk="0" hangingPunct="1">
              <a:lnSpc>
                <a:spcPct val="100000"/>
              </a:lnSpc>
              <a:spcBef>
                <a:spcPts val="0"/>
              </a:spcBef>
              <a:spcAft>
                <a:spcPts val="0"/>
              </a:spcAft>
              <a:buClr>
                <a:srgbClr val="DD9D31">
                  <a:lumMod val="75000"/>
                </a:srgbClr>
              </a:buClr>
              <a:buSzTx/>
              <a:buFont typeface="Wingdings" panose="05000000000000000000" pitchFamily="2" charset="2"/>
              <a:buChar char="Ø"/>
              <a:tabLst/>
              <a:defRPr/>
            </a:pPr>
            <a:r>
              <a:rPr kumimoji="0" lang="en-IN" sz="2800" b="0" i="0" u="none" strike="noStrike" kern="1200" cap="none" spc="0" normalizeH="0" baseline="0" noProof="0">
                <a:ln>
                  <a:noFill/>
                </a:ln>
                <a:solidFill>
                  <a:prstClr val="black"/>
                </a:solidFill>
                <a:effectLst/>
                <a:uLnTx/>
                <a:uFillTx/>
                <a:latin typeface="Tw Cen MT" panose="020B0602020104020603" pitchFamily="34" charset="0"/>
                <a:ea typeface="+mn-ea"/>
                <a:cs typeface="Segoe UI" panose="020B0502040204020203" pitchFamily="34" charset="0"/>
              </a:rPr>
              <a:t>On the Nucleo board, these pins have an </a:t>
            </a:r>
            <a:r>
              <a:rPr kumimoji="0" lang="en-IN" sz="2800" b="0" i="0" u="none" strike="noStrike" kern="1200" cap="none" spc="0" normalizeH="0" baseline="0" noProof="0">
                <a:ln>
                  <a:noFill/>
                </a:ln>
                <a:solidFill>
                  <a:srgbClr val="C00000"/>
                </a:solidFill>
                <a:effectLst/>
                <a:uLnTx/>
                <a:uFillTx/>
                <a:latin typeface="Tw Cen MT" panose="020B0602020104020603" pitchFamily="34" charset="0"/>
                <a:ea typeface="+mn-ea"/>
                <a:cs typeface="Segoe UI" panose="020B0502040204020203" pitchFamily="34" charset="0"/>
              </a:rPr>
              <a:t>‘Analog</a:t>
            </a:r>
            <a:r>
              <a:rPr kumimoji="0" lang="en-IN" sz="2800" b="0" i="0" u="none" strike="noStrike" kern="1200" cap="none" spc="0" normalizeH="0" noProof="0">
                <a:ln>
                  <a:noFill/>
                </a:ln>
                <a:solidFill>
                  <a:srgbClr val="C00000"/>
                </a:solidFill>
                <a:effectLst/>
                <a:uLnTx/>
                <a:uFillTx/>
                <a:latin typeface="Tw Cen MT" panose="020B0602020104020603" pitchFamily="34" charset="0"/>
                <a:ea typeface="+mn-ea"/>
                <a:cs typeface="Segoe UI" panose="020B0502040204020203" pitchFamily="34" charset="0"/>
              </a:rPr>
              <a:t> In</a:t>
            </a:r>
            <a:r>
              <a:rPr kumimoji="0" lang="en-IN" sz="2800" b="0" i="0" u="none" strike="noStrike" kern="1200" cap="none" spc="0" normalizeH="0" baseline="0" noProof="0">
                <a:ln>
                  <a:noFill/>
                </a:ln>
                <a:solidFill>
                  <a:srgbClr val="C00000"/>
                </a:solidFill>
                <a:effectLst/>
                <a:uLnTx/>
                <a:uFillTx/>
                <a:latin typeface="Tw Cen MT" panose="020B0602020104020603" pitchFamily="34" charset="0"/>
                <a:ea typeface="+mn-ea"/>
                <a:cs typeface="Segoe UI" panose="020B0502040204020203" pitchFamily="34" charset="0"/>
              </a:rPr>
              <a:t>’ </a:t>
            </a:r>
            <a:r>
              <a:rPr kumimoji="0" lang="en-IN" sz="2800" b="0" i="0" u="none" strike="noStrike" kern="1200" cap="none" spc="0" normalizeH="0" baseline="0" noProof="0">
                <a:ln>
                  <a:noFill/>
                </a:ln>
                <a:solidFill>
                  <a:prstClr val="black"/>
                </a:solidFill>
                <a:effectLst/>
                <a:uLnTx/>
                <a:uFillTx/>
                <a:latin typeface="Tw Cen MT" panose="020B0602020104020603" pitchFamily="34" charset="0"/>
                <a:ea typeface="+mn-ea"/>
                <a:cs typeface="Segoe UI" panose="020B0502040204020203" pitchFamily="34" charset="0"/>
              </a:rPr>
              <a:t>indicate these pins can read analog voltage</a:t>
            </a:r>
          </a:p>
          <a:p>
            <a:pPr marL="457200" marR="0" lvl="0" indent="-457200" algn="just" defTabSz="914400" rtl="0" eaLnBrk="1" fontAlgn="auto" latinLnBrk="0" hangingPunct="1">
              <a:lnSpc>
                <a:spcPct val="100000"/>
              </a:lnSpc>
              <a:spcBef>
                <a:spcPts val="0"/>
              </a:spcBef>
              <a:spcAft>
                <a:spcPts val="0"/>
              </a:spcAft>
              <a:buClr>
                <a:srgbClr val="DD9D31">
                  <a:lumMod val="75000"/>
                </a:srgbClr>
              </a:buClr>
              <a:buSzTx/>
              <a:buFont typeface="Wingdings" panose="05000000000000000000" pitchFamily="2" charset="2"/>
              <a:buChar char="Ø"/>
              <a:tabLst/>
              <a:defRPr/>
            </a:pPr>
            <a:endParaRPr kumimoji="0" lang="en-IN" sz="2800" b="0" i="0" u="none" strike="noStrike" kern="1200" cap="none" spc="0" normalizeH="0" baseline="0" noProof="0">
              <a:ln>
                <a:noFill/>
              </a:ln>
              <a:solidFill>
                <a:prstClr val="black"/>
              </a:solidFill>
              <a:effectLst/>
              <a:uLnTx/>
              <a:uFillTx/>
              <a:latin typeface="Tw Cen MT" panose="020B0602020104020603" pitchFamily="34" charset="0"/>
              <a:ea typeface="+mn-ea"/>
              <a:cs typeface="Segoe UI" panose="020B0502040204020203" pitchFamily="34" charset="0"/>
            </a:endParaRPr>
          </a:p>
          <a:p>
            <a:pPr marL="457200" marR="0" lvl="0" indent="-457200" algn="just" defTabSz="914400" rtl="0" eaLnBrk="1" fontAlgn="auto" latinLnBrk="0" hangingPunct="1">
              <a:lnSpc>
                <a:spcPct val="100000"/>
              </a:lnSpc>
              <a:spcBef>
                <a:spcPts val="0"/>
              </a:spcBef>
              <a:spcAft>
                <a:spcPts val="0"/>
              </a:spcAft>
              <a:buClr>
                <a:srgbClr val="DD9D31">
                  <a:lumMod val="75000"/>
                </a:srgbClr>
              </a:buClr>
              <a:buSzTx/>
              <a:buFont typeface="Wingdings" panose="05000000000000000000" pitchFamily="2" charset="2"/>
              <a:buChar char="Ø"/>
              <a:tabLst/>
              <a:defRPr/>
            </a:pPr>
            <a:r>
              <a:rPr kumimoji="0" lang="en-IN" sz="2800" b="0" i="0" u="none" strike="noStrike" kern="1200" cap="none" spc="0" normalizeH="0" baseline="0" noProof="0">
                <a:ln>
                  <a:noFill/>
                </a:ln>
                <a:solidFill>
                  <a:prstClr val="black"/>
                </a:solidFill>
                <a:effectLst/>
                <a:uLnTx/>
                <a:uFillTx/>
                <a:latin typeface="Tw Cen MT" panose="020B0602020104020603" pitchFamily="34" charset="0"/>
                <a:ea typeface="+mn-ea"/>
                <a:cs typeface="Segoe UI" panose="020B0502040204020203" pitchFamily="34" charset="0"/>
              </a:rPr>
              <a:t>The ADC on the Nucleo is a </a:t>
            </a:r>
            <a:r>
              <a:rPr kumimoji="0" lang="en-IN" sz="2800" b="0" i="0" u="none" strike="noStrike" kern="1200" cap="none" spc="0" normalizeH="0" baseline="0" noProof="0">
                <a:ln>
                  <a:noFill/>
                </a:ln>
                <a:solidFill>
                  <a:srgbClr val="C00000"/>
                </a:solidFill>
                <a:effectLst/>
                <a:uLnTx/>
                <a:uFillTx/>
                <a:latin typeface="Tw Cen MT" panose="020B0602020104020603" pitchFamily="34" charset="0"/>
                <a:ea typeface="+mn-ea"/>
                <a:cs typeface="Segoe UI" panose="020B0502040204020203" pitchFamily="34" charset="0"/>
              </a:rPr>
              <a:t>12-bit ADC </a:t>
            </a:r>
            <a:r>
              <a:rPr kumimoji="0" lang="en-IN" sz="2800" b="0" i="0" u="none" strike="noStrike" kern="1200" cap="none" spc="0" normalizeH="0" baseline="0" noProof="0">
                <a:ln>
                  <a:noFill/>
                </a:ln>
                <a:solidFill>
                  <a:prstClr val="black"/>
                </a:solidFill>
                <a:effectLst/>
                <a:uLnTx/>
                <a:uFillTx/>
                <a:latin typeface="Tw Cen MT" panose="020B0602020104020603" pitchFamily="34" charset="0"/>
                <a:ea typeface="+mn-ea"/>
                <a:cs typeface="Segoe UI" panose="020B0502040204020203" pitchFamily="34" charset="0"/>
              </a:rPr>
              <a:t>meaning it has the ability to detect </a:t>
            </a:r>
            <a:r>
              <a:rPr lang="en-IN" sz="2800">
                <a:solidFill>
                  <a:srgbClr val="C00000"/>
                </a:solidFill>
                <a:latin typeface="Tw Cen MT" panose="020B0602020104020603" pitchFamily="34" charset="0"/>
                <a:cs typeface="Segoe UI" panose="020B0502040204020203" pitchFamily="34" charset="0"/>
              </a:rPr>
              <a:t>4096</a:t>
            </a:r>
            <a:r>
              <a:rPr kumimoji="0" lang="en-IN" sz="2800" b="0" i="0" u="none" strike="noStrike" kern="1200" cap="none" spc="0" normalizeH="0" baseline="0" noProof="0">
                <a:ln>
                  <a:noFill/>
                </a:ln>
                <a:solidFill>
                  <a:srgbClr val="C00000"/>
                </a:solidFill>
                <a:effectLst/>
                <a:uLnTx/>
                <a:uFillTx/>
                <a:latin typeface="Tw Cen MT" panose="020B0602020104020603" pitchFamily="34" charset="0"/>
                <a:ea typeface="+mn-ea"/>
                <a:cs typeface="Segoe UI" panose="020B0502040204020203" pitchFamily="34" charset="0"/>
              </a:rPr>
              <a:t> (2^12) discrete analog levels</a:t>
            </a:r>
            <a:r>
              <a:rPr kumimoji="0" lang="en-IN" sz="2800" b="0" i="0" u="none" strike="noStrike" kern="1200" cap="none" spc="0" normalizeH="0" baseline="0" noProof="0">
                <a:ln>
                  <a:noFill/>
                </a:ln>
                <a:solidFill>
                  <a:prstClr val="black"/>
                </a:solidFill>
                <a:effectLst/>
                <a:uLnTx/>
                <a:uFillTx/>
                <a:latin typeface="Tw Cen MT" panose="020B0602020104020603" pitchFamily="34" charset="0"/>
                <a:ea typeface="+mn-ea"/>
                <a:cs typeface="Segoe UI" panose="020B0502040204020203" pitchFamily="34" charset="0"/>
              </a:rPr>
              <a:t>.</a:t>
            </a:r>
          </a:p>
          <a:p>
            <a:pPr marL="457200" marR="0" lvl="0" indent="-457200" algn="just" defTabSz="914400" rtl="0" eaLnBrk="1" fontAlgn="auto" latinLnBrk="0" hangingPunct="1">
              <a:lnSpc>
                <a:spcPct val="100000"/>
              </a:lnSpc>
              <a:spcBef>
                <a:spcPts val="0"/>
              </a:spcBef>
              <a:spcAft>
                <a:spcPts val="0"/>
              </a:spcAft>
              <a:buClr>
                <a:srgbClr val="DD9D31">
                  <a:lumMod val="75000"/>
                </a:srgbClr>
              </a:buClr>
              <a:buSzTx/>
              <a:buFont typeface="Wingdings" panose="05000000000000000000" pitchFamily="2" charset="2"/>
              <a:buChar char="Ø"/>
              <a:tabLst/>
              <a:defRPr/>
            </a:pPr>
            <a:endParaRPr kumimoji="0" lang="en-IN" sz="2800" b="0" i="0" u="none" strike="noStrike" kern="1200" cap="none" spc="0" normalizeH="0" baseline="0" noProof="0">
              <a:ln>
                <a:noFill/>
              </a:ln>
              <a:solidFill>
                <a:prstClr val="black"/>
              </a:solidFill>
              <a:effectLst/>
              <a:uLnTx/>
              <a:uFillTx/>
              <a:latin typeface="Tw Cen MT" panose="020B0602020104020603" pitchFamily="34" charset="0"/>
              <a:ea typeface="+mn-ea"/>
              <a:cs typeface="Segoe UI" panose="020B0502040204020203" pitchFamily="34" charset="0"/>
            </a:endParaRPr>
          </a:p>
          <a:p>
            <a:pPr marL="457200" marR="0" lvl="0" indent="-457200" algn="just" defTabSz="914400" rtl="0" eaLnBrk="1" fontAlgn="auto" latinLnBrk="0" hangingPunct="1">
              <a:lnSpc>
                <a:spcPct val="100000"/>
              </a:lnSpc>
              <a:spcBef>
                <a:spcPts val="0"/>
              </a:spcBef>
              <a:spcAft>
                <a:spcPts val="0"/>
              </a:spcAft>
              <a:buClr>
                <a:srgbClr val="DD9D31">
                  <a:lumMod val="75000"/>
                </a:srgbClr>
              </a:buClr>
              <a:buSzTx/>
              <a:buFont typeface="Wingdings" panose="05000000000000000000" pitchFamily="2" charset="2"/>
              <a:buChar char="Ø"/>
              <a:tabLst/>
              <a:defRPr/>
            </a:pPr>
            <a:r>
              <a:rPr kumimoji="0" lang="en-IN" sz="2800" b="0" i="0" u="none" strike="noStrike" kern="1200" cap="none" spc="0" normalizeH="0" baseline="0" noProof="0">
                <a:ln>
                  <a:noFill/>
                </a:ln>
                <a:solidFill>
                  <a:prstClr val="black"/>
                </a:solidFill>
                <a:effectLst/>
                <a:uLnTx/>
                <a:uFillTx/>
                <a:latin typeface="Tw Cen MT" panose="020B0602020104020603" pitchFamily="34" charset="0"/>
                <a:ea typeface="+mn-ea"/>
                <a:cs typeface="Segoe UI" panose="020B0502040204020203" pitchFamily="34" charset="0"/>
              </a:rPr>
              <a:t> An input of </a:t>
            </a:r>
            <a:r>
              <a:rPr kumimoji="0" lang="en-IN" sz="2800" b="0" i="0" u="none" strike="noStrike" kern="1200" cap="none" spc="0" normalizeH="0" baseline="0" noProof="0">
                <a:ln>
                  <a:noFill/>
                </a:ln>
                <a:solidFill>
                  <a:srgbClr val="C00000"/>
                </a:solidFill>
                <a:effectLst/>
                <a:uLnTx/>
                <a:uFillTx/>
                <a:latin typeface="Tw Cen MT" panose="020B0602020104020603" pitchFamily="34" charset="0"/>
                <a:ea typeface="+mn-ea"/>
                <a:cs typeface="Segoe UI" panose="020B0502040204020203" pitchFamily="34" charset="0"/>
              </a:rPr>
              <a:t>0 volts </a:t>
            </a:r>
            <a:r>
              <a:rPr kumimoji="0" lang="en-IN" sz="2800" b="0" i="0" u="none" strike="noStrike" kern="1200" cap="none" spc="0" normalizeH="0" baseline="0" noProof="0">
                <a:ln>
                  <a:noFill/>
                </a:ln>
                <a:solidFill>
                  <a:prstClr val="black"/>
                </a:solidFill>
                <a:effectLst/>
                <a:uLnTx/>
                <a:uFillTx/>
                <a:latin typeface="Tw Cen MT" panose="020B0602020104020603" pitchFamily="34" charset="0"/>
                <a:ea typeface="+mn-ea"/>
                <a:cs typeface="Segoe UI" panose="020B0502040204020203" pitchFamily="34" charset="0"/>
              </a:rPr>
              <a:t>would result in a </a:t>
            </a:r>
            <a:r>
              <a:rPr kumimoji="0" lang="en-IN" sz="2800" b="0" i="0" u="none" strike="noStrike" kern="1200" cap="none" spc="0" normalizeH="0" baseline="0" noProof="0">
                <a:ln>
                  <a:noFill/>
                </a:ln>
                <a:solidFill>
                  <a:srgbClr val="C00000"/>
                </a:solidFill>
                <a:effectLst/>
                <a:uLnTx/>
                <a:uFillTx/>
                <a:latin typeface="Tw Cen MT" panose="020B0602020104020603" pitchFamily="34" charset="0"/>
                <a:ea typeface="+mn-ea"/>
                <a:cs typeface="Segoe UI" panose="020B0502040204020203" pitchFamily="34" charset="0"/>
              </a:rPr>
              <a:t>decimal 0</a:t>
            </a:r>
            <a:r>
              <a:rPr kumimoji="0" lang="en-IN" sz="2800" b="0" i="0" u="none" strike="noStrike" kern="1200" cap="none" spc="0" normalizeH="0" baseline="0" noProof="0">
                <a:ln>
                  <a:noFill/>
                </a:ln>
                <a:solidFill>
                  <a:prstClr val="black"/>
                </a:solidFill>
                <a:effectLst/>
                <a:uLnTx/>
                <a:uFillTx/>
                <a:latin typeface="Tw Cen MT" panose="020B0602020104020603" pitchFamily="34" charset="0"/>
                <a:ea typeface="+mn-ea"/>
                <a:cs typeface="Segoe UI" panose="020B0502040204020203" pitchFamily="34" charset="0"/>
              </a:rPr>
              <a:t> and an input of </a:t>
            </a:r>
            <a:r>
              <a:rPr kumimoji="0" lang="en-IN" sz="2800" b="0" i="0" u="none" strike="noStrike" kern="1200" cap="none" spc="0" normalizeH="0" baseline="0" noProof="0">
                <a:ln>
                  <a:noFill/>
                </a:ln>
                <a:solidFill>
                  <a:srgbClr val="C00000"/>
                </a:solidFill>
                <a:effectLst/>
                <a:uLnTx/>
                <a:uFillTx/>
                <a:latin typeface="Tw Cen MT" panose="020B0602020104020603" pitchFamily="34" charset="0"/>
                <a:ea typeface="+mn-ea"/>
                <a:cs typeface="Segoe UI" panose="020B0502040204020203" pitchFamily="34" charset="0"/>
              </a:rPr>
              <a:t>5 volts </a:t>
            </a:r>
            <a:r>
              <a:rPr kumimoji="0" lang="en-IN" sz="2800" b="0" i="0" u="none" strike="noStrike" kern="1200" cap="none" spc="0" normalizeH="0" baseline="0" noProof="0">
                <a:ln>
                  <a:noFill/>
                </a:ln>
                <a:solidFill>
                  <a:prstClr val="black"/>
                </a:solidFill>
                <a:effectLst/>
                <a:uLnTx/>
                <a:uFillTx/>
                <a:latin typeface="Tw Cen MT" panose="020B0602020104020603" pitchFamily="34" charset="0"/>
                <a:ea typeface="+mn-ea"/>
                <a:cs typeface="Segoe UI" panose="020B0502040204020203" pitchFamily="34" charset="0"/>
              </a:rPr>
              <a:t>would give the maximum of </a:t>
            </a:r>
            <a:r>
              <a:rPr lang="en-IN" sz="2800">
                <a:solidFill>
                  <a:srgbClr val="C00000"/>
                </a:solidFill>
                <a:latin typeface="Tw Cen MT" panose="020B0602020104020603" pitchFamily="34" charset="0"/>
                <a:cs typeface="Segoe UI" panose="020B0502040204020203" pitchFamily="34" charset="0"/>
              </a:rPr>
              <a:t>4096</a:t>
            </a:r>
            <a:r>
              <a:rPr kumimoji="0" lang="en-IN" sz="2800" b="0" i="0" u="none" strike="noStrike" kern="1200" cap="none" spc="0" normalizeH="0" baseline="0" noProof="0">
                <a:ln>
                  <a:noFill/>
                </a:ln>
                <a:solidFill>
                  <a:prstClr val="black"/>
                </a:solidFill>
                <a:effectLst/>
                <a:uLnTx/>
                <a:uFillTx/>
                <a:latin typeface="Tw Cen MT" panose="020B0602020104020603" pitchFamily="34" charset="0"/>
                <a:ea typeface="+mn-ea"/>
                <a:cs typeface="Segoe UI" panose="020B0502040204020203" pitchFamily="34" charset="0"/>
              </a:rPr>
              <a:t>.</a:t>
            </a:r>
          </a:p>
        </p:txBody>
      </p:sp>
      <p:sp>
        <p:nvSpPr>
          <p:cNvPr id="10" name="Round Same Side Corner Rectangle 9"/>
          <p:cNvSpPr/>
          <p:nvPr/>
        </p:nvSpPr>
        <p:spPr>
          <a:xfrm>
            <a:off x="140031" y="130792"/>
            <a:ext cx="11899570" cy="6457750"/>
          </a:xfrm>
          <a:prstGeom prst="round2SameRect">
            <a:avLst/>
          </a:prstGeom>
          <a:noFill/>
          <a:ln w="38100">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Pentagon 11"/>
          <p:cNvSpPr/>
          <p:nvPr/>
        </p:nvSpPr>
        <p:spPr>
          <a:xfrm flipH="1">
            <a:off x="11651719" y="6650218"/>
            <a:ext cx="502920" cy="182880"/>
          </a:xfrm>
          <a:prstGeom prst="homePlate">
            <a:avLst/>
          </a:prstGeom>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fld id="{AE471DC6-CC24-4344-AD7A-B802DC426001}" type="slidenum">
              <a:rPr kumimoji="0" lang="en-US" sz="1400" b="1" i="0" u="none" strike="noStrike" kern="1200" cap="none" spc="0" normalizeH="0" baseline="0" noProof="0" smtClean="0">
                <a:ln>
                  <a:noFill/>
                </a:ln>
                <a:solidFill>
                  <a:prstClr val="black"/>
                </a:solidFill>
                <a:effectLst/>
                <a:uLnTx/>
                <a:uFillTx/>
                <a:latin typeface="Century Gothic" panose="020B0502020202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11</a:t>
            </a:fld>
            <a:endParaRPr kumimoji="0" lang="en-US" sz="1400" b="1" i="0" u="none" strike="noStrike" kern="1200" cap="none" spc="0" normalizeH="0" baseline="0" noProof="0">
              <a:ln>
                <a:noFill/>
              </a:ln>
              <a:solidFill>
                <a:prstClr val="black"/>
              </a:solidFill>
              <a:effectLst/>
              <a:uLnTx/>
              <a:uFillTx/>
              <a:latin typeface="Century Gothic" panose="020B0502020202020204" pitchFamily="34" charset="0"/>
              <a:ea typeface="+mn-ea"/>
              <a:cs typeface="+mn-cs"/>
            </a:endParaRPr>
          </a:p>
        </p:txBody>
      </p:sp>
      <p:sp>
        <p:nvSpPr>
          <p:cNvPr id="11" name="TextBox 10"/>
          <p:cNvSpPr txBox="1"/>
          <p:nvPr/>
        </p:nvSpPr>
        <p:spPr>
          <a:xfrm>
            <a:off x="46422" y="6588542"/>
            <a:ext cx="855622"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663300"/>
                </a:solidFill>
                <a:effectLst/>
                <a:uLnTx/>
                <a:uFillTx/>
                <a:latin typeface="Century Gothic" panose="020B0502020202020204" pitchFamily="34" charset="0"/>
                <a:ea typeface="+mn-ea"/>
                <a:cs typeface="+mn-cs"/>
              </a:rPr>
              <a:t>LAB - 4</a:t>
            </a:r>
          </a:p>
        </p:txBody>
      </p:sp>
      <p:sp>
        <p:nvSpPr>
          <p:cNvPr id="9" name="TextBox 8"/>
          <p:cNvSpPr txBox="1"/>
          <p:nvPr/>
        </p:nvSpPr>
        <p:spPr>
          <a:xfrm>
            <a:off x="4036292" y="6587769"/>
            <a:ext cx="3931948" cy="307777"/>
          </a:xfrm>
          <a:prstGeom prst="rect">
            <a:avLst/>
          </a:prstGeom>
          <a:noFill/>
        </p:spPr>
        <p:txBody>
          <a:bodyPr wrap="square" rtlCol="0">
            <a:spAutoFit/>
          </a:bodyPr>
          <a:lstStyle/>
          <a:p>
            <a:pPr algn="ctr"/>
            <a:r>
              <a:rPr lang="en-US" sz="1400" b="1">
                <a:solidFill>
                  <a:srgbClr val="663300"/>
                </a:solidFill>
                <a:latin typeface="Century Gothic" panose="020B0502020202020204" pitchFamily="34" charset="0"/>
              </a:rPr>
              <a:t>BECE403E-Embedded Systems Design Lab</a:t>
            </a:r>
          </a:p>
        </p:txBody>
      </p:sp>
    </p:spTree>
    <p:extLst>
      <p:ext uri="{BB962C8B-B14F-4D97-AF65-F5344CB8AC3E}">
        <p14:creationId xmlns:p14="http://schemas.microsoft.com/office/powerpoint/2010/main" val="3389175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fade">
                                      <p:cBhvr>
                                        <p:cTn id="12" dur="500"/>
                                        <p:tgtEl>
                                          <p:spTgt spid="8">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4" end="4"/>
                                            </p:txEl>
                                          </p:spTgt>
                                        </p:tgtEl>
                                        <p:attrNameLst>
                                          <p:attrName>style.visibility</p:attrName>
                                        </p:attrNameLst>
                                      </p:cBhvr>
                                      <p:to>
                                        <p:strVal val="visible"/>
                                      </p:to>
                                    </p:set>
                                    <p:animEffect transition="in" filter="fade">
                                      <p:cBhvr>
                                        <p:cTn id="17" dur="500"/>
                                        <p:tgtEl>
                                          <p:spTgt spid="8">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xEl>
                                              <p:pRg st="6" end="6"/>
                                            </p:txEl>
                                          </p:spTgt>
                                        </p:tgtEl>
                                        <p:attrNameLst>
                                          <p:attrName>style.visibility</p:attrName>
                                        </p:attrNameLst>
                                      </p:cBhvr>
                                      <p:to>
                                        <p:strVal val="visible"/>
                                      </p:to>
                                    </p:set>
                                    <p:animEffect transition="in" filter="fade">
                                      <p:cBhvr>
                                        <p:cTn id="22" dur="500"/>
                                        <p:tgtEl>
                                          <p:spTgt spid="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ounded Rectangle 4"/>
          <p:cNvSpPr/>
          <p:nvPr/>
        </p:nvSpPr>
        <p:spPr>
          <a:xfrm>
            <a:off x="1199161" y="318649"/>
            <a:ext cx="9781309" cy="678872"/>
          </a:xfrm>
          <a:prstGeom prst="roundRect">
            <a:avLst/>
          </a:prstGeom>
          <a:solidFill>
            <a:schemeClr val="bg1"/>
          </a:solidFill>
          <a:ln w="28575">
            <a:solidFill>
              <a:schemeClr val="accent5"/>
            </a:solidFill>
          </a:ln>
          <a:effectLst/>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a:ln w="9525">
                  <a:solidFill>
                    <a:prstClr val="black"/>
                  </a:solidFill>
                  <a:prstDash val="solid"/>
                </a:ln>
                <a:solidFill>
                  <a:srgbClr val="DD9D31"/>
                </a:solidFill>
                <a:effectLst>
                  <a:outerShdw blurRad="12700" dist="38100" dir="2700000" algn="tl" rotWithShape="0">
                    <a:srgbClr val="DD9D31">
                      <a:lumMod val="60000"/>
                      <a:lumOff val="40000"/>
                    </a:srgbClr>
                  </a:outerShdw>
                </a:effectLst>
                <a:uLnTx/>
                <a:uFillTx/>
                <a:latin typeface="Century Gothic" pitchFamily="34" charset="0"/>
                <a:ea typeface="+mn-ea"/>
                <a:cs typeface="Aharoni" pitchFamily="2" charset="-79"/>
              </a:rPr>
              <a:t>INTRODUCTION TO ADC</a:t>
            </a:r>
          </a:p>
        </p:txBody>
      </p:sp>
      <p:sp>
        <p:nvSpPr>
          <p:cNvPr id="8" name="TextBox 7"/>
          <p:cNvSpPr txBox="1"/>
          <p:nvPr/>
        </p:nvSpPr>
        <p:spPr>
          <a:xfrm>
            <a:off x="216859" y="1185378"/>
            <a:ext cx="11745907" cy="5186035"/>
          </a:xfrm>
          <a:prstGeom prst="rect">
            <a:avLst/>
          </a:prstGeom>
          <a:noFill/>
        </p:spPr>
        <p:txBody>
          <a:bodyPr wrap="square" rtlCol="0">
            <a:spAutoFit/>
          </a:bodyPr>
          <a:lstStyle/>
          <a:p>
            <a:pPr marL="457200" lvl="0" indent="-457200" algn="just">
              <a:buClr>
                <a:srgbClr val="DD9D31">
                  <a:lumMod val="75000"/>
                </a:srgbClr>
              </a:buClr>
              <a:buFont typeface="Wingdings" panose="05000000000000000000" pitchFamily="2" charset="2"/>
              <a:buChar char="Ø"/>
              <a:defRPr/>
            </a:pPr>
            <a:r>
              <a:rPr lang="en-IN" sz="2800">
                <a:solidFill>
                  <a:srgbClr val="C00000"/>
                </a:solidFill>
                <a:latin typeface="Tw Cen MT" panose="020B0602020104020603" pitchFamily="34" charset="0"/>
                <a:cs typeface="Segoe UI" panose="020B0502040204020203" pitchFamily="34" charset="0"/>
              </a:rPr>
              <a:t>The resolution </a:t>
            </a:r>
            <a:r>
              <a:rPr lang="en-IN" sz="2800">
                <a:solidFill>
                  <a:prstClr val="black"/>
                </a:solidFill>
                <a:latin typeface="Tw Cen MT" panose="020B0602020104020603" pitchFamily="34" charset="0"/>
                <a:cs typeface="Segoe UI" panose="020B0502040204020203" pitchFamily="34" charset="0"/>
              </a:rPr>
              <a:t>for an ADC is the smallest distinguishable change in </a:t>
            </a:r>
            <a:r>
              <a:rPr lang="en-IN" sz="2800" err="1">
                <a:solidFill>
                  <a:prstClr val="black"/>
                </a:solidFill>
                <a:latin typeface="Tw Cen MT" panose="020B0602020104020603" pitchFamily="34" charset="0"/>
                <a:cs typeface="Segoe UI" panose="020B0502040204020203" pitchFamily="34" charset="0"/>
              </a:rPr>
              <a:t>analog</a:t>
            </a:r>
            <a:r>
              <a:rPr lang="en-IN" sz="2800">
                <a:solidFill>
                  <a:prstClr val="black"/>
                </a:solidFill>
                <a:latin typeface="Tw Cen MT" panose="020B0602020104020603" pitchFamily="34" charset="0"/>
                <a:cs typeface="Segoe UI" panose="020B0502040204020203" pitchFamily="34" charset="0"/>
              </a:rPr>
              <a:t> input that causes the digital output to change.</a:t>
            </a:r>
            <a:endParaRPr kumimoji="0" lang="en-IN" sz="2800" b="0" i="0" u="none" strike="noStrike" kern="1200" cap="none" spc="0" normalizeH="0" baseline="0" noProof="0">
              <a:ln>
                <a:noFill/>
              </a:ln>
              <a:solidFill>
                <a:prstClr val="black"/>
              </a:solidFill>
              <a:effectLst/>
              <a:uLnTx/>
              <a:uFillTx/>
              <a:latin typeface="Tw Cen MT" panose="020B0602020104020603" pitchFamily="34" charset="0"/>
              <a:ea typeface="+mn-ea"/>
              <a:cs typeface="Segoe UI" panose="020B0502040204020203" pitchFamily="34" charset="0"/>
            </a:endParaRPr>
          </a:p>
          <a:p>
            <a:pPr marL="457200" marR="0" lvl="0" indent="-457200" algn="just" defTabSz="914400" rtl="0" eaLnBrk="1" fontAlgn="auto" latinLnBrk="0" hangingPunct="1">
              <a:lnSpc>
                <a:spcPct val="100000"/>
              </a:lnSpc>
              <a:spcBef>
                <a:spcPts val="0"/>
              </a:spcBef>
              <a:spcAft>
                <a:spcPts val="0"/>
              </a:spcAft>
              <a:buClr>
                <a:srgbClr val="DD9D31">
                  <a:lumMod val="75000"/>
                </a:srgbClr>
              </a:buClr>
              <a:buSzTx/>
              <a:buFont typeface="Wingdings" panose="05000000000000000000" pitchFamily="2" charset="2"/>
              <a:buChar char="Ø"/>
              <a:tabLst/>
              <a:defRPr/>
            </a:pPr>
            <a:endParaRPr kumimoji="0" lang="en-IN" sz="2800" b="0" i="0" u="none" strike="noStrike" kern="1200" cap="none" spc="0" normalizeH="0" baseline="0" noProof="0">
              <a:ln>
                <a:noFill/>
              </a:ln>
              <a:solidFill>
                <a:prstClr val="black"/>
              </a:solidFill>
              <a:effectLst/>
              <a:uLnTx/>
              <a:uFillTx/>
              <a:latin typeface="Tw Cen MT" panose="020B0602020104020603" pitchFamily="34" charset="0"/>
              <a:ea typeface="+mn-ea"/>
              <a:cs typeface="Segoe UI" panose="020B0502040204020203" pitchFamily="34" charset="0"/>
            </a:endParaRPr>
          </a:p>
          <a:p>
            <a:pPr marL="457200" marR="0" lvl="0" indent="-457200" algn="just" defTabSz="914400" rtl="0" eaLnBrk="1" fontAlgn="auto" latinLnBrk="0" hangingPunct="1">
              <a:lnSpc>
                <a:spcPct val="100000"/>
              </a:lnSpc>
              <a:spcBef>
                <a:spcPts val="0"/>
              </a:spcBef>
              <a:spcAft>
                <a:spcPts val="0"/>
              </a:spcAft>
              <a:buClr>
                <a:srgbClr val="DD9D31">
                  <a:lumMod val="75000"/>
                </a:srgbClr>
              </a:buClr>
              <a:buSzTx/>
              <a:buFont typeface="Wingdings" panose="05000000000000000000" pitchFamily="2" charset="2"/>
              <a:buChar char="Ø"/>
              <a:tabLst/>
              <a:defRPr/>
            </a:pPr>
            <a:endParaRPr kumimoji="0" lang="en-IN" sz="2800" b="0" i="0" u="none" strike="noStrike" kern="1200" cap="none" spc="0" normalizeH="0" baseline="0" noProof="0">
              <a:ln>
                <a:noFill/>
              </a:ln>
              <a:solidFill>
                <a:prstClr val="black"/>
              </a:solidFill>
              <a:effectLst/>
              <a:uLnTx/>
              <a:uFillTx/>
              <a:latin typeface="Tw Cen MT" panose="020B0602020104020603" pitchFamily="34" charset="0"/>
              <a:ea typeface="+mn-ea"/>
              <a:cs typeface="Segoe UI" panose="020B0502040204020203" pitchFamily="34" charset="0"/>
            </a:endParaRPr>
          </a:p>
          <a:p>
            <a:pPr marL="457200" marR="0" lvl="0" indent="-457200" algn="just" defTabSz="914400" rtl="0" eaLnBrk="1" fontAlgn="auto" latinLnBrk="0" hangingPunct="1">
              <a:lnSpc>
                <a:spcPct val="100000"/>
              </a:lnSpc>
              <a:spcBef>
                <a:spcPts val="0"/>
              </a:spcBef>
              <a:spcAft>
                <a:spcPts val="0"/>
              </a:spcAft>
              <a:buClr>
                <a:srgbClr val="DD9D31">
                  <a:lumMod val="75000"/>
                </a:srgbClr>
              </a:buClr>
              <a:buSzTx/>
              <a:buFont typeface="Wingdings" panose="05000000000000000000" pitchFamily="2" charset="2"/>
              <a:buChar char="Ø"/>
              <a:tabLst/>
              <a:defRPr/>
            </a:pPr>
            <a:r>
              <a:rPr kumimoji="0" lang="en-IN" sz="2800" b="0" i="0" u="none" strike="noStrike" kern="1200" cap="none" spc="0" normalizeH="0" baseline="0" noProof="0">
                <a:ln>
                  <a:noFill/>
                </a:ln>
                <a:solidFill>
                  <a:prstClr val="black"/>
                </a:solidFill>
                <a:effectLst/>
                <a:uLnTx/>
                <a:uFillTx/>
                <a:latin typeface="Tw Cen MT" panose="020B0602020104020603" pitchFamily="34" charset="0"/>
                <a:ea typeface="+mn-ea"/>
                <a:cs typeface="Segoe UI" panose="020B0502040204020203" pitchFamily="34" charset="0"/>
              </a:rPr>
              <a:t>Nucle</a:t>
            </a:r>
            <a:r>
              <a:rPr lang="en-IN" sz="2800" noProof="0">
                <a:solidFill>
                  <a:prstClr val="black"/>
                </a:solidFill>
                <a:latin typeface="Tw Cen MT" panose="020B0602020104020603" pitchFamily="34" charset="0"/>
                <a:cs typeface="Segoe UI" panose="020B0502040204020203" pitchFamily="34" charset="0"/>
              </a:rPr>
              <a:t>o</a:t>
            </a:r>
            <a:r>
              <a:rPr kumimoji="0" lang="en-IN" sz="2800" b="0" i="0" u="none" strike="noStrike" kern="1200" cap="none" spc="0" normalizeH="0" baseline="0" noProof="0">
                <a:ln>
                  <a:noFill/>
                </a:ln>
                <a:solidFill>
                  <a:prstClr val="black"/>
                </a:solidFill>
                <a:effectLst/>
                <a:uLnTx/>
                <a:uFillTx/>
                <a:latin typeface="Tw Cen MT" panose="020B0602020104020603" pitchFamily="34" charset="0"/>
                <a:ea typeface="+mn-ea"/>
                <a:cs typeface="Segoe UI" panose="020B0502040204020203" pitchFamily="34" charset="0"/>
              </a:rPr>
              <a:t> ADC is 12-bit. This leads to a resolution of 5/4096, or </a:t>
            </a:r>
            <a:r>
              <a:rPr lang="en-IN" sz="2800">
                <a:solidFill>
                  <a:srgbClr val="C00000"/>
                </a:solidFill>
                <a:latin typeface="Tw Cen MT" panose="020B0602020104020603" pitchFamily="34" charset="0"/>
                <a:cs typeface="Segoe UI" panose="020B0502040204020203" pitchFamily="34" charset="0"/>
              </a:rPr>
              <a:t>1.2</a:t>
            </a:r>
            <a:r>
              <a:rPr kumimoji="0" lang="en-IN" sz="2800" b="0" i="0" u="none" strike="noStrike" kern="1200" cap="none" spc="0" normalizeH="0" baseline="0" noProof="0">
                <a:ln>
                  <a:noFill/>
                </a:ln>
                <a:solidFill>
                  <a:srgbClr val="C00000"/>
                </a:solidFill>
                <a:effectLst/>
                <a:uLnTx/>
                <a:uFillTx/>
                <a:latin typeface="Tw Cen MT" panose="020B0602020104020603" pitchFamily="34" charset="0"/>
                <a:ea typeface="+mn-ea"/>
                <a:cs typeface="Segoe UI" panose="020B0502040204020203" pitchFamily="34" charset="0"/>
              </a:rPr>
              <a:t> mV</a:t>
            </a:r>
            <a:r>
              <a:rPr kumimoji="0" lang="en-IN" sz="2800" b="0" i="0" u="none" strike="noStrike" kern="1200" cap="none" spc="0" normalizeH="0" baseline="0" noProof="0">
                <a:ln>
                  <a:noFill/>
                </a:ln>
                <a:solidFill>
                  <a:prstClr val="black"/>
                </a:solidFill>
                <a:effectLst/>
                <a:uLnTx/>
                <a:uFillTx/>
                <a:latin typeface="Tw Cen MT" panose="020B0602020104020603" pitchFamily="34" charset="0"/>
                <a:ea typeface="+mn-ea"/>
                <a:cs typeface="Segoe UI" panose="020B0502040204020203" pitchFamily="34" charset="0"/>
              </a:rPr>
              <a:t>.</a:t>
            </a:r>
          </a:p>
          <a:p>
            <a:pPr marL="457200" marR="0" lvl="0" indent="-457200" algn="just" defTabSz="914400" rtl="0" eaLnBrk="1" fontAlgn="auto" latinLnBrk="0" hangingPunct="1">
              <a:lnSpc>
                <a:spcPct val="100000"/>
              </a:lnSpc>
              <a:spcBef>
                <a:spcPts val="0"/>
              </a:spcBef>
              <a:spcAft>
                <a:spcPts val="0"/>
              </a:spcAft>
              <a:buClr>
                <a:srgbClr val="DD9D31">
                  <a:lumMod val="75000"/>
                </a:srgbClr>
              </a:buClr>
              <a:buSzTx/>
              <a:buFont typeface="Wingdings" panose="05000000000000000000" pitchFamily="2" charset="2"/>
              <a:buChar char="Ø"/>
              <a:tabLst/>
              <a:defRPr/>
            </a:pPr>
            <a:endParaRPr kumimoji="0" lang="en-IN" sz="2800" b="0" i="0" u="none" strike="noStrike" kern="1200" cap="none" spc="0" normalizeH="0" baseline="0" noProof="0">
              <a:ln>
                <a:noFill/>
              </a:ln>
              <a:solidFill>
                <a:prstClr val="black"/>
              </a:solidFill>
              <a:effectLst/>
              <a:uLnTx/>
              <a:uFillTx/>
              <a:latin typeface="Tw Cen MT" panose="020B0602020104020603" pitchFamily="34" charset="0"/>
              <a:ea typeface="+mn-ea"/>
              <a:cs typeface="Segoe UI" panose="020B0502040204020203" pitchFamily="34" charset="0"/>
            </a:endParaRPr>
          </a:p>
          <a:p>
            <a:pPr marL="457200" marR="0" lvl="0" indent="-457200" algn="just" defTabSz="914400" rtl="0" eaLnBrk="1" fontAlgn="auto" latinLnBrk="0" hangingPunct="1">
              <a:lnSpc>
                <a:spcPct val="100000"/>
              </a:lnSpc>
              <a:spcBef>
                <a:spcPts val="0"/>
              </a:spcBef>
              <a:spcAft>
                <a:spcPts val="0"/>
              </a:spcAft>
              <a:buClr>
                <a:srgbClr val="DD9D31">
                  <a:lumMod val="75000"/>
                </a:srgbClr>
              </a:buClr>
              <a:buSzTx/>
              <a:buFont typeface="Wingdings" panose="05000000000000000000" pitchFamily="2" charset="2"/>
              <a:buChar char="Ø"/>
              <a:tabLst/>
              <a:defRPr/>
            </a:pPr>
            <a:r>
              <a:rPr kumimoji="0" lang="en-IN" sz="2800" b="0" i="0" u="none" strike="noStrike" kern="1200" cap="none" spc="0" normalizeH="0" baseline="0" noProof="0">
                <a:ln>
                  <a:noFill/>
                </a:ln>
                <a:solidFill>
                  <a:srgbClr val="C00000"/>
                </a:solidFill>
                <a:effectLst/>
                <a:uLnTx/>
                <a:uFillTx/>
                <a:latin typeface="Tw Cen MT" panose="020B0602020104020603" pitchFamily="34" charset="0"/>
                <a:ea typeface="+mn-ea"/>
                <a:cs typeface="Segoe UI" panose="020B0502040204020203" pitchFamily="34" charset="0"/>
              </a:rPr>
              <a:t>ADC conversion</a:t>
            </a:r>
          </a:p>
          <a:p>
            <a:pPr marL="3657600" marR="0" lvl="8" indent="-3211513" algn="just" defTabSz="914400" rtl="0" eaLnBrk="1" fontAlgn="auto" latinLnBrk="0" hangingPunct="1">
              <a:lnSpc>
                <a:spcPct val="100000"/>
              </a:lnSpc>
              <a:spcBef>
                <a:spcPts val="0"/>
              </a:spcBef>
              <a:spcAft>
                <a:spcPts val="0"/>
              </a:spcAft>
              <a:buClr>
                <a:srgbClr val="DD9D31">
                  <a:lumMod val="75000"/>
                </a:srgbClr>
              </a:buClr>
              <a:buSzTx/>
              <a:buFontTx/>
              <a:buNone/>
              <a:tabLst/>
              <a:defRPr/>
            </a:pPr>
            <a:endParaRPr kumimoji="0" lang="en-IN" sz="2800" b="0" i="0" u="none" strike="noStrike" kern="1200" cap="none" spc="0" normalizeH="0" baseline="0" noProof="0">
              <a:ln>
                <a:noFill/>
              </a:ln>
              <a:solidFill>
                <a:prstClr val="black"/>
              </a:solidFill>
              <a:effectLst/>
              <a:uLnTx/>
              <a:uFillTx/>
              <a:latin typeface="Tw Cen MT" panose="020B0602020104020603" pitchFamily="34" charset="0"/>
              <a:ea typeface="+mn-ea"/>
              <a:cs typeface="Segoe UI" panose="020B0502040204020203" pitchFamily="34" charset="0"/>
            </a:endParaRPr>
          </a:p>
          <a:p>
            <a:pPr marL="3657600" marR="0" lvl="8" indent="-3211513" algn="just" defTabSz="914400" rtl="0" eaLnBrk="1" fontAlgn="auto" latinLnBrk="0" hangingPunct="1">
              <a:lnSpc>
                <a:spcPct val="100000"/>
              </a:lnSpc>
              <a:spcBef>
                <a:spcPts val="0"/>
              </a:spcBef>
              <a:spcAft>
                <a:spcPts val="0"/>
              </a:spcAft>
              <a:buClr>
                <a:srgbClr val="DD9D31">
                  <a:lumMod val="75000"/>
                </a:srgbClr>
              </a:buClr>
              <a:buSzTx/>
              <a:buFontTx/>
              <a:buNone/>
              <a:tabLst/>
              <a:defRPr/>
            </a:pPr>
            <a:r>
              <a:rPr kumimoji="0" lang="en-IN" sz="2000" b="0" i="0" u="none" strike="noStrike" kern="1200" cap="none" spc="0" normalizeH="0" baseline="0" noProof="0">
                <a:ln>
                  <a:noFill/>
                </a:ln>
                <a:solidFill>
                  <a:prstClr val="black"/>
                </a:solidFill>
                <a:effectLst/>
                <a:uLnTx/>
                <a:uFillTx/>
                <a:latin typeface="Tw Cen MT" panose="020B0602020104020603" pitchFamily="34" charset="0"/>
                <a:ea typeface="+mn-ea"/>
                <a:cs typeface="Segoe UI" panose="020B0502040204020203" pitchFamily="34" charset="0"/>
              </a:rPr>
              <a:t>Where, D the digital output value, V</a:t>
            </a:r>
            <a:r>
              <a:rPr kumimoji="0" lang="en-IN" sz="2000" b="0" i="0" u="none" strike="noStrike" kern="1200" cap="none" spc="0" normalizeH="0" baseline="-25000" noProof="0">
                <a:ln>
                  <a:noFill/>
                </a:ln>
                <a:solidFill>
                  <a:prstClr val="black"/>
                </a:solidFill>
                <a:effectLst/>
                <a:uLnTx/>
                <a:uFillTx/>
                <a:latin typeface="Tw Cen MT" panose="020B0602020104020603" pitchFamily="34" charset="0"/>
                <a:ea typeface="+mn-ea"/>
                <a:cs typeface="Segoe UI" panose="020B0502040204020203" pitchFamily="34" charset="0"/>
              </a:rPr>
              <a:t>i</a:t>
            </a:r>
            <a:r>
              <a:rPr kumimoji="0" lang="en-IN" sz="2000" b="0" i="0" u="none" strike="noStrike" kern="1200" cap="none" spc="0" normalizeH="0" baseline="0" noProof="0">
                <a:ln>
                  <a:noFill/>
                </a:ln>
                <a:solidFill>
                  <a:prstClr val="black"/>
                </a:solidFill>
                <a:effectLst/>
                <a:uLnTx/>
                <a:uFillTx/>
                <a:latin typeface="Tw Cen MT" panose="020B0602020104020603" pitchFamily="34" charset="0"/>
                <a:ea typeface="+mn-ea"/>
                <a:cs typeface="Segoe UI" panose="020B0502040204020203" pitchFamily="34" charset="0"/>
              </a:rPr>
              <a:t> is the input voltage, V</a:t>
            </a:r>
            <a:r>
              <a:rPr kumimoji="0" lang="en-IN" sz="2000" b="0" i="0" u="none" strike="noStrike" kern="1200" cap="none" spc="0" normalizeH="0" baseline="-25000" noProof="0">
                <a:ln>
                  <a:noFill/>
                </a:ln>
                <a:solidFill>
                  <a:prstClr val="black"/>
                </a:solidFill>
                <a:effectLst/>
                <a:uLnTx/>
                <a:uFillTx/>
                <a:latin typeface="Tw Cen MT" panose="020B0602020104020603" pitchFamily="34" charset="0"/>
                <a:ea typeface="+mn-ea"/>
                <a:cs typeface="Segoe UI" panose="020B0502040204020203" pitchFamily="34" charset="0"/>
              </a:rPr>
              <a:t>r</a:t>
            </a:r>
            <a:r>
              <a:rPr kumimoji="0" lang="en-IN" sz="2000" b="0" i="0" u="none" strike="noStrike" kern="1200" cap="none" spc="0" normalizeH="0" baseline="0" noProof="0">
                <a:ln>
                  <a:noFill/>
                </a:ln>
                <a:solidFill>
                  <a:prstClr val="black"/>
                </a:solidFill>
                <a:effectLst/>
                <a:uLnTx/>
                <a:uFillTx/>
                <a:latin typeface="Tw Cen MT" panose="020B0602020104020603" pitchFamily="34" charset="0"/>
                <a:ea typeface="+mn-ea"/>
                <a:cs typeface="Segoe UI" panose="020B0502040204020203" pitchFamily="34" charset="0"/>
              </a:rPr>
              <a:t> the reference voltage, n no. of bits in the output </a:t>
            </a:r>
          </a:p>
          <a:p>
            <a:pPr marL="457200" marR="0" lvl="0" indent="-457200" algn="just" defTabSz="914400" rtl="0" eaLnBrk="1" fontAlgn="auto" latinLnBrk="0" hangingPunct="1">
              <a:lnSpc>
                <a:spcPct val="100000"/>
              </a:lnSpc>
              <a:spcBef>
                <a:spcPts val="0"/>
              </a:spcBef>
              <a:spcAft>
                <a:spcPts val="0"/>
              </a:spcAft>
              <a:buClr>
                <a:srgbClr val="DD9D31">
                  <a:lumMod val="75000"/>
                </a:srgbClr>
              </a:buClr>
              <a:buSzTx/>
              <a:buFont typeface="Wingdings" panose="05000000000000000000" pitchFamily="2" charset="2"/>
              <a:buChar char="Ø"/>
              <a:tabLst/>
              <a:defRPr/>
            </a:pPr>
            <a:endParaRPr kumimoji="0" lang="en-IN" sz="1100" b="0" i="0" u="none" strike="noStrike" kern="1200" cap="none" spc="0" normalizeH="0" baseline="0" noProof="0">
              <a:ln>
                <a:noFill/>
              </a:ln>
              <a:solidFill>
                <a:prstClr val="black"/>
              </a:solidFill>
              <a:effectLst/>
              <a:uLnTx/>
              <a:uFillTx/>
              <a:latin typeface="Tw Cen MT" panose="020B0602020104020603" pitchFamily="34" charset="0"/>
              <a:ea typeface="+mn-ea"/>
              <a:cs typeface="Segoe UI" panose="020B0502040204020203" pitchFamily="34" charset="0"/>
            </a:endParaRPr>
          </a:p>
          <a:p>
            <a:pPr marL="457200" marR="0" lvl="0" indent="-457200" algn="just" defTabSz="914400" rtl="0" eaLnBrk="1" fontAlgn="auto" latinLnBrk="0" hangingPunct="1">
              <a:lnSpc>
                <a:spcPct val="100000"/>
              </a:lnSpc>
              <a:spcBef>
                <a:spcPts val="0"/>
              </a:spcBef>
              <a:spcAft>
                <a:spcPts val="0"/>
              </a:spcAft>
              <a:buClr>
                <a:srgbClr val="DD9D31">
                  <a:lumMod val="75000"/>
                </a:srgbClr>
              </a:buClr>
              <a:buSzTx/>
              <a:buFont typeface="Wingdings" panose="05000000000000000000" pitchFamily="2" charset="2"/>
              <a:buChar char="Ø"/>
              <a:tabLst/>
              <a:defRPr/>
            </a:pPr>
            <a:endParaRPr kumimoji="0" lang="en-IN" sz="2000" b="0" i="0" u="none" strike="noStrike" kern="1200" cap="none" spc="0" normalizeH="0" baseline="0" noProof="0">
              <a:ln>
                <a:noFill/>
              </a:ln>
              <a:solidFill>
                <a:prstClr val="black"/>
              </a:solidFill>
              <a:effectLst/>
              <a:uLnTx/>
              <a:uFillTx/>
              <a:latin typeface="Tw Cen MT" panose="020B0602020104020603" pitchFamily="34" charset="0"/>
              <a:ea typeface="+mn-ea"/>
              <a:cs typeface="Segoe UI" panose="020B0502040204020203" pitchFamily="34" charset="0"/>
            </a:endParaRPr>
          </a:p>
          <a:p>
            <a:pPr marL="457200" marR="0" lvl="0" indent="-457200" algn="just" defTabSz="914400" rtl="0" eaLnBrk="1" fontAlgn="auto" latinLnBrk="0" hangingPunct="1">
              <a:lnSpc>
                <a:spcPct val="100000"/>
              </a:lnSpc>
              <a:spcBef>
                <a:spcPts val="0"/>
              </a:spcBef>
              <a:spcAft>
                <a:spcPts val="0"/>
              </a:spcAft>
              <a:buClr>
                <a:srgbClr val="DD9D31">
                  <a:lumMod val="75000"/>
                </a:srgbClr>
              </a:buClr>
              <a:buSzTx/>
              <a:buFont typeface="Wingdings" panose="05000000000000000000" pitchFamily="2" charset="2"/>
              <a:buChar char="Ø"/>
              <a:tabLst/>
              <a:defRPr/>
            </a:pPr>
            <a:r>
              <a:rPr kumimoji="0" lang="en-IN" sz="2800" b="0" i="0" u="none" strike="noStrike" kern="1200" cap="none" spc="0" normalizeH="0" baseline="0" noProof="0">
                <a:ln>
                  <a:noFill/>
                </a:ln>
                <a:solidFill>
                  <a:prstClr val="black"/>
                </a:solidFill>
                <a:effectLst/>
                <a:uLnTx/>
                <a:uFillTx/>
                <a:latin typeface="Tw Cen MT" panose="020B0602020104020603" pitchFamily="34" charset="0"/>
                <a:ea typeface="+mn-ea"/>
                <a:cs typeface="Segoe UI" panose="020B0502040204020203" pitchFamily="34" charset="0"/>
              </a:rPr>
              <a:t>The output binary number D is an integer, for an n-bit number can take any value from </a:t>
            </a:r>
            <a:r>
              <a:rPr kumimoji="0" lang="en-IN" sz="2800" b="0" i="0" u="none" strike="noStrike" kern="1200" cap="none" spc="0" normalizeH="0" baseline="0" noProof="0">
                <a:ln>
                  <a:noFill/>
                </a:ln>
                <a:solidFill>
                  <a:srgbClr val="C00000"/>
                </a:solidFill>
                <a:effectLst/>
                <a:uLnTx/>
                <a:uFillTx/>
                <a:latin typeface="Tw Cen MT" panose="020B0602020104020603" pitchFamily="34" charset="0"/>
                <a:ea typeface="+mn-ea"/>
                <a:cs typeface="Segoe UI" panose="020B0502040204020203" pitchFamily="34" charset="0"/>
              </a:rPr>
              <a:t>0 to (2</a:t>
            </a:r>
            <a:r>
              <a:rPr kumimoji="0" lang="en-IN" sz="2800" b="0" i="0" u="none" strike="noStrike" kern="1200" cap="none" spc="0" normalizeH="0" baseline="30000" noProof="0">
                <a:ln>
                  <a:noFill/>
                </a:ln>
                <a:solidFill>
                  <a:srgbClr val="C00000"/>
                </a:solidFill>
                <a:effectLst/>
                <a:uLnTx/>
                <a:uFillTx/>
                <a:latin typeface="Tw Cen MT" panose="020B0602020104020603" pitchFamily="34" charset="0"/>
                <a:ea typeface="+mn-ea"/>
                <a:cs typeface="Segoe UI" panose="020B0502040204020203" pitchFamily="34" charset="0"/>
              </a:rPr>
              <a:t>n</a:t>
            </a:r>
            <a:r>
              <a:rPr kumimoji="0" lang="en-IN" sz="2800" b="0" i="0" u="none" strike="noStrike" kern="1200" cap="none" spc="0" normalizeH="0" baseline="0" noProof="0">
                <a:ln>
                  <a:noFill/>
                </a:ln>
                <a:solidFill>
                  <a:srgbClr val="C00000"/>
                </a:solidFill>
                <a:effectLst/>
                <a:uLnTx/>
                <a:uFillTx/>
                <a:latin typeface="Tw Cen MT" panose="020B0602020104020603" pitchFamily="34" charset="0"/>
                <a:ea typeface="+mn-ea"/>
                <a:cs typeface="Segoe UI" panose="020B0502040204020203" pitchFamily="34" charset="0"/>
              </a:rPr>
              <a:t> - 1).</a:t>
            </a:r>
          </a:p>
        </p:txBody>
      </p:sp>
      <p:sp>
        <p:nvSpPr>
          <p:cNvPr id="10" name="Round Same Side Corner Rectangle 9"/>
          <p:cNvSpPr/>
          <p:nvPr/>
        </p:nvSpPr>
        <p:spPr>
          <a:xfrm>
            <a:off x="140031" y="130792"/>
            <a:ext cx="11899570" cy="6457750"/>
          </a:xfrm>
          <a:prstGeom prst="round2SameRect">
            <a:avLst/>
          </a:prstGeom>
          <a:noFill/>
          <a:ln w="38100">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Pentagon 11"/>
          <p:cNvSpPr/>
          <p:nvPr/>
        </p:nvSpPr>
        <p:spPr>
          <a:xfrm flipH="1">
            <a:off x="11651719" y="6650218"/>
            <a:ext cx="502920" cy="182880"/>
          </a:xfrm>
          <a:prstGeom prst="homePlate">
            <a:avLst/>
          </a:prstGeom>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fld id="{AE471DC6-CC24-4344-AD7A-B802DC426001}" type="slidenum">
              <a:rPr kumimoji="0" lang="en-US" sz="1400" b="1" i="0" u="none" strike="noStrike" kern="1200" cap="none" spc="0" normalizeH="0" baseline="0" noProof="0" smtClean="0">
                <a:ln>
                  <a:noFill/>
                </a:ln>
                <a:solidFill>
                  <a:prstClr val="black"/>
                </a:solidFill>
                <a:effectLst/>
                <a:uLnTx/>
                <a:uFillTx/>
                <a:latin typeface="Century Gothic" panose="020B0502020202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12</a:t>
            </a:fld>
            <a:endParaRPr kumimoji="0" lang="en-US" sz="1400" b="1" i="0" u="none" strike="noStrike" kern="1200" cap="none" spc="0" normalizeH="0" baseline="0" noProof="0">
              <a:ln>
                <a:noFill/>
              </a:ln>
              <a:solidFill>
                <a:prstClr val="black"/>
              </a:solidFill>
              <a:effectLst/>
              <a:uLnTx/>
              <a:uFillTx/>
              <a:latin typeface="Century Gothic" panose="020B0502020202020204" pitchFamily="34" charset="0"/>
              <a:ea typeface="+mn-ea"/>
              <a:cs typeface="+mn-cs"/>
            </a:endParaRPr>
          </a:p>
        </p:txBody>
      </p:sp>
      <p:sp>
        <p:nvSpPr>
          <p:cNvPr id="11" name="TextBox 10"/>
          <p:cNvSpPr txBox="1"/>
          <p:nvPr/>
        </p:nvSpPr>
        <p:spPr>
          <a:xfrm>
            <a:off x="46422" y="6588542"/>
            <a:ext cx="855622"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663300"/>
                </a:solidFill>
                <a:effectLst/>
                <a:uLnTx/>
                <a:uFillTx/>
                <a:latin typeface="Century Gothic" panose="020B0502020202020204" pitchFamily="34" charset="0"/>
                <a:ea typeface="+mn-ea"/>
                <a:cs typeface="+mn-cs"/>
              </a:rPr>
              <a:t>LAB - 4</a:t>
            </a:r>
          </a:p>
        </p:txBody>
      </p:sp>
      <mc:AlternateContent xmlns:mc="http://schemas.openxmlformats.org/markup-compatibility/2006">
        <mc:Choice xmlns:a14="http://schemas.microsoft.com/office/drawing/2010/main" Requires="a14">
          <p:sp>
            <p:nvSpPr>
              <p:cNvPr id="13" name="Rectangle 12"/>
              <p:cNvSpPr/>
              <p:nvPr/>
            </p:nvSpPr>
            <p:spPr>
              <a:xfrm>
                <a:off x="3866126" y="2202894"/>
                <a:ext cx="2223686" cy="622286"/>
              </a:xfrm>
              <a:prstGeom prst="rect">
                <a:avLst/>
              </a:prstGeom>
              <a:ln w="28575">
                <a:solidFill>
                  <a:srgbClr val="CC3300"/>
                </a:solidFill>
              </a:ln>
            </p:spPr>
            <p:txBody>
              <a:bodyPr wrap="none">
                <a:spAutoFit/>
              </a:bodyPr>
              <a:lstStyle/>
              <a:p>
                <a:pPr marL="0" marR="0" lvl="0" indent="0" algn="just" defTabSz="914400" rtl="0" eaLnBrk="1" fontAlgn="auto" latinLnBrk="0" hangingPunct="1">
                  <a:lnSpc>
                    <a:spcPct val="100000"/>
                  </a:lnSpc>
                  <a:spcBef>
                    <a:spcPts val="0"/>
                  </a:spcBef>
                  <a:spcAft>
                    <a:spcPts val="0"/>
                  </a:spcAft>
                  <a:buClr>
                    <a:prstClr val="black"/>
                  </a:buClr>
                  <a:buSzTx/>
                  <a:buFontTx/>
                  <a:buNone/>
                  <a:tabLst/>
                  <a:defRPr/>
                </a:pPr>
                <a:r>
                  <a:rPr kumimoji="0" lang="en-US" sz="2400" b="1" i="1" u="none" strike="noStrike" kern="1200" cap="none" spc="0" normalizeH="0" baseline="0" noProof="0">
                    <a:ln>
                      <a:noFill/>
                    </a:ln>
                    <a:solidFill>
                      <a:prstClr val="black"/>
                    </a:solidFill>
                    <a:effectLst/>
                    <a:uLnTx/>
                    <a:uFillTx/>
                    <a:latin typeface="Calibri"/>
                    <a:ea typeface="+mn-ea"/>
                    <a:cs typeface="+mn-cs"/>
                  </a:rPr>
                  <a:t> Resolution = </a:t>
                </a:r>
                <a14:m>
                  <m:oMath xmlns:m="http://schemas.openxmlformats.org/officeDocument/2006/math">
                    <m:f>
                      <m:fPr>
                        <m:ctrlPr>
                          <a:rPr kumimoji="0" lang="en-US" sz="2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fPr>
                      <m:num>
                        <m:sSub>
                          <m:sSubPr>
                            <m:ctrlPr>
                              <a:rPr kumimoji="0" lang="en-US" sz="2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2400" b="1" i="1" u="none" strike="noStrike" kern="1200" cap="none" spc="0" normalizeH="0" baseline="0" noProof="0">
                                <a:ln>
                                  <a:noFill/>
                                </a:ln>
                                <a:solidFill>
                                  <a:prstClr val="black"/>
                                </a:solidFill>
                                <a:effectLst/>
                                <a:uLnTx/>
                                <a:uFillTx/>
                                <a:latin typeface="Cambria Math"/>
                                <a:ea typeface="+mn-ea"/>
                                <a:cs typeface="+mn-cs"/>
                              </a:rPr>
                              <m:t>𝑽</m:t>
                            </m:r>
                          </m:e>
                          <m:sub>
                            <m:r>
                              <a:rPr kumimoji="0" lang="en-US" sz="2400" b="1" i="1" u="none" strike="noStrike" kern="1200" cap="none" spc="0" normalizeH="0" baseline="0" noProof="0">
                                <a:ln>
                                  <a:noFill/>
                                </a:ln>
                                <a:solidFill>
                                  <a:prstClr val="black"/>
                                </a:solidFill>
                                <a:effectLst/>
                                <a:uLnTx/>
                                <a:uFillTx/>
                                <a:latin typeface="Cambria Math"/>
                                <a:ea typeface="+mn-ea"/>
                                <a:cs typeface="+mn-cs"/>
                              </a:rPr>
                              <m:t>𝒓</m:t>
                            </m:r>
                          </m:sub>
                        </m:sSub>
                      </m:num>
                      <m:den>
                        <m:sSup>
                          <m:sSupPr>
                            <m:ctrlPr>
                              <a:rPr kumimoji="0" lang="en-US" sz="2400" b="1" i="1" u="none" strike="noStrike" kern="1200" cap="none" spc="0" normalizeH="0" baseline="0" noProof="0">
                                <a:ln>
                                  <a:noFill/>
                                </a:ln>
                                <a:solidFill>
                                  <a:prstClr val="black"/>
                                </a:solidFill>
                                <a:effectLst/>
                                <a:uLnTx/>
                                <a:uFillTx/>
                                <a:latin typeface="Cambria Math" panose="02040503050406030204" pitchFamily="18" charset="0"/>
                                <a:ea typeface="Cambria Math"/>
                                <a:cs typeface="+mn-cs"/>
                              </a:rPr>
                            </m:ctrlPr>
                          </m:sSupPr>
                          <m:e>
                            <m:r>
                              <a:rPr kumimoji="0" lang="en-US" sz="2400" b="1" i="1" u="none" strike="noStrike" kern="1200" cap="none" spc="0" normalizeH="0" baseline="0" noProof="0">
                                <a:ln>
                                  <a:noFill/>
                                </a:ln>
                                <a:solidFill>
                                  <a:prstClr val="black"/>
                                </a:solidFill>
                                <a:effectLst/>
                                <a:uLnTx/>
                                <a:uFillTx/>
                                <a:latin typeface="Cambria Math"/>
                                <a:ea typeface="Cambria Math"/>
                                <a:cs typeface="+mn-cs"/>
                              </a:rPr>
                              <m:t>𝟐</m:t>
                            </m:r>
                          </m:e>
                          <m:sup>
                            <m:r>
                              <a:rPr kumimoji="0" lang="en-US" sz="2400" b="1" i="1" u="none" strike="noStrike" kern="1200" cap="none" spc="0" normalizeH="0" baseline="0" noProof="0">
                                <a:ln>
                                  <a:noFill/>
                                </a:ln>
                                <a:solidFill>
                                  <a:prstClr val="black"/>
                                </a:solidFill>
                                <a:effectLst/>
                                <a:uLnTx/>
                                <a:uFillTx/>
                                <a:latin typeface="Cambria Math"/>
                                <a:ea typeface="Cambria Math"/>
                                <a:cs typeface="+mn-cs"/>
                              </a:rPr>
                              <m:t>𝒏</m:t>
                            </m:r>
                          </m:sup>
                        </m:sSup>
                      </m:den>
                    </m:f>
                    <m:r>
                      <a:rPr kumimoji="0" lang="en-US" sz="2400" b="1" i="1" u="none" strike="noStrike" kern="1200" cap="none" spc="0" normalizeH="0" baseline="0" noProof="0">
                        <a:ln>
                          <a:noFill/>
                        </a:ln>
                        <a:solidFill>
                          <a:prstClr val="black"/>
                        </a:solidFill>
                        <a:effectLst/>
                        <a:uLnTx/>
                        <a:uFillTx/>
                        <a:latin typeface="Cambria Math"/>
                        <a:ea typeface="+mn-ea"/>
                        <a:cs typeface="+mn-cs"/>
                      </a:rPr>
                      <m:t> </m:t>
                    </m:r>
                  </m:oMath>
                </a14:m>
                <a:endParaRPr kumimoji="0" lang="en-US" sz="2400" b="1" i="1" u="none" strike="noStrike" kern="1200" cap="none" spc="0" normalizeH="0" baseline="0" noProof="0">
                  <a:ln>
                    <a:noFill/>
                  </a:ln>
                  <a:solidFill>
                    <a:srgbClr val="0070C0"/>
                  </a:solidFill>
                  <a:effectLst/>
                  <a:uLnTx/>
                  <a:uFillTx/>
                  <a:latin typeface="Century Gothic" pitchFamily="34" charset="0"/>
                  <a:ea typeface="Segoe UI Historic" pitchFamily="34" charset="0"/>
                  <a:cs typeface="Segoe UI Semilight" pitchFamily="34" charset="0"/>
                </a:endParaRPr>
              </a:p>
            </p:txBody>
          </p:sp>
        </mc:Choice>
        <mc:Fallback>
          <p:sp>
            <p:nvSpPr>
              <p:cNvPr id="13" name="Rectangle 12"/>
              <p:cNvSpPr>
                <a:spLocks noRot="1" noChangeAspect="1" noMove="1" noResize="1" noEditPoints="1" noAdjustHandles="1" noChangeArrowheads="1" noChangeShapeType="1" noTextEdit="1"/>
              </p:cNvSpPr>
              <p:nvPr/>
            </p:nvSpPr>
            <p:spPr>
              <a:xfrm>
                <a:off x="3866126" y="2202894"/>
                <a:ext cx="2223686" cy="622286"/>
              </a:xfrm>
              <a:prstGeom prst="rect">
                <a:avLst/>
              </a:prstGeom>
              <a:blipFill>
                <a:blip r:embed="rId2"/>
                <a:stretch>
                  <a:fillRect l="-541" b="-6542"/>
                </a:stretch>
              </a:blipFill>
              <a:ln w="28575">
                <a:solidFill>
                  <a:srgbClr val="CC3300"/>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4" name="TextBox 13"/>
              <p:cNvSpPr txBox="1"/>
              <p:nvPr/>
            </p:nvSpPr>
            <p:spPr>
              <a:xfrm>
                <a:off x="3155473" y="3649258"/>
                <a:ext cx="1759008" cy="668068"/>
              </a:xfrm>
              <a:prstGeom prst="rect">
                <a:avLst/>
              </a:prstGeom>
              <a:noFill/>
              <a:ln w="28575">
                <a:solidFill>
                  <a:srgbClr val="C00000"/>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1" u="none" strike="noStrike" kern="1200" cap="none" spc="0" normalizeH="0" baseline="0" noProof="0">
                    <a:ln>
                      <a:noFill/>
                    </a:ln>
                    <a:solidFill>
                      <a:prstClr val="black"/>
                    </a:solidFill>
                    <a:effectLst/>
                    <a:uLnTx/>
                    <a:uFillTx/>
                    <a:latin typeface="Calibri"/>
                    <a:ea typeface="+mn-ea"/>
                    <a:cs typeface="+mn-cs"/>
                  </a:rPr>
                  <a:t>D</a:t>
                </a:r>
                <a:r>
                  <a:rPr kumimoji="0" lang="en-US" sz="2400" b="1" i="0" u="none" strike="noStrike" kern="1200" cap="none" spc="0" normalizeH="0" baseline="0" noProof="0">
                    <a:ln>
                      <a:noFill/>
                    </a:ln>
                    <a:solidFill>
                      <a:prstClr val="black"/>
                    </a:solidFill>
                    <a:effectLst/>
                    <a:uLnTx/>
                    <a:uFillTx/>
                    <a:latin typeface="Calibri"/>
                    <a:ea typeface="+mn-ea"/>
                    <a:cs typeface="+mn-cs"/>
                  </a:rPr>
                  <a:t> = </a:t>
                </a:r>
                <a14:m>
                  <m:oMath xmlns:m="http://schemas.openxmlformats.org/officeDocument/2006/math">
                    <m:f>
                      <m:fPr>
                        <m:ctrlPr>
                          <a:rPr kumimoji="0" lang="en-US" sz="2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sSub>
                          <m:sSubPr>
                            <m:ctrlPr>
                              <a:rPr kumimoji="0" lang="en-US" sz="2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400" b="1" i="1" u="none" strike="noStrike" kern="1200" cap="none" spc="0" normalizeH="0" baseline="0" noProof="0" smtClean="0">
                                <a:ln>
                                  <a:noFill/>
                                </a:ln>
                                <a:solidFill>
                                  <a:prstClr val="black"/>
                                </a:solidFill>
                                <a:effectLst/>
                                <a:uLnTx/>
                                <a:uFillTx/>
                                <a:latin typeface="Cambria Math"/>
                                <a:ea typeface="+mn-ea"/>
                                <a:cs typeface="+mn-cs"/>
                              </a:rPr>
                              <m:t>𝑽</m:t>
                            </m:r>
                          </m:e>
                          <m:sub>
                            <m:r>
                              <a:rPr kumimoji="0" lang="en-US" sz="2400" b="1" i="1" u="none" strike="noStrike" kern="1200" cap="none" spc="0" normalizeH="0" baseline="0" noProof="0" smtClean="0">
                                <a:ln>
                                  <a:noFill/>
                                </a:ln>
                                <a:solidFill>
                                  <a:prstClr val="black"/>
                                </a:solidFill>
                                <a:effectLst/>
                                <a:uLnTx/>
                                <a:uFillTx/>
                                <a:latin typeface="Cambria Math"/>
                                <a:ea typeface="+mn-ea"/>
                                <a:cs typeface="+mn-cs"/>
                              </a:rPr>
                              <m:t>𝒊</m:t>
                            </m:r>
                          </m:sub>
                        </m:sSub>
                      </m:num>
                      <m:den>
                        <m:sSub>
                          <m:sSubPr>
                            <m:ctrlPr>
                              <a:rPr kumimoji="0" lang="en-US" sz="2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400" b="1" i="1" u="none" strike="noStrike" kern="1200" cap="none" spc="0" normalizeH="0" baseline="0" noProof="0" smtClean="0">
                                <a:ln>
                                  <a:noFill/>
                                </a:ln>
                                <a:solidFill>
                                  <a:prstClr val="black"/>
                                </a:solidFill>
                                <a:effectLst/>
                                <a:uLnTx/>
                                <a:uFillTx/>
                                <a:latin typeface="Cambria Math"/>
                                <a:ea typeface="+mn-ea"/>
                                <a:cs typeface="+mn-cs"/>
                              </a:rPr>
                              <m:t>𝑽</m:t>
                            </m:r>
                          </m:e>
                          <m:sub>
                            <m:r>
                              <a:rPr kumimoji="0" lang="en-US" sz="2400" b="1" i="1" u="none" strike="noStrike" kern="1200" cap="none" spc="0" normalizeH="0" baseline="0" noProof="0" smtClean="0">
                                <a:ln>
                                  <a:noFill/>
                                </a:ln>
                                <a:solidFill>
                                  <a:prstClr val="black"/>
                                </a:solidFill>
                                <a:effectLst/>
                                <a:uLnTx/>
                                <a:uFillTx/>
                                <a:latin typeface="Cambria Math"/>
                                <a:ea typeface="+mn-ea"/>
                                <a:cs typeface="+mn-cs"/>
                              </a:rPr>
                              <m:t>𝒓</m:t>
                            </m:r>
                          </m:sub>
                        </m:sSub>
                      </m:den>
                    </m:f>
                    <m:r>
                      <a:rPr kumimoji="0" lang="en-US" sz="2400" b="1" i="1" u="none" strike="noStrike" kern="1200" cap="none" spc="0" normalizeH="0" baseline="0" noProof="0" smtClean="0">
                        <a:ln>
                          <a:noFill/>
                        </a:ln>
                        <a:solidFill>
                          <a:prstClr val="black"/>
                        </a:solidFill>
                        <a:effectLst/>
                        <a:uLnTx/>
                        <a:uFillTx/>
                        <a:latin typeface="Cambria Math"/>
                        <a:ea typeface="+mn-ea"/>
                        <a:cs typeface="+mn-cs"/>
                      </a:rPr>
                      <m:t> </m:t>
                    </m:r>
                    <m:r>
                      <a:rPr kumimoji="0" lang="en-US" sz="2400" b="1" i="1" u="none" strike="noStrike" kern="1200" cap="none" spc="0" normalizeH="0" baseline="0" noProof="0" smtClean="0">
                        <a:ln>
                          <a:noFill/>
                        </a:ln>
                        <a:solidFill>
                          <a:prstClr val="black"/>
                        </a:solidFill>
                        <a:effectLst/>
                        <a:uLnTx/>
                        <a:uFillTx/>
                        <a:latin typeface="Cambria Math"/>
                        <a:ea typeface="Cambria Math"/>
                        <a:cs typeface="+mn-cs"/>
                      </a:rPr>
                      <m:t>× </m:t>
                    </m:r>
                    <m:sSup>
                      <m:sSupPr>
                        <m:ctrlPr>
                          <a:rPr kumimoji="0" lang="en-US" sz="2400" b="1" i="1" u="none" strike="noStrike" kern="1200" cap="none" spc="0" normalizeH="0" baseline="0" noProof="0" smtClean="0">
                            <a:ln>
                              <a:noFill/>
                            </a:ln>
                            <a:solidFill>
                              <a:prstClr val="black"/>
                            </a:solidFill>
                            <a:effectLst/>
                            <a:uLnTx/>
                            <a:uFillTx/>
                            <a:latin typeface="Cambria Math" panose="02040503050406030204" pitchFamily="18" charset="0"/>
                            <a:ea typeface="Cambria Math"/>
                            <a:cs typeface="+mn-cs"/>
                          </a:rPr>
                        </m:ctrlPr>
                      </m:sSupPr>
                      <m:e>
                        <m:r>
                          <a:rPr kumimoji="0" lang="en-US" sz="2400" b="1" i="1" u="none" strike="noStrike" kern="1200" cap="none" spc="0" normalizeH="0" baseline="0" noProof="0" smtClean="0">
                            <a:ln>
                              <a:noFill/>
                            </a:ln>
                            <a:solidFill>
                              <a:prstClr val="black"/>
                            </a:solidFill>
                            <a:effectLst/>
                            <a:uLnTx/>
                            <a:uFillTx/>
                            <a:latin typeface="Cambria Math"/>
                            <a:ea typeface="Cambria Math"/>
                            <a:cs typeface="+mn-cs"/>
                          </a:rPr>
                          <m:t>𝟐</m:t>
                        </m:r>
                      </m:e>
                      <m:sup>
                        <m:r>
                          <a:rPr kumimoji="0" lang="en-US" sz="2400" b="1" i="1" u="none" strike="noStrike" kern="1200" cap="none" spc="0" normalizeH="0" baseline="0" noProof="0" smtClean="0">
                            <a:ln>
                              <a:noFill/>
                            </a:ln>
                            <a:solidFill>
                              <a:prstClr val="black"/>
                            </a:solidFill>
                            <a:effectLst/>
                            <a:uLnTx/>
                            <a:uFillTx/>
                            <a:latin typeface="Cambria Math"/>
                            <a:ea typeface="Cambria Math"/>
                            <a:cs typeface="+mn-cs"/>
                          </a:rPr>
                          <m:t>𝒏</m:t>
                        </m:r>
                      </m:sup>
                    </m:sSup>
                  </m:oMath>
                </a14:m>
                <a:endParaRPr kumimoji="0" lang="en-US" sz="2400" b="1" i="0" u="none" strike="noStrike" kern="1200" cap="none" spc="0" normalizeH="0" baseline="0" noProof="0">
                  <a:ln>
                    <a:noFill/>
                  </a:ln>
                  <a:solidFill>
                    <a:prstClr val="black"/>
                  </a:solidFill>
                  <a:effectLst/>
                  <a:uLnTx/>
                  <a:uFillTx/>
                  <a:latin typeface="Calibri"/>
                  <a:ea typeface="+mn-ea"/>
                  <a:cs typeface="+mn-cs"/>
                </a:endParaRPr>
              </a:p>
            </p:txBody>
          </p:sp>
        </mc:Choice>
        <mc:Fallback>
          <p:sp>
            <p:nvSpPr>
              <p:cNvPr id="14" name="TextBox 13"/>
              <p:cNvSpPr txBox="1">
                <a:spLocks noRot="1" noChangeAspect="1" noMove="1" noResize="1" noEditPoints="1" noAdjustHandles="1" noChangeArrowheads="1" noChangeShapeType="1" noTextEdit="1"/>
              </p:cNvSpPr>
              <p:nvPr/>
            </p:nvSpPr>
            <p:spPr>
              <a:xfrm>
                <a:off x="3155473" y="3649258"/>
                <a:ext cx="1759008" cy="668068"/>
              </a:xfrm>
              <a:prstGeom prst="rect">
                <a:avLst/>
              </a:prstGeom>
              <a:blipFill>
                <a:blip r:embed="rId3"/>
                <a:stretch>
                  <a:fillRect l="-4778"/>
                </a:stretch>
              </a:blipFill>
              <a:ln w="28575">
                <a:solidFill>
                  <a:srgbClr val="C00000"/>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5" name="TextBox 14"/>
              <p:cNvSpPr txBox="1"/>
              <p:nvPr/>
            </p:nvSpPr>
            <p:spPr>
              <a:xfrm>
                <a:off x="5752355" y="3640871"/>
                <a:ext cx="3565400" cy="625877"/>
              </a:xfrm>
              <a:prstGeom prst="rect">
                <a:avLst/>
              </a:prstGeom>
              <a:noFill/>
              <a:ln w="28575">
                <a:solidFill>
                  <a:srgbClr val="C00000"/>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prstClr val="black"/>
                    </a:solidFill>
                    <a:effectLst/>
                    <a:uLnTx/>
                    <a:uFillTx/>
                    <a:latin typeface="Calibri"/>
                    <a:ea typeface="+mn-ea"/>
                    <a:cs typeface="+mn-cs"/>
                  </a:rPr>
                  <a:t>D = </a:t>
                </a:r>
                <a14:m>
                  <m:oMath xmlns:m="http://schemas.openxmlformats.org/officeDocument/2006/math">
                    <m:f>
                      <m:fPr>
                        <m:ctrlPr>
                          <a:rPr kumimoji="0" lang="en-US" sz="2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r>
                          <a:rPr kumimoji="0" lang="en-IN" sz="2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𝟐</m:t>
                        </m:r>
                        <m:r>
                          <a:rPr kumimoji="0" lang="en-IN" sz="2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IN" sz="2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𝟏𝟐𝐕</m:t>
                        </m:r>
                      </m:num>
                      <m:den>
                        <m:r>
                          <a:rPr kumimoji="0" lang="en-US" sz="2400" b="1" i="0" u="none" strike="noStrike" kern="1200" cap="none" spc="0" normalizeH="0" baseline="0" noProof="0" smtClean="0">
                            <a:ln>
                              <a:noFill/>
                            </a:ln>
                            <a:solidFill>
                              <a:prstClr val="black"/>
                            </a:solidFill>
                            <a:effectLst/>
                            <a:uLnTx/>
                            <a:uFillTx/>
                            <a:latin typeface="Cambria Math"/>
                            <a:ea typeface="+mn-ea"/>
                            <a:cs typeface="+mn-cs"/>
                          </a:rPr>
                          <m:t>𝟓</m:t>
                        </m:r>
                      </m:den>
                    </m:f>
                    <m:r>
                      <a:rPr kumimoji="0" lang="en-US" sz="2400" b="1" i="0" u="none" strike="noStrike" kern="1200" cap="none" spc="0" normalizeH="0" baseline="0" noProof="0" smtClean="0">
                        <a:ln>
                          <a:noFill/>
                        </a:ln>
                        <a:solidFill>
                          <a:prstClr val="black"/>
                        </a:solidFill>
                        <a:effectLst/>
                        <a:uLnTx/>
                        <a:uFillTx/>
                        <a:latin typeface="Cambria Math"/>
                        <a:ea typeface="+mn-ea"/>
                        <a:cs typeface="+mn-cs"/>
                      </a:rPr>
                      <m:t> </m:t>
                    </m:r>
                    <m:r>
                      <a:rPr kumimoji="0" lang="en-US" sz="2400" b="1" i="0" u="none" strike="noStrike" kern="1200" cap="none" spc="0" normalizeH="0" baseline="0" noProof="0" smtClean="0">
                        <a:ln>
                          <a:noFill/>
                        </a:ln>
                        <a:solidFill>
                          <a:prstClr val="black"/>
                        </a:solidFill>
                        <a:effectLst/>
                        <a:uLnTx/>
                        <a:uFillTx/>
                        <a:latin typeface="Cambria Math"/>
                        <a:ea typeface="Cambria Math"/>
                        <a:cs typeface="+mn-cs"/>
                      </a:rPr>
                      <m:t>×</m:t>
                    </m:r>
                    <m:r>
                      <a:rPr kumimoji="0" lang="en-IN" sz="2400" b="1" i="0" u="none" strike="noStrike" kern="1200" cap="none" spc="0" normalizeH="0" baseline="0" noProof="0" smtClean="0">
                        <a:ln>
                          <a:noFill/>
                        </a:ln>
                        <a:solidFill>
                          <a:prstClr val="black"/>
                        </a:solidFill>
                        <a:effectLst/>
                        <a:uLnTx/>
                        <a:uFillTx/>
                        <a:latin typeface="Cambria Math" panose="02040503050406030204" pitchFamily="18" charset="0"/>
                        <a:ea typeface="Cambria Math"/>
                        <a:cs typeface="+mn-cs"/>
                      </a:rPr>
                      <m:t>𝟒𝟎𝟗𝟔</m:t>
                    </m:r>
                    <m:r>
                      <a:rPr kumimoji="0" lang="en-IN" sz="2400" b="1" i="0" u="none" strike="noStrike" kern="1200" cap="none" spc="0" normalizeH="0" baseline="0" noProof="0" smtClean="0">
                        <a:ln>
                          <a:noFill/>
                        </a:ln>
                        <a:solidFill>
                          <a:prstClr val="black"/>
                        </a:solidFill>
                        <a:effectLst/>
                        <a:uLnTx/>
                        <a:uFillTx/>
                        <a:latin typeface="Cambria Math" panose="02040503050406030204" pitchFamily="18" charset="0"/>
                        <a:ea typeface="Cambria Math"/>
                        <a:cs typeface="+mn-cs"/>
                      </a:rPr>
                      <m:t>=</m:t>
                    </m:r>
                    <m:r>
                      <a:rPr kumimoji="0" lang="en-IN" sz="2400" b="1" i="0" u="none" strike="noStrike" kern="1200" cap="none" spc="0" normalizeH="0" baseline="0" noProof="0" smtClean="0">
                        <a:ln>
                          <a:noFill/>
                        </a:ln>
                        <a:solidFill>
                          <a:prstClr val="black"/>
                        </a:solidFill>
                        <a:effectLst/>
                        <a:uLnTx/>
                        <a:uFillTx/>
                        <a:latin typeface="Cambria Math" panose="02040503050406030204" pitchFamily="18" charset="0"/>
                        <a:ea typeface="Cambria Math"/>
                        <a:cs typeface="+mn-cs"/>
                      </a:rPr>
                      <m:t>𝟏𝟕𝟑𝟕</m:t>
                    </m:r>
                  </m:oMath>
                </a14:m>
                <a:endParaRPr kumimoji="0" lang="en-US" sz="2400" b="1" i="0" u="none" strike="noStrike" kern="1200" cap="none" spc="0" normalizeH="0" baseline="0" noProof="0">
                  <a:ln>
                    <a:noFill/>
                  </a:ln>
                  <a:solidFill>
                    <a:prstClr val="black"/>
                  </a:solidFill>
                  <a:effectLst/>
                  <a:uLnTx/>
                  <a:uFillTx/>
                  <a:latin typeface="Calibri"/>
                  <a:ea typeface="+mn-ea"/>
                  <a:cs typeface="+mn-cs"/>
                </a:endParaRPr>
              </a:p>
            </p:txBody>
          </p:sp>
        </mc:Choice>
        <mc:Fallback>
          <p:sp>
            <p:nvSpPr>
              <p:cNvPr id="15" name="TextBox 14"/>
              <p:cNvSpPr txBox="1">
                <a:spLocks noRot="1" noChangeAspect="1" noMove="1" noResize="1" noEditPoints="1" noAdjustHandles="1" noChangeArrowheads="1" noChangeShapeType="1" noTextEdit="1"/>
              </p:cNvSpPr>
              <p:nvPr/>
            </p:nvSpPr>
            <p:spPr>
              <a:xfrm>
                <a:off x="5752355" y="3640871"/>
                <a:ext cx="3565400" cy="625877"/>
              </a:xfrm>
              <a:prstGeom prst="rect">
                <a:avLst/>
              </a:prstGeom>
              <a:blipFill>
                <a:blip r:embed="rId4"/>
                <a:stretch>
                  <a:fillRect l="-2373" b="-5556"/>
                </a:stretch>
              </a:blipFill>
              <a:ln w="28575">
                <a:solidFill>
                  <a:srgbClr val="C00000"/>
                </a:solidFill>
              </a:ln>
            </p:spPr>
            <p:txBody>
              <a:bodyPr/>
              <a:lstStyle/>
              <a:p>
                <a:r>
                  <a:rPr lang="en-US">
                    <a:noFill/>
                  </a:rPr>
                  <a:t> </a:t>
                </a:r>
              </a:p>
            </p:txBody>
          </p:sp>
        </mc:Fallback>
      </mc:AlternateContent>
      <p:sp>
        <p:nvSpPr>
          <p:cNvPr id="16" name="TextBox 15"/>
          <p:cNvSpPr txBox="1"/>
          <p:nvPr/>
        </p:nvSpPr>
        <p:spPr>
          <a:xfrm>
            <a:off x="4036292" y="6587769"/>
            <a:ext cx="3931948" cy="307777"/>
          </a:xfrm>
          <a:prstGeom prst="rect">
            <a:avLst/>
          </a:prstGeom>
          <a:noFill/>
        </p:spPr>
        <p:txBody>
          <a:bodyPr wrap="square" rtlCol="0">
            <a:spAutoFit/>
          </a:bodyPr>
          <a:lstStyle/>
          <a:p>
            <a:pPr algn="ctr"/>
            <a:r>
              <a:rPr lang="en-US" sz="1400" b="1">
                <a:solidFill>
                  <a:srgbClr val="663300"/>
                </a:solidFill>
                <a:latin typeface="Century Gothic" panose="020B0502020202020204" pitchFamily="34" charset="0"/>
              </a:rPr>
              <a:t>BECE403E-Embedded Systems Design Lab</a:t>
            </a:r>
          </a:p>
        </p:txBody>
      </p:sp>
    </p:spTree>
    <p:extLst>
      <p:ext uri="{BB962C8B-B14F-4D97-AF65-F5344CB8AC3E}">
        <p14:creationId xmlns:p14="http://schemas.microsoft.com/office/powerpoint/2010/main" val="755833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3" end="3"/>
                                            </p:txEl>
                                          </p:spTgt>
                                        </p:tgtEl>
                                        <p:attrNameLst>
                                          <p:attrName>style.visibility</p:attrName>
                                        </p:attrNameLst>
                                      </p:cBhvr>
                                      <p:to>
                                        <p:strVal val="visible"/>
                                      </p:to>
                                    </p:set>
                                    <p:animEffect transition="in" filter="fade">
                                      <p:cBhvr>
                                        <p:cTn id="12" dur="500"/>
                                        <p:tgtEl>
                                          <p:spTgt spid="8">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5" end="5"/>
                                            </p:txEl>
                                          </p:spTgt>
                                        </p:tgtEl>
                                        <p:attrNameLst>
                                          <p:attrName>style.visibility</p:attrName>
                                        </p:attrNameLst>
                                      </p:cBhvr>
                                      <p:to>
                                        <p:strVal val="visible"/>
                                      </p:to>
                                    </p:set>
                                    <p:animEffect transition="in" filter="fade">
                                      <p:cBhvr>
                                        <p:cTn id="17" dur="500"/>
                                        <p:tgtEl>
                                          <p:spTgt spid="8">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xEl>
                                              <p:pRg st="7" end="7"/>
                                            </p:txEl>
                                          </p:spTgt>
                                        </p:tgtEl>
                                        <p:attrNameLst>
                                          <p:attrName>style.visibility</p:attrName>
                                        </p:attrNameLst>
                                      </p:cBhvr>
                                      <p:to>
                                        <p:strVal val="visible"/>
                                      </p:to>
                                    </p:set>
                                    <p:animEffect transition="in" filter="fade">
                                      <p:cBhvr>
                                        <p:cTn id="22" dur="500"/>
                                        <p:tgtEl>
                                          <p:spTgt spid="8">
                                            <p:txEl>
                                              <p:pRg st="7" end="7"/>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
                                            <p:txEl>
                                              <p:pRg st="10" end="10"/>
                                            </p:txEl>
                                          </p:spTgt>
                                        </p:tgtEl>
                                        <p:attrNameLst>
                                          <p:attrName>style.visibility</p:attrName>
                                        </p:attrNameLst>
                                      </p:cBhvr>
                                      <p:to>
                                        <p:strVal val="visible"/>
                                      </p:to>
                                    </p:set>
                                    <p:animEffect transition="in" filter="fade">
                                      <p:cBhvr>
                                        <p:cTn id="27" dur="500"/>
                                        <p:tgtEl>
                                          <p:spTgt spid="8">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ounded Rectangle 4"/>
          <p:cNvSpPr/>
          <p:nvPr/>
        </p:nvSpPr>
        <p:spPr>
          <a:xfrm>
            <a:off x="1199161" y="318649"/>
            <a:ext cx="9781309" cy="678872"/>
          </a:xfrm>
          <a:prstGeom prst="roundRect">
            <a:avLst/>
          </a:prstGeom>
          <a:solidFill>
            <a:schemeClr val="bg1"/>
          </a:solidFill>
          <a:ln w="28575">
            <a:solidFill>
              <a:schemeClr val="accent5"/>
            </a:solidFill>
          </a:ln>
          <a:effectLst/>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3600" b="1">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Century Gothic" pitchFamily="34" charset="0"/>
                <a:cs typeface="Aharoni" pitchFamily="2" charset="-79"/>
              </a:rPr>
              <a:t>INTRODUCTION TO ADC</a:t>
            </a:r>
          </a:p>
        </p:txBody>
      </p:sp>
      <p:sp>
        <p:nvSpPr>
          <p:cNvPr id="10" name="Round Same Side Corner Rectangle 9"/>
          <p:cNvSpPr/>
          <p:nvPr/>
        </p:nvSpPr>
        <p:spPr>
          <a:xfrm>
            <a:off x="140031" y="130792"/>
            <a:ext cx="11899570" cy="6457750"/>
          </a:xfrm>
          <a:prstGeom prst="round2SameRect">
            <a:avLst/>
          </a:prstGeom>
          <a:noFill/>
          <a:ln w="38100">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2" name="Pentagon 11"/>
          <p:cNvSpPr/>
          <p:nvPr/>
        </p:nvSpPr>
        <p:spPr>
          <a:xfrm flipH="1">
            <a:off x="11651719" y="6650218"/>
            <a:ext cx="502920" cy="182880"/>
          </a:xfrm>
          <a:prstGeom prst="homePlate">
            <a:avLst/>
          </a:prstGeom>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400" b="1">
                <a:solidFill>
                  <a:schemeClr val="bg1"/>
                </a:solidFill>
                <a:latin typeface="Century Gothic" panose="020B0502020202020204" pitchFamily="34" charset="0"/>
              </a:rPr>
              <a:t>8</a:t>
            </a:r>
          </a:p>
        </p:txBody>
      </p:sp>
      <p:sp>
        <p:nvSpPr>
          <p:cNvPr id="7" name="TextBox 6"/>
          <p:cNvSpPr txBox="1"/>
          <p:nvPr/>
        </p:nvSpPr>
        <p:spPr>
          <a:xfrm>
            <a:off x="4036292" y="6587769"/>
            <a:ext cx="3931948" cy="307777"/>
          </a:xfrm>
          <a:prstGeom prst="rect">
            <a:avLst/>
          </a:prstGeom>
          <a:noFill/>
        </p:spPr>
        <p:txBody>
          <a:bodyPr wrap="square" rtlCol="0">
            <a:spAutoFit/>
          </a:bodyPr>
          <a:lstStyle/>
          <a:p>
            <a:pPr algn="ctr"/>
            <a:r>
              <a:rPr lang="en-US" sz="1400" b="1">
                <a:solidFill>
                  <a:srgbClr val="663300"/>
                </a:solidFill>
                <a:latin typeface="Century Gothic" panose="020B0502020202020204" pitchFamily="34" charset="0"/>
              </a:rPr>
              <a:t>BECE403E-Embedded Systems Design Lab</a:t>
            </a:r>
          </a:p>
        </p:txBody>
      </p:sp>
      <p:sp>
        <p:nvSpPr>
          <p:cNvPr id="11" name="TextBox 10"/>
          <p:cNvSpPr txBox="1"/>
          <p:nvPr/>
        </p:nvSpPr>
        <p:spPr>
          <a:xfrm>
            <a:off x="46422" y="6588542"/>
            <a:ext cx="855622" cy="307777"/>
          </a:xfrm>
          <a:prstGeom prst="rect">
            <a:avLst/>
          </a:prstGeom>
          <a:noFill/>
        </p:spPr>
        <p:txBody>
          <a:bodyPr wrap="square" rtlCol="0">
            <a:spAutoFit/>
          </a:bodyPr>
          <a:lstStyle/>
          <a:p>
            <a:r>
              <a:rPr lang="en-US" sz="1400" b="1">
                <a:solidFill>
                  <a:srgbClr val="663300"/>
                </a:solidFill>
                <a:latin typeface="Century Gothic" panose="020B0502020202020204" pitchFamily="34" charset="0"/>
              </a:rPr>
              <a:t>LAB - 4</a:t>
            </a:r>
          </a:p>
        </p:txBody>
      </p:sp>
      <p:sp>
        <p:nvSpPr>
          <p:cNvPr id="8" name="TextBox 7"/>
          <p:cNvSpPr txBox="1"/>
          <p:nvPr/>
        </p:nvSpPr>
        <p:spPr>
          <a:xfrm>
            <a:off x="310928" y="1081422"/>
            <a:ext cx="11592251" cy="5262979"/>
          </a:xfrm>
          <a:prstGeom prst="rect">
            <a:avLst/>
          </a:prstGeom>
          <a:noFill/>
        </p:spPr>
        <p:txBody>
          <a:bodyPr wrap="square" rtlCol="0">
            <a:spAutoFit/>
          </a:bodyPr>
          <a:lstStyle/>
          <a:p>
            <a:pPr algn="just">
              <a:buClr>
                <a:schemeClr val="accent5">
                  <a:lumMod val="75000"/>
                </a:schemeClr>
              </a:buClr>
            </a:pPr>
            <a:r>
              <a:rPr lang="en-IN" sz="2400" b="1" u="sng">
                <a:solidFill>
                  <a:srgbClr val="C00000"/>
                </a:solidFill>
                <a:latin typeface="Tw Cen MT" panose="020B0602020104020603" pitchFamily="34" charset="0"/>
                <a:cs typeface="Segoe UI" panose="020B0502040204020203" pitchFamily="34" charset="0"/>
              </a:rPr>
              <a:t>API required:</a:t>
            </a:r>
          </a:p>
          <a:p>
            <a:pPr marL="457200" indent="-457200" algn="just">
              <a:buClr>
                <a:schemeClr val="accent5">
                  <a:lumMod val="75000"/>
                </a:schemeClr>
              </a:buClr>
              <a:buFont typeface="Wingdings" panose="05000000000000000000" pitchFamily="2" charset="2"/>
              <a:buChar char="Ø"/>
            </a:pPr>
            <a:r>
              <a:rPr lang="en-IN" sz="2400" err="1">
                <a:solidFill>
                  <a:srgbClr val="C00000"/>
                </a:solidFill>
                <a:latin typeface="Tw Cen MT" panose="020B0602020104020603" pitchFamily="34" charset="0"/>
                <a:cs typeface="Segoe UI" panose="020B0502040204020203" pitchFamily="34" charset="0"/>
              </a:rPr>
              <a:t>AnalogIn</a:t>
            </a:r>
            <a:r>
              <a:rPr lang="en-IN" sz="2400">
                <a:solidFill>
                  <a:srgbClr val="C00000"/>
                </a:solidFill>
                <a:latin typeface="Tw Cen MT" panose="020B0602020104020603" pitchFamily="34" charset="0"/>
                <a:cs typeface="Segoe UI" panose="020B0502040204020203" pitchFamily="34" charset="0"/>
              </a:rPr>
              <a:t> Identifier(</a:t>
            </a:r>
            <a:r>
              <a:rPr lang="en-IN" sz="2400" err="1">
                <a:solidFill>
                  <a:srgbClr val="C00000"/>
                </a:solidFill>
                <a:latin typeface="Tw Cen MT" panose="020B0602020104020603" pitchFamily="34" charset="0"/>
                <a:cs typeface="Segoe UI" panose="020B0502040204020203" pitchFamily="34" charset="0"/>
              </a:rPr>
              <a:t>PinName</a:t>
            </a:r>
            <a:r>
              <a:rPr lang="en-IN" sz="2400">
                <a:solidFill>
                  <a:srgbClr val="C00000"/>
                </a:solidFill>
                <a:latin typeface="Tw Cen MT" panose="020B0602020104020603" pitchFamily="34" charset="0"/>
                <a:cs typeface="Segoe UI" panose="020B0502040204020203" pitchFamily="34" charset="0"/>
              </a:rPr>
              <a:t>) – </a:t>
            </a:r>
            <a:r>
              <a:rPr lang="en-IN" sz="2400">
                <a:solidFill>
                  <a:schemeClr val="bg1"/>
                </a:solidFill>
                <a:latin typeface="Tw Cen MT" panose="020B0602020104020603" pitchFamily="34" charset="0"/>
                <a:cs typeface="Segoe UI" panose="020B0502040204020203" pitchFamily="34" charset="0"/>
              </a:rPr>
              <a:t>Used to access ADC of the specified pin name.</a:t>
            </a:r>
          </a:p>
          <a:p>
            <a:pPr algn="just">
              <a:buClr>
                <a:schemeClr val="accent5">
                  <a:lumMod val="75000"/>
                </a:schemeClr>
              </a:buClr>
            </a:pPr>
            <a:r>
              <a:rPr lang="en-IN" sz="2400">
                <a:solidFill>
                  <a:schemeClr val="bg1"/>
                </a:solidFill>
                <a:latin typeface="Tw Cen MT" panose="020B0602020104020603" pitchFamily="34" charset="0"/>
                <a:cs typeface="Segoe UI" panose="020B0502040204020203" pitchFamily="34" charset="0"/>
              </a:rPr>
              <a:t>	- </a:t>
            </a:r>
            <a:r>
              <a:rPr lang="en-IN" sz="2400">
                <a:solidFill>
                  <a:srgbClr val="C00000"/>
                </a:solidFill>
                <a:latin typeface="Tw Cen MT" panose="020B0602020104020603" pitchFamily="34" charset="0"/>
                <a:cs typeface="Segoe UI" panose="020B0502040204020203" pitchFamily="34" charset="0"/>
              </a:rPr>
              <a:t>Identifier</a:t>
            </a:r>
            <a:r>
              <a:rPr lang="en-IN" sz="2400">
                <a:solidFill>
                  <a:schemeClr val="bg1"/>
                </a:solidFill>
                <a:latin typeface="Tw Cen MT" panose="020B0602020104020603" pitchFamily="34" charset="0"/>
                <a:cs typeface="Segoe UI" panose="020B0502040204020203" pitchFamily="34" charset="0"/>
              </a:rPr>
              <a:t>: User defined name to access the specified ADC pin</a:t>
            </a:r>
          </a:p>
          <a:p>
            <a:pPr algn="just">
              <a:buClr>
                <a:schemeClr val="accent5">
                  <a:lumMod val="75000"/>
                </a:schemeClr>
              </a:buClr>
            </a:pPr>
            <a:r>
              <a:rPr lang="en-IN" sz="2400">
                <a:solidFill>
                  <a:schemeClr val="bg1"/>
                </a:solidFill>
                <a:latin typeface="Tw Cen MT" panose="020B0602020104020603" pitchFamily="34" charset="0"/>
                <a:cs typeface="Segoe UI" panose="020B0502040204020203" pitchFamily="34" charset="0"/>
              </a:rPr>
              <a:t>	- </a:t>
            </a:r>
            <a:r>
              <a:rPr lang="en-IN" sz="2400" err="1">
                <a:solidFill>
                  <a:srgbClr val="C00000"/>
                </a:solidFill>
                <a:latin typeface="Tw Cen MT" panose="020B0602020104020603" pitchFamily="34" charset="0"/>
                <a:cs typeface="Segoe UI" panose="020B0502040204020203" pitchFamily="34" charset="0"/>
              </a:rPr>
              <a:t>PinName</a:t>
            </a:r>
            <a:r>
              <a:rPr lang="en-IN" sz="2400">
                <a:solidFill>
                  <a:schemeClr val="bg1"/>
                </a:solidFill>
                <a:latin typeface="Tw Cen MT" panose="020B0602020104020603" pitchFamily="34" charset="0"/>
                <a:cs typeface="Segoe UI" panose="020B0502040204020203" pitchFamily="34" charset="0"/>
              </a:rPr>
              <a:t>: Name of the pins as specified in the Nucleo board for ADC pin</a:t>
            </a:r>
          </a:p>
          <a:p>
            <a:pPr marL="457200" indent="-457200" algn="just">
              <a:buClr>
                <a:schemeClr val="accent5">
                  <a:lumMod val="75000"/>
                </a:schemeClr>
              </a:buClr>
              <a:buFont typeface="Wingdings" panose="05000000000000000000" pitchFamily="2" charset="2"/>
              <a:buChar char="Ø"/>
            </a:pPr>
            <a:endParaRPr lang="en-IN" sz="2400">
              <a:solidFill>
                <a:srgbClr val="C00000"/>
              </a:solidFill>
              <a:latin typeface="Tw Cen MT" panose="020B0602020104020603" pitchFamily="34" charset="0"/>
              <a:cs typeface="Segoe UI" panose="020B0502040204020203" pitchFamily="34" charset="0"/>
            </a:endParaRPr>
          </a:p>
          <a:p>
            <a:pPr marL="457200" indent="-457200" algn="just">
              <a:buClr>
                <a:schemeClr val="accent5">
                  <a:lumMod val="75000"/>
                </a:schemeClr>
              </a:buClr>
              <a:buFont typeface="Wingdings" panose="05000000000000000000" pitchFamily="2" charset="2"/>
              <a:buChar char="Ø"/>
            </a:pPr>
            <a:r>
              <a:rPr lang="en-IN" sz="2400">
                <a:solidFill>
                  <a:srgbClr val="C00000"/>
                </a:solidFill>
                <a:latin typeface="Tw Cen MT" panose="020B0602020104020603" pitchFamily="34" charset="0"/>
                <a:cs typeface="Segoe UI" panose="020B0502040204020203" pitchFamily="34" charset="0"/>
              </a:rPr>
              <a:t>read() - </a:t>
            </a:r>
            <a:r>
              <a:rPr lang="en-IN" sz="2400">
                <a:solidFill>
                  <a:schemeClr val="bg1"/>
                </a:solidFill>
                <a:latin typeface="Tw Cen MT" panose="020B0602020104020603" pitchFamily="34" charset="0"/>
                <a:cs typeface="Segoe UI" panose="020B0502040204020203" pitchFamily="34" charset="0"/>
              </a:rPr>
              <a:t>Read the input voltage, represented as a float in the range 0 to 1. For example, if you have a 3.3V system and the applied voltage is 1.65V, then </a:t>
            </a:r>
            <a:r>
              <a:rPr lang="en-IN" sz="2400" err="1">
                <a:solidFill>
                  <a:schemeClr val="bg1"/>
                </a:solidFill>
                <a:latin typeface="Tw Cen MT" panose="020B0602020104020603" pitchFamily="34" charset="0"/>
                <a:cs typeface="Segoe UI" panose="020B0502040204020203" pitchFamily="34" charset="0"/>
              </a:rPr>
              <a:t>AnalogIn</a:t>
            </a:r>
            <a:r>
              <a:rPr lang="en-IN" sz="2400">
                <a:solidFill>
                  <a:schemeClr val="bg1"/>
                </a:solidFill>
                <a:latin typeface="Tw Cen MT" panose="020B0602020104020603" pitchFamily="34" charset="0"/>
                <a:cs typeface="Segoe UI" panose="020B0502040204020203" pitchFamily="34" charset="0"/>
              </a:rPr>
              <a:t>() reads 0.5 as the value.</a:t>
            </a:r>
          </a:p>
          <a:p>
            <a:pPr marL="457200" indent="-457200" algn="just">
              <a:buClr>
                <a:schemeClr val="accent5">
                  <a:lumMod val="75000"/>
                </a:schemeClr>
              </a:buClr>
              <a:buFont typeface="Wingdings" panose="05000000000000000000" pitchFamily="2" charset="2"/>
              <a:buChar char="Ø"/>
            </a:pPr>
            <a:endParaRPr lang="en-IN" sz="2400">
              <a:solidFill>
                <a:srgbClr val="C00000"/>
              </a:solidFill>
              <a:latin typeface="Tw Cen MT" panose="020B0602020104020603" pitchFamily="34" charset="0"/>
              <a:cs typeface="Segoe UI" panose="020B0502040204020203" pitchFamily="34" charset="0"/>
            </a:endParaRPr>
          </a:p>
          <a:p>
            <a:pPr marL="457200" indent="-457200" algn="just">
              <a:buClr>
                <a:schemeClr val="accent5">
                  <a:lumMod val="75000"/>
                </a:schemeClr>
              </a:buClr>
              <a:buFont typeface="Wingdings" panose="05000000000000000000" pitchFamily="2" charset="2"/>
              <a:buChar char="Ø"/>
            </a:pPr>
            <a:r>
              <a:rPr lang="en-IN" sz="2400" err="1">
                <a:solidFill>
                  <a:srgbClr val="C00000"/>
                </a:solidFill>
                <a:latin typeface="Tw Cen MT" panose="020B0602020104020603" pitchFamily="34" charset="0"/>
                <a:cs typeface="Segoe UI" panose="020B0502040204020203" pitchFamily="34" charset="0"/>
              </a:rPr>
              <a:t>read_voltage</a:t>
            </a:r>
            <a:r>
              <a:rPr lang="en-IN" sz="2400">
                <a:solidFill>
                  <a:srgbClr val="C00000"/>
                </a:solidFill>
                <a:latin typeface="Tw Cen MT" panose="020B0602020104020603" pitchFamily="34" charset="0"/>
                <a:cs typeface="Segoe UI" panose="020B0502040204020203" pitchFamily="34" charset="0"/>
              </a:rPr>
              <a:t> () -  	</a:t>
            </a:r>
            <a:r>
              <a:rPr lang="en-IN" sz="2400">
                <a:solidFill>
                  <a:schemeClr val="bg1"/>
                </a:solidFill>
                <a:latin typeface="Tw Cen MT" panose="020B0602020104020603" pitchFamily="34" charset="0"/>
                <a:cs typeface="Segoe UI" panose="020B0502040204020203" pitchFamily="34" charset="0"/>
              </a:rPr>
              <a:t>Read the input voltage in volts</a:t>
            </a:r>
          </a:p>
          <a:p>
            <a:pPr marL="457200" indent="-457200" algn="just">
              <a:buClr>
                <a:schemeClr val="accent5">
                  <a:lumMod val="75000"/>
                </a:schemeClr>
              </a:buClr>
              <a:buFont typeface="Wingdings" panose="05000000000000000000" pitchFamily="2" charset="2"/>
              <a:buChar char="Ø"/>
            </a:pPr>
            <a:endParaRPr lang="en-IN" sz="2400">
              <a:solidFill>
                <a:srgbClr val="C00000"/>
              </a:solidFill>
              <a:latin typeface="Tw Cen MT" panose="020B0602020104020603" pitchFamily="34" charset="0"/>
              <a:cs typeface="Segoe UI" panose="020B0502040204020203" pitchFamily="34" charset="0"/>
            </a:endParaRPr>
          </a:p>
          <a:p>
            <a:pPr marL="457200" indent="-457200" algn="just">
              <a:buClr>
                <a:schemeClr val="accent5">
                  <a:lumMod val="75000"/>
                </a:schemeClr>
              </a:buClr>
              <a:buFont typeface="Wingdings" panose="05000000000000000000" pitchFamily="2" charset="2"/>
              <a:buChar char="Ø"/>
            </a:pPr>
            <a:r>
              <a:rPr lang="en-IN" sz="2400" err="1">
                <a:solidFill>
                  <a:srgbClr val="C00000"/>
                </a:solidFill>
                <a:latin typeface="Tw Cen MT" panose="020B0602020104020603" pitchFamily="34" charset="0"/>
                <a:cs typeface="Segoe UI" panose="020B0502040204020203" pitchFamily="34" charset="0"/>
              </a:rPr>
              <a:t>get_reference_voltage</a:t>
            </a:r>
            <a:r>
              <a:rPr lang="en-IN" sz="2400">
                <a:solidFill>
                  <a:srgbClr val="C00000"/>
                </a:solidFill>
                <a:latin typeface="Tw Cen MT" panose="020B0602020104020603" pitchFamily="34" charset="0"/>
                <a:cs typeface="Segoe UI" panose="020B0502040204020203" pitchFamily="34" charset="0"/>
              </a:rPr>
              <a:t> () - </a:t>
            </a:r>
            <a:r>
              <a:rPr lang="en-IN" sz="2400">
                <a:solidFill>
                  <a:schemeClr val="bg1"/>
                </a:solidFill>
                <a:latin typeface="Tw Cen MT" panose="020B0602020104020603" pitchFamily="34" charset="0"/>
                <a:cs typeface="Segoe UI" panose="020B0502040204020203" pitchFamily="34" charset="0"/>
              </a:rPr>
              <a:t>Gets this </a:t>
            </a:r>
            <a:r>
              <a:rPr lang="en-IN" sz="2400" err="1">
                <a:solidFill>
                  <a:schemeClr val="bg1"/>
                </a:solidFill>
                <a:latin typeface="Tw Cen MT" panose="020B0602020104020603" pitchFamily="34" charset="0"/>
                <a:cs typeface="Segoe UI" panose="020B0502040204020203" pitchFamily="34" charset="0"/>
              </a:rPr>
              <a:t>AnalogIn</a:t>
            </a:r>
            <a:r>
              <a:rPr lang="en-IN" sz="2400">
                <a:solidFill>
                  <a:schemeClr val="bg1"/>
                </a:solidFill>
                <a:latin typeface="Tw Cen MT" panose="020B0602020104020603" pitchFamily="34" charset="0"/>
                <a:cs typeface="Segoe UI" panose="020B0502040204020203" pitchFamily="34" charset="0"/>
              </a:rPr>
              <a:t> instance's reference voltage.</a:t>
            </a:r>
          </a:p>
          <a:p>
            <a:pPr marL="457200" indent="-457200" algn="just">
              <a:buClr>
                <a:schemeClr val="accent5">
                  <a:lumMod val="75000"/>
                </a:schemeClr>
              </a:buClr>
              <a:buFont typeface="Wingdings" panose="05000000000000000000" pitchFamily="2" charset="2"/>
              <a:buChar char="Ø"/>
            </a:pPr>
            <a:endParaRPr lang="en-IN" sz="2400">
              <a:solidFill>
                <a:srgbClr val="C00000"/>
              </a:solidFill>
              <a:latin typeface="Tw Cen MT" panose="020B0602020104020603" pitchFamily="34" charset="0"/>
              <a:cs typeface="Segoe UI" panose="020B0502040204020203" pitchFamily="34" charset="0"/>
            </a:endParaRPr>
          </a:p>
          <a:p>
            <a:pPr marL="457200" indent="-457200" algn="just">
              <a:buClr>
                <a:schemeClr val="accent5">
                  <a:lumMod val="75000"/>
                </a:schemeClr>
              </a:buClr>
              <a:buFont typeface="Wingdings" panose="05000000000000000000" pitchFamily="2" charset="2"/>
              <a:buChar char="Ø"/>
            </a:pPr>
            <a:r>
              <a:rPr lang="en-IN" sz="2400">
                <a:solidFill>
                  <a:srgbClr val="C00000"/>
                </a:solidFill>
                <a:latin typeface="Tw Cen MT" panose="020B0602020104020603" pitchFamily="34" charset="0"/>
                <a:cs typeface="Segoe UI" panose="020B0502040204020203" pitchFamily="34" charset="0"/>
              </a:rPr>
              <a:t>operator float () - </a:t>
            </a:r>
            <a:r>
              <a:rPr lang="en-IN" sz="2400">
                <a:solidFill>
                  <a:schemeClr val="bg1"/>
                </a:solidFill>
                <a:latin typeface="Tw Cen MT" panose="020B0602020104020603" pitchFamily="34" charset="0"/>
                <a:cs typeface="Segoe UI" panose="020B0502040204020203" pitchFamily="34" charset="0"/>
              </a:rPr>
              <a:t>An operator shorthand for read() </a:t>
            </a:r>
            <a:endParaRPr lang="en-IN" sz="2400">
              <a:solidFill>
                <a:srgbClr val="C00000"/>
              </a:solidFill>
              <a:latin typeface="Tw Cen MT" panose="020B0602020104020603" pitchFamily="34" charset="0"/>
              <a:cs typeface="Segoe UI" panose="020B0502040204020203" pitchFamily="34" charset="0"/>
            </a:endParaRPr>
          </a:p>
        </p:txBody>
      </p:sp>
    </p:spTree>
    <p:extLst>
      <p:ext uri="{BB962C8B-B14F-4D97-AF65-F5344CB8AC3E}">
        <p14:creationId xmlns:p14="http://schemas.microsoft.com/office/powerpoint/2010/main" val="26021912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ounded Rectangle 4"/>
          <p:cNvSpPr/>
          <p:nvPr/>
        </p:nvSpPr>
        <p:spPr>
          <a:xfrm>
            <a:off x="1199161" y="318649"/>
            <a:ext cx="9781309" cy="678872"/>
          </a:xfrm>
          <a:prstGeom prst="roundRect">
            <a:avLst/>
          </a:prstGeom>
          <a:solidFill>
            <a:schemeClr val="bg1"/>
          </a:solidFill>
          <a:ln w="28575">
            <a:solidFill>
              <a:schemeClr val="accent5"/>
            </a:solidFill>
          </a:ln>
          <a:effectLst/>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3600" b="1">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Century Gothic" pitchFamily="34" charset="0"/>
                <a:cs typeface="Aharoni" pitchFamily="2" charset="-79"/>
              </a:rPr>
              <a:t>LAB TASK-3</a:t>
            </a:r>
          </a:p>
        </p:txBody>
      </p:sp>
      <p:sp>
        <p:nvSpPr>
          <p:cNvPr id="8" name="TextBox 7"/>
          <p:cNvSpPr txBox="1"/>
          <p:nvPr/>
        </p:nvSpPr>
        <p:spPr>
          <a:xfrm>
            <a:off x="293687" y="911418"/>
            <a:ext cx="11592251" cy="3139321"/>
          </a:xfrm>
          <a:prstGeom prst="rect">
            <a:avLst/>
          </a:prstGeom>
          <a:noFill/>
        </p:spPr>
        <p:txBody>
          <a:bodyPr wrap="square" rtlCol="0">
            <a:spAutoFit/>
          </a:bodyPr>
          <a:lstStyle/>
          <a:p>
            <a:pPr algn="ctr">
              <a:lnSpc>
                <a:spcPct val="150000"/>
              </a:lnSpc>
              <a:buClr>
                <a:schemeClr val="accent5">
                  <a:lumMod val="75000"/>
                </a:schemeClr>
              </a:buClr>
            </a:pPr>
            <a:r>
              <a:rPr lang="en-IN" sz="2800" b="1">
                <a:solidFill>
                  <a:srgbClr val="C00000"/>
                </a:solidFill>
                <a:latin typeface="Tw Cen MT" panose="020B0602020104020603" pitchFamily="34" charset="0"/>
                <a:cs typeface="Segoe UI" panose="020B0502040204020203" pitchFamily="34" charset="0"/>
              </a:rPr>
              <a:t>Increasing/Decreasing Brightness Using Potentiometer </a:t>
            </a:r>
          </a:p>
          <a:p>
            <a:pPr algn="just">
              <a:buClr>
                <a:schemeClr val="accent5">
                  <a:lumMod val="75000"/>
                </a:schemeClr>
              </a:buClr>
            </a:pPr>
            <a:endParaRPr lang="en-IN" sz="1200">
              <a:solidFill>
                <a:schemeClr val="bg1"/>
              </a:solidFill>
              <a:latin typeface="Tw Cen MT" panose="020B0602020104020603" pitchFamily="34" charset="0"/>
              <a:cs typeface="Segoe UI" panose="020B0502040204020203" pitchFamily="34" charset="0"/>
            </a:endParaRPr>
          </a:p>
          <a:p>
            <a:pPr algn="just">
              <a:lnSpc>
                <a:spcPct val="150000"/>
              </a:lnSpc>
              <a:buClr>
                <a:schemeClr val="accent5">
                  <a:lumMod val="75000"/>
                </a:schemeClr>
              </a:buClr>
            </a:pPr>
            <a:r>
              <a:rPr lang="en-IN" sz="2400">
                <a:solidFill>
                  <a:schemeClr val="bg1"/>
                </a:solidFill>
                <a:latin typeface="Tw Cen MT" panose="020B0602020104020603" pitchFamily="34" charset="0"/>
                <a:cs typeface="Segoe UI" panose="020B0502040204020203" pitchFamily="34" charset="0"/>
              </a:rPr>
              <a:t>Write a C++ program with </a:t>
            </a:r>
            <a:r>
              <a:rPr lang="en-IN" sz="2400" err="1">
                <a:solidFill>
                  <a:schemeClr val="bg1"/>
                </a:solidFill>
                <a:latin typeface="Tw Cen MT" panose="020B0602020104020603" pitchFamily="34" charset="0"/>
                <a:cs typeface="Segoe UI" panose="020B0502040204020203" pitchFamily="34" charset="0"/>
              </a:rPr>
              <a:t>mbed</a:t>
            </a:r>
            <a:r>
              <a:rPr lang="en-IN" sz="2400">
                <a:solidFill>
                  <a:schemeClr val="bg1"/>
                </a:solidFill>
                <a:latin typeface="Tw Cen MT" panose="020B0602020104020603" pitchFamily="34" charset="0"/>
                <a:cs typeface="Segoe UI" panose="020B0502040204020203" pitchFamily="34" charset="0"/>
              </a:rPr>
              <a:t> APIs to gradually increase and decrease LED brightness by changing the position of the Potentiometer via ADC. Also print it’s voltage value on serial monitor. Use Implement and verify this logic on the STM32 Nucleo-64  board using </a:t>
            </a:r>
            <a:r>
              <a:rPr lang="en-IN" sz="2400" err="1">
                <a:solidFill>
                  <a:schemeClr val="bg1"/>
                </a:solidFill>
                <a:latin typeface="Tw Cen MT" panose="020B0602020104020603" pitchFamily="34" charset="0"/>
                <a:cs typeface="Segoe UI" panose="020B0502040204020203" pitchFamily="34" charset="0"/>
              </a:rPr>
              <a:t>Keil</a:t>
            </a:r>
            <a:r>
              <a:rPr lang="en-IN" sz="2400">
                <a:solidFill>
                  <a:schemeClr val="bg1"/>
                </a:solidFill>
                <a:latin typeface="Tw Cen MT" panose="020B0602020104020603" pitchFamily="34" charset="0"/>
                <a:cs typeface="Segoe UI" panose="020B0502040204020203" pitchFamily="34" charset="0"/>
              </a:rPr>
              <a:t> Studio Cloud IDE. </a:t>
            </a:r>
          </a:p>
        </p:txBody>
      </p:sp>
      <p:sp>
        <p:nvSpPr>
          <p:cNvPr id="10" name="Round Same Side Corner Rectangle 9"/>
          <p:cNvSpPr/>
          <p:nvPr/>
        </p:nvSpPr>
        <p:spPr>
          <a:xfrm>
            <a:off x="140031" y="130792"/>
            <a:ext cx="11899570" cy="6457750"/>
          </a:xfrm>
          <a:prstGeom prst="round2SameRect">
            <a:avLst/>
          </a:prstGeom>
          <a:noFill/>
          <a:ln w="38100">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2" name="Pentagon 11"/>
          <p:cNvSpPr/>
          <p:nvPr/>
        </p:nvSpPr>
        <p:spPr>
          <a:xfrm flipH="1">
            <a:off x="11651719" y="6650218"/>
            <a:ext cx="502920" cy="182880"/>
          </a:xfrm>
          <a:prstGeom prst="homePlate">
            <a:avLst/>
          </a:prstGeom>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400" b="1">
                <a:solidFill>
                  <a:schemeClr val="bg1"/>
                </a:solidFill>
                <a:latin typeface="Century Gothic" panose="020B0502020202020204" pitchFamily="34" charset="0"/>
              </a:rPr>
              <a:t>8</a:t>
            </a:r>
          </a:p>
        </p:txBody>
      </p:sp>
      <p:sp>
        <p:nvSpPr>
          <p:cNvPr id="7" name="TextBox 6"/>
          <p:cNvSpPr txBox="1"/>
          <p:nvPr/>
        </p:nvSpPr>
        <p:spPr>
          <a:xfrm>
            <a:off x="4036292" y="6587769"/>
            <a:ext cx="3931948" cy="307777"/>
          </a:xfrm>
          <a:prstGeom prst="rect">
            <a:avLst/>
          </a:prstGeom>
          <a:noFill/>
        </p:spPr>
        <p:txBody>
          <a:bodyPr wrap="square" rtlCol="0">
            <a:spAutoFit/>
          </a:bodyPr>
          <a:lstStyle/>
          <a:p>
            <a:pPr algn="ctr"/>
            <a:r>
              <a:rPr lang="en-US" sz="1400" b="1">
                <a:solidFill>
                  <a:srgbClr val="663300"/>
                </a:solidFill>
                <a:latin typeface="Century Gothic" panose="020B0502020202020204" pitchFamily="34" charset="0"/>
              </a:rPr>
              <a:t>BECE403E-Embedded Systems Design Lab</a:t>
            </a:r>
          </a:p>
        </p:txBody>
      </p:sp>
      <p:sp>
        <p:nvSpPr>
          <p:cNvPr id="11" name="TextBox 10"/>
          <p:cNvSpPr txBox="1"/>
          <p:nvPr/>
        </p:nvSpPr>
        <p:spPr>
          <a:xfrm>
            <a:off x="46422" y="6588542"/>
            <a:ext cx="855622" cy="307777"/>
          </a:xfrm>
          <a:prstGeom prst="rect">
            <a:avLst/>
          </a:prstGeom>
          <a:noFill/>
        </p:spPr>
        <p:txBody>
          <a:bodyPr wrap="square" rtlCol="0">
            <a:spAutoFit/>
          </a:bodyPr>
          <a:lstStyle/>
          <a:p>
            <a:r>
              <a:rPr lang="en-US" sz="1400" b="1">
                <a:solidFill>
                  <a:srgbClr val="663300"/>
                </a:solidFill>
                <a:latin typeface="Century Gothic" panose="020B0502020202020204" pitchFamily="34" charset="0"/>
              </a:rPr>
              <a:t>LAB - 4</a:t>
            </a:r>
          </a:p>
        </p:txBody>
      </p:sp>
    </p:spTree>
    <p:extLst>
      <p:ext uri="{BB962C8B-B14F-4D97-AF65-F5344CB8AC3E}">
        <p14:creationId xmlns:p14="http://schemas.microsoft.com/office/powerpoint/2010/main" val="42941847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ounded Rectangle 4"/>
          <p:cNvSpPr/>
          <p:nvPr/>
        </p:nvSpPr>
        <p:spPr>
          <a:xfrm>
            <a:off x="1199161" y="318649"/>
            <a:ext cx="9781309" cy="678872"/>
          </a:xfrm>
          <a:prstGeom prst="roundRect">
            <a:avLst/>
          </a:prstGeom>
          <a:solidFill>
            <a:schemeClr val="bg1"/>
          </a:solidFill>
          <a:ln w="28575">
            <a:solidFill>
              <a:schemeClr val="accent5"/>
            </a:solidFill>
          </a:ln>
          <a:effectLst/>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3600" b="1">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Century Gothic" pitchFamily="34" charset="0"/>
                <a:cs typeface="Aharoni" pitchFamily="2" charset="-79"/>
              </a:rPr>
              <a:t>LAB TASK-3</a:t>
            </a:r>
          </a:p>
        </p:txBody>
      </p:sp>
      <p:sp>
        <p:nvSpPr>
          <p:cNvPr id="8" name="TextBox 7"/>
          <p:cNvSpPr txBox="1"/>
          <p:nvPr/>
        </p:nvSpPr>
        <p:spPr>
          <a:xfrm>
            <a:off x="293689" y="1135950"/>
            <a:ext cx="11592251" cy="523220"/>
          </a:xfrm>
          <a:prstGeom prst="rect">
            <a:avLst/>
          </a:prstGeom>
          <a:noFill/>
        </p:spPr>
        <p:txBody>
          <a:bodyPr wrap="square" rtlCol="0">
            <a:spAutoFit/>
          </a:bodyPr>
          <a:lstStyle/>
          <a:p>
            <a:pPr algn="just">
              <a:buClr>
                <a:schemeClr val="accent5">
                  <a:lumMod val="75000"/>
                </a:schemeClr>
              </a:buClr>
            </a:pPr>
            <a:r>
              <a:rPr lang="en-IN" sz="2800" b="1" u="sng">
                <a:solidFill>
                  <a:srgbClr val="C00000"/>
                </a:solidFill>
                <a:latin typeface="Tw Cen MT" panose="020B0602020104020603" pitchFamily="34" charset="0"/>
                <a:cs typeface="Segoe UI" panose="020B0502040204020203" pitchFamily="34" charset="0"/>
              </a:rPr>
              <a:t>Program:</a:t>
            </a:r>
            <a:r>
              <a:rPr lang="en-IN" sz="2800" b="1">
                <a:solidFill>
                  <a:srgbClr val="C00000"/>
                </a:solidFill>
                <a:latin typeface="Tw Cen MT" panose="020B0602020104020603" pitchFamily="34" charset="0"/>
                <a:cs typeface="Segoe UI" panose="020B0502040204020203" pitchFamily="34" charset="0"/>
              </a:rPr>
              <a:t>							</a:t>
            </a:r>
            <a:endParaRPr lang="en-IN" sz="2800" b="1" u="sng">
              <a:solidFill>
                <a:srgbClr val="C00000"/>
              </a:solidFill>
              <a:latin typeface="Tw Cen MT" panose="020B0602020104020603" pitchFamily="34" charset="0"/>
              <a:cs typeface="Segoe UI" panose="020B0502040204020203" pitchFamily="34" charset="0"/>
            </a:endParaRPr>
          </a:p>
        </p:txBody>
      </p:sp>
      <p:sp>
        <p:nvSpPr>
          <p:cNvPr id="10" name="Round Same Side Corner Rectangle 9"/>
          <p:cNvSpPr/>
          <p:nvPr/>
        </p:nvSpPr>
        <p:spPr>
          <a:xfrm>
            <a:off x="140031" y="130792"/>
            <a:ext cx="11899570" cy="6457750"/>
          </a:xfrm>
          <a:prstGeom prst="round2SameRect">
            <a:avLst/>
          </a:prstGeom>
          <a:noFill/>
          <a:ln w="38100">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2" name="Pentagon 11"/>
          <p:cNvSpPr/>
          <p:nvPr/>
        </p:nvSpPr>
        <p:spPr>
          <a:xfrm flipH="1">
            <a:off x="11651719" y="6650218"/>
            <a:ext cx="502920" cy="182880"/>
          </a:xfrm>
          <a:prstGeom prst="homePlate">
            <a:avLst/>
          </a:prstGeom>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400" b="1">
                <a:solidFill>
                  <a:schemeClr val="bg1"/>
                </a:solidFill>
                <a:latin typeface="Century Gothic" panose="020B0502020202020204" pitchFamily="34" charset="0"/>
              </a:rPr>
              <a:t>10</a:t>
            </a:r>
          </a:p>
        </p:txBody>
      </p:sp>
      <p:sp>
        <p:nvSpPr>
          <p:cNvPr id="7" name="TextBox 6"/>
          <p:cNvSpPr txBox="1"/>
          <p:nvPr/>
        </p:nvSpPr>
        <p:spPr>
          <a:xfrm>
            <a:off x="3971636" y="6587769"/>
            <a:ext cx="3996603" cy="307777"/>
          </a:xfrm>
          <a:prstGeom prst="rect">
            <a:avLst/>
          </a:prstGeom>
          <a:noFill/>
        </p:spPr>
        <p:txBody>
          <a:bodyPr wrap="square" rtlCol="0">
            <a:spAutoFit/>
          </a:bodyPr>
          <a:lstStyle/>
          <a:p>
            <a:pPr algn="ctr"/>
            <a:r>
              <a:rPr lang="en-US" sz="1400" b="1">
                <a:solidFill>
                  <a:srgbClr val="663300"/>
                </a:solidFill>
                <a:latin typeface="Century Gothic" panose="020B0502020202020204" pitchFamily="34" charset="0"/>
              </a:rPr>
              <a:t>BECE403E-Embedded Systems Design Lab</a:t>
            </a:r>
          </a:p>
        </p:txBody>
      </p:sp>
      <p:sp>
        <p:nvSpPr>
          <p:cNvPr id="11" name="TextBox 10"/>
          <p:cNvSpPr txBox="1"/>
          <p:nvPr/>
        </p:nvSpPr>
        <p:spPr>
          <a:xfrm>
            <a:off x="46422" y="6588542"/>
            <a:ext cx="855622" cy="307777"/>
          </a:xfrm>
          <a:prstGeom prst="rect">
            <a:avLst/>
          </a:prstGeom>
          <a:noFill/>
        </p:spPr>
        <p:txBody>
          <a:bodyPr wrap="square" rtlCol="0">
            <a:spAutoFit/>
          </a:bodyPr>
          <a:lstStyle/>
          <a:p>
            <a:r>
              <a:rPr lang="en-US" sz="1400" b="1">
                <a:solidFill>
                  <a:srgbClr val="663300"/>
                </a:solidFill>
                <a:latin typeface="Century Gothic" panose="020B0502020202020204" pitchFamily="34" charset="0"/>
              </a:rPr>
              <a:t>LAB - 4</a:t>
            </a:r>
          </a:p>
        </p:txBody>
      </p:sp>
      <p:pic>
        <p:nvPicPr>
          <p:cNvPr id="2" name="Picture 1"/>
          <p:cNvPicPr>
            <a:picLocks noChangeAspect="1"/>
          </p:cNvPicPr>
          <p:nvPr/>
        </p:nvPicPr>
        <p:blipFill>
          <a:blip r:embed="rId2"/>
          <a:stretch>
            <a:fillRect/>
          </a:stretch>
        </p:blipFill>
        <p:spPr>
          <a:xfrm>
            <a:off x="1702119" y="1797599"/>
            <a:ext cx="8329690" cy="4089350"/>
          </a:xfrm>
          <a:prstGeom prst="rect">
            <a:avLst/>
          </a:prstGeom>
        </p:spPr>
      </p:pic>
    </p:spTree>
    <p:extLst>
      <p:ext uri="{BB962C8B-B14F-4D97-AF65-F5344CB8AC3E}">
        <p14:creationId xmlns:p14="http://schemas.microsoft.com/office/powerpoint/2010/main" val="8779612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ounded Rectangle 4"/>
          <p:cNvSpPr/>
          <p:nvPr/>
        </p:nvSpPr>
        <p:spPr>
          <a:xfrm>
            <a:off x="1199161" y="318649"/>
            <a:ext cx="9781309" cy="678872"/>
          </a:xfrm>
          <a:prstGeom prst="roundRect">
            <a:avLst/>
          </a:prstGeom>
          <a:solidFill>
            <a:schemeClr val="bg1"/>
          </a:solidFill>
          <a:ln w="28575">
            <a:solidFill>
              <a:schemeClr val="accent5"/>
            </a:solidFill>
          </a:ln>
          <a:effectLst/>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3600" b="1">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Century Gothic" pitchFamily="34" charset="0"/>
                <a:cs typeface="Aharoni" pitchFamily="2" charset="-79"/>
              </a:rPr>
              <a:t>CHALLENGING TASK</a:t>
            </a:r>
          </a:p>
        </p:txBody>
      </p:sp>
      <p:sp>
        <p:nvSpPr>
          <p:cNvPr id="10" name="Round Same Side Corner Rectangle 9"/>
          <p:cNvSpPr/>
          <p:nvPr/>
        </p:nvSpPr>
        <p:spPr>
          <a:xfrm>
            <a:off x="140031" y="130792"/>
            <a:ext cx="11899570" cy="6457750"/>
          </a:xfrm>
          <a:prstGeom prst="round2SameRect">
            <a:avLst/>
          </a:prstGeom>
          <a:noFill/>
          <a:ln w="38100">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2" name="Pentagon 11"/>
          <p:cNvSpPr/>
          <p:nvPr/>
        </p:nvSpPr>
        <p:spPr>
          <a:xfrm flipH="1">
            <a:off x="11651719" y="6650218"/>
            <a:ext cx="502920" cy="182880"/>
          </a:xfrm>
          <a:prstGeom prst="homePlate">
            <a:avLst/>
          </a:prstGeom>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400" b="1">
                <a:solidFill>
                  <a:schemeClr val="bg1"/>
                </a:solidFill>
                <a:latin typeface="Century Gothic" panose="020B0502020202020204" pitchFamily="34" charset="0"/>
              </a:rPr>
              <a:t>11</a:t>
            </a:r>
          </a:p>
        </p:txBody>
      </p:sp>
      <p:sp>
        <p:nvSpPr>
          <p:cNvPr id="7" name="TextBox 6"/>
          <p:cNvSpPr txBox="1"/>
          <p:nvPr/>
        </p:nvSpPr>
        <p:spPr>
          <a:xfrm>
            <a:off x="4054764" y="6587769"/>
            <a:ext cx="3913475" cy="307777"/>
          </a:xfrm>
          <a:prstGeom prst="rect">
            <a:avLst/>
          </a:prstGeom>
          <a:noFill/>
        </p:spPr>
        <p:txBody>
          <a:bodyPr wrap="square" rtlCol="0">
            <a:spAutoFit/>
          </a:bodyPr>
          <a:lstStyle/>
          <a:p>
            <a:pPr algn="ctr"/>
            <a:r>
              <a:rPr lang="en-US" sz="1400" b="1">
                <a:solidFill>
                  <a:srgbClr val="663300"/>
                </a:solidFill>
                <a:latin typeface="Century Gothic" panose="020B0502020202020204" pitchFamily="34" charset="0"/>
              </a:rPr>
              <a:t>BECE403E-Embedded Systems Design Lab</a:t>
            </a:r>
          </a:p>
        </p:txBody>
      </p:sp>
      <p:sp>
        <p:nvSpPr>
          <p:cNvPr id="11" name="TextBox 10"/>
          <p:cNvSpPr txBox="1"/>
          <p:nvPr/>
        </p:nvSpPr>
        <p:spPr>
          <a:xfrm>
            <a:off x="46422" y="6588542"/>
            <a:ext cx="855622" cy="307777"/>
          </a:xfrm>
          <a:prstGeom prst="rect">
            <a:avLst/>
          </a:prstGeom>
          <a:noFill/>
        </p:spPr>
        <p:txBody>
          <a:bodyPr wrap="square" rtlCol="0">
            <a:spAutoFit/>
          </a:bodyPr>
          <a:lstStyle/>
          <a:p>
            <a:r>
              <a:rPr lang="en-US" sz="1400" b="1">
                <a:solidFill>
                  <a:srgbClr val="663300"/>
                </a:solidFill>
                <a:latin typeface="Century Gothic" panose="020B0502020202020204" pitchFamily="34" charset="0"/>
              </a:rPr>
              <a:t>LAB - 4</a:t>
            </a:r>
          </a:p>
        </p:txBody>
      </p:sp>
      <p:sp>
        <p:nvSpPr>
          <p:cNvPr id="8" name="TextBox 7"/>
          <p:cNvSpPr txBox="1"/>
          <p:nvPr/>
        </p:nvSpPr>
        <p:spPr>
          <a:xfrm>
            <a:off x="293687" y="1059197"/>
            <a:ext cx="11592251" cy="5278368"/>
          </a:xfrm>
          <a:prstGeom prst="rect">
            <a:avLst/>
          </a:prstGeom>
          <a:noFill/>
        </p:spPr>
        <p:txBody>
          <a:bodyPr wrap="square" rtlCol="0">
            <a:spAutoFit/>
          </a:bodyPr>
          <a:lstStyle/>
          <a:p>
            <a:pPr algn="ctr">
              <a:lnSpc>
                <a:spcPct val="150000"/>
              </a:lnSpc>
              <a:buClr>
                <a:schemeClr val="accent5">
                  <a:lumMod val="75000"/>
                </a:schemeClr>
              </a:buClr>
            </a:pPr>
            <a:r>
              <a:rPr lang="en-IN" sz="2800" b="1">
                <a:solidFill>
                  <a:srgbClr val="C00000"/>
                </a:solidFill>
                <a:latin typeface="Tw Cen MT" panose="020B0602020104020603" pitchFamily="34" charset="0"/>
                <a:cs typeface="Segoe UI" panose="020B0502040204020203" pitchFamily="34" charset="0"/>
              </a:rPr>
              <a:t>Battery level indicator</a:t>
            </a:r>
          </a:p>
          <a:p>
            <a:pPr algn="just">
              <a:buClr>
                <a:schemeClr val="accent5">
                  <a:lumMod val="75000"/>
                </a:schemeClr>
              </a:buClr>
            </a:pPr>
            <a:r>
              <a:rPr lang="en-IN" sz="2600">
                <a:solidFill>
                  <a:schemeClr val="bg1"/>
                </a:solidFill>
                <a:latin typeface="Tw Cen MT" panose="020B0602020104020603" pitchFamily="34" charset="0"/>
                <a:cs typeface="Segoe UI" panose="020B0502040204020203" pitchFamily="34" charset="0"/>
              </a:rPr>
              <a:t>Write a C++ program with </a:t>
            </a:r>
            <a:r>
              <a:rPr lang="en-IN" sz="2600" err="1">
                <a:solidFill>
                  <a:schemeClr val="bg1"/>
                </a:solidFill>
                <a:latin typeface="Tw Cen MT" panose="020B0602020104020603" pitchFamily="34" charset="0"/>
                <a:cs typeface="Segoe UI" panose="020B0502040204020203" pitchFamily="34" charset="0"/>
              </a:rPr>
              <a:t>mbed</a:t>
            </a:r>
            <a:r>
              <a:rPr lang="en-IN" sz="2600">
                <a:solidFill>
                  <a:schemeClr val="bg1"/>
                </a:solidFill>
                <a:latin typeface="Tw Cen MT" panose="020B0602020104020603" pitchFamily="34" charset="0"/>
                <a:cs typeface="Segoe UI" panose="020B0502040204020203" pitchFamily="34" charset="0"/>
              </a:rPr>
              <a:t> APIs to design a battery level indicator system using potentiometer and LEDs. The system must display the different level of the voltage with the help of 5 LEDs as per following conditions.</a:t>
            </a:r>
          </a:p>
          <a:p>
            <a:pPr marL="1371600" lvl="2" indent="-457200" algn="just">
              <a:lnSpc>
                <a:spcPct val="150000"/>
              </a:lnSpc>
              <a:buClr>
                <a:schemeClr val="accent5">
                  <a:lumMod val="75000"/>
                </a:schemeClr>
              </a:buClr>
              <a:buFont typeface="Wingdings" panose="05000000000000000000" pitchFamily="2" charset="2"/>
              <a:buChar char="Ø"/>
            </a:pPr>
            <a:r>
              <a:rPr lang="en-IN" sz="2200">
                <a:solidFill>
                  <a:schemeClr val="bg1"/>
                </a:solidFill>
                <a:latin typeface="Tw Cen MT" panose="020B0602020104020603" pitchFamily="34" charset="0"/>
                <a:cs typeface="Segoe UI" panose="020B0502040204020203" pitchFamily="34" charset="0"/>
              </a:rPr>
              <a:t>If the voltage is between 0 to 1V glow LED1 and display “0 to 1V” in serial monitor</a:t>
            </a:r>
          </a:p>
          <a:p>
            <a:pPr marL="1371600" lvl="2" indent="-457200" algn="just">
              <a:lnSpc>
                <a:spcPct val="150000"/>
              </a:lnSpc>
              <a:buClr>
                <a:schemeClr val="accent5">
                  <a:lumMod val="75000"/>
                </a:schemeClr>
              </a:buClr>
              <a:buFont typeface="Wingdings" panose="05000000000000000000" pitchFamily="2" charset="2"/>
              <a:buChar char="Ø"/>
            </a:pPr>
            <a:r>
              <a:rPr lang="en-IN" sz="2200">
                <a:solidFill>
                  <a:schemeClr val="bg1"/>
                </a:solidFill>
                <a:latin typeface="Tw Cen MT" panose="020B0602020104020603" pitchFamily="34" charset="0"/>
                <a:cs typeface="Segoe UI" panose="020B0502040204020203" pitchFamily="34" charset="0"/>
              </a:rPr>
              <a:t>If the voltage is between 1 to 2V glow LED1 and LED2 “1 to 2V” in serial monitor</a:t>
            </a:r>
          </a:p>
          <a:p>
            <a:pPr marL="1371600" lvl="2" indent="-457200" algn="just">
              <a:lnSpc>
                <a:spcPct val="150000"/>
              </a:lnSpc>
              <a:buClr>
                <a:schemeClr val="accent5">
                  <a:lumMod val="75000"/>
                </a:schemeClr>
              </a:buClr>
              <a:buFont typeface="Wingdings" panose="05000000000000000000" pitchFamily="2" charset="2"/>
              <a:buChar char="Ø"/>
            </a:pPr>
            <a:r>
              <a:rPr lang="en-IN" sz="2200">
                <a:solidFill>
                  <a:schemeClr val="bg1"/>
                </a:solidFill>
                <a:latin typeface="Tw Cen MT" panose="020B0602020104020603" pitchFamily="34" charset="0"/>
                <a:cs typeface="Segoe UI" panose="020B0502040204020203" pitchFamily="34" charset="0"/>
              </a:rPr>
              <a:t>If the voltage is between 2 to 3V glow LED1 to LED3 “2 to 3V” in serial monitor</a:t>
            </a:r>
          </a:p>
          <a:p>
            <a:pPr marL="1371600" lvl="2" indent="-457200" algn="just">
              <a:lnSpc>
                <a:spcPct val="150000"/>
              </a:lnSpc>
              <a:buClr>
                <a:schemeClr val="accent5">
                  <a:lumMod val="75000"/>
                </a:schemeClr>
              </a:buClr>
              <a:buFont typeface="Wingdings" panose="05000000000000000000" pitchFamily="2" charset="2"/>
              <a:buChar char="Ø"/>
            </a:pPr>
            <a:r>
              <a:rPr lang="en-IN" sz="2200">
                <a:solidFill>
                  <a:schemeClr val="bg1"/>
                </a:solidFill>
                <a:latin typeface="Tw Cen MT" panose="020B0602020104020603" pitchFamily="34" charset="0"/>
                <a:cs typeface="Segoe UI" panose="020B0502040204020203" pitchFamily="34" charset="0"/>
              </a:rPr>
              <a:t>If the voltage is between 3 to 4V glow LED1 to LED4 “3 to 4V” in serial monitor</a:t>
            </a:r>
          </a:p>
          <a:p>
            <a:pPr marL="1371600" lvl="2" indent="-457200" algn="just">
              <a:lnSpc>
                <a:spcPct val="150000"/>
              </a:lnSpc>
              <a:buClr>
                <a:schemeClr val="accent5">
                  <a:lumMod val="75000"/>
                </a:schemeClr>
              </a:buClr>
              <a:buFont typeface="Wingdings" panose="05000000000000000000" pitchFamily="2" charset="2"/>
              <a:buChar char="Ø"/>
            </a:pPr>
            <a:r>
              <a:rPr lang="en-IN" sz="2200">
                <a:solidFill>
                  <a:schemeClr val="bg1"/>
                </a:solidFill>
                <a:latin typeface="Tw Cen MT" panose="020B0602020104020603" pitchFamily="34" charset="0"/>
                <a:cs typeface="Segoe UI" panose="020B0502040204020203" pitchFamily="34" charset="0"/>
              </a:rPr>
              <a:t>If the voltage is between 4 to 5V glow LED1 to LED5 “4 to 5V” in serial monitor</a:t>
            </a:r>
          </a:p>
          <a:p>
            <a:pPr algn="just">
              <a:buClr>
                <a:schemeClr val="accent5">
                  <a:lumMod val="75000"/>
                </a:schemeClr>
              </a:buClr>
            </a:pPr>
            <a:r>
              <a:rPr lang="en-IN" sz="2600">
                <a:solidFill>
                  <a:schemeClr val="bg1"/>
                </a:solidFill>
                <a:latin typeface="Tw Cen MT" panose="020B0602020104020603" pitchFamily="34" charset="0"/>
                <a:cs typeface="Segoe UI" panose="020B0502040204020203" pitchFamily="34" charset="0"/>
              </a:rPr>
              <a:t>Implement and verify this logic on the STM32 Nucleo-64  board using </a:t>
            </a:r>
            <a:r>
              <a:rPr lang="en-IN" sz="2600" err="1">
                <a:solidFill>
                  <a:schemeClr val="bg1"/>
                </a:solidFill>
                <a:latin typeface="Tw Cen MT" panose="020B0602020104020603" pitchFamily="34" charset="0"/>
                <a:cs typeface="Segoe UI" panose="020B0502040204020203" pitchFamily="34" charset="0"/>
              </a:rPr>
              <a:t>Keil</a:t>
            </a:r>
            <a:r>
              <a:rPr lang="en-IN" sz="2600">
                <a:solidFill>
                  <a:schemeClr val="bg1"/>
                </a:solidFill>
                <a:latin typeface="Tw Cen MT" panose="020B0602020104020603" pitchFamily="34" charset="0"/>
                <a:cs typeface="Segoe UI" panose="020B0502040204020203" pitchFamily="34" charset="0"/>
              </a:rPr>
              <a:t> Studio Cloud IDE. </a:t>
            </a:r>
          </a:p>
        </p:txBody>
      </p:sp>
    </p:spTree>
    <p:extLst>
      <p:ext uri="{BB962C8B-B14F-4D97-AF65-F5344CB8AC3E}">
        <p14:creationId xmlns:p14="http://schemas.microsoft.com/office/powerpoint/2010/main" val="1641573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fade">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fade">
                                      <p:cBhvr>
                                        <p:cTn id="17" dur="500"/>
                                        <p:tgtEl>
                                          <p:spTgt spid="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xEl>
                                              <p:pRg st="3" end="3"/>
                                            </p:txEl>
                                          </p:spTgt>
                                        </p:tgtEl>
                                        <p:attrNameLst>
                                          <p:attrName>style.visibility</p:attrName>
                                        </p:attrNameLst>
                                      </p:cBhvr>
                                      <p:to>
                                        <p:strVal val="visible"/>
                                      </p:to>
                                    </p:set>
                                    <p:animEffect transition="in" filter="fade">
                                      <p:cBhvr>
                                        <p:cTn id="22" dur="500"/>
                                        <p:tgtEl>
                                          <p:spTgt spid="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
                                            <p:txEl>
                                              <p:pRg st="4" end="4"/>
                                            </p:txEl>
                                          </p:spTgt>
                                        </p:tgtEl>
                                        <p:attrNameLst>
                                          <p:attrName>style.visibility</p:attrName>
                                        </p:attrNameLst>
                                      </p:cBhvr>
                                      <p:to>
                                        <p:strVal val="visible"/>
                                      </p:to>
                                    </p:set>
                                    <p:animEffect transition="in" filter="fade">
                                      <p:cBhvr>
                                        <p:cTn id="27" dur="500"/>
                                        <p:tgtEl>
                                          <p:spTgt spid="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
                                            <p:txEl>
                                              <p:pRg st="5" end="5"/>
                                            </p:txEl>
                                          </p:spTgt>
                                        </p:tgtEl>
                                        <p:attrNameLst>
                                          <p:attrName>style.visibility</p:attrName>
                                        </p:attrNameLst>
                                      </p:cBhvr>
                                      <p:to>
                                        <p:strVal val="visible"/>
                                      </p:to>
                                    </p:set>
                                    <p:animEffect transition="in" filter="fade">
                                      <p:cBhvr>
                                        <p:cTn id="32" dur="500"/>
                                        <p:tgtEl>
                                          <p:spTgt spid="8">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8">
                                            <p:txEl>
                                              <p:pRg st="6" end="6"/>
                                            </p:txEl>
                                          </p:spTgt>
                                        </p:tgtEl>
                                        <p:attrNameLst>
                                          <p:attrName>style.visibility</p:attrName>
                                        </p:attrNameLst>
                                      </p:cBhvr>
                                      <p:to>
                                        <p:strVal val="visible"/>
                                      </p:to>
                                    </p:set>
                                    <p:animEffect transition="in" filter="fade">
                                      <p:cBhvr>
                                        <p:cTn id="37" dur="500"/>
                                        <p:tgtEl>
                                          <p:spTgt spid="8">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8">
                                            <p:txEl>
                                              <p:pRg st="7" end="7"/>
                                            </p:txEl>
                                          </p:spTgt>
                                        </p:tgtEl>
                                        <p:attrNameLst>
                                          <p:attrName>style.visibility</p:attrName>
                                        </p:attrNameLst>
                                      </p:cBhvr>
                                      <p:to>
                                        <p:strVal val="visible"/>
                                      </p:to>
                                    </p:set>
                                    <p:animEffect transition="in" filter="fade">
                                      <p:cBhvr>
                                        <p:cTn id="42" dur="500"/>
                                        <p:tgtEl>
                                          <p:spTgt spid="8">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cxnSp>
        <p:nvCxnSpPr>
          <p:cNvPr id="6" name="Straight Connector 5"/>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7" name="Title 1"/>
          <p:cNvSpPr>
            <a:spLocks noGrp="1"/>
          </p:cNvSpPr>
          <p:nvPr>
            <p:ph type="title"/>
          </p:nvPr>
        </p:nvSpPr>
        <p:spPr>
          <a:xfrm>
            <a:off x="2500764" y="2396840"/>
            <a:ext cx="7419095" cy="1143000"/>
          </a:xfrm>
          <a:solidFill>
            <a:srgbClr val="00B0F0"/>
          </a:solidFill>
          <a:effectLst>
            <a:glow rad="101600">
              <a:schemeClr val="accent3">
                <a:satMod val="175000"/>
                <a:alpha val="40000"/>
              </a:schemeClr>
            </a:glow>
            <a:outerShdw blurRad="40000" dist="20000" dir="5400000" rotWithShape="0">
              <a:srgbClr val="000000">
                <a:alpha val="38000"/>
              </a:srgbClr>
            </a:outerShdw>
            <a:reflection blurRad="6350" stA="50000" endA="295" endPos="92000" dist="101600" dir="5400000" sy="-100000" algn="bl" rotWithShape="0"/>
          </a:effectLst>
          <a:scene3d>
            <a:camera prst="perspectiveContrastingRightFacing"/>
            <a:lightRig rig="threePt" dir="t"/>
          </a:scene3d>
          <a:sp3d>
            <a:bevelT w="139700" h="139700" prst="divot"/>
          </a:sp3d>
        </p:spPr>
        <p:style>
          <a:lnRef idx="3">
            <a:schemeClr val="lt1"/>
          </a:lnRef>
          <a:fillRef idx="1">
            <a:schemeClr val="accent5"/>
          </a:fillRef>
          <a:effectRef idx="1">
            <a:schemeClr val="accent5"/>
          </a:effectRef>
          <a:fontRef idx="minor">
            <a:schemeClr val="lt1"/>
          </a:fontRef>
        </p:style>
        <p:txBody>
          <a:bodyPr>
            <a:normAutofit/>
          </a:bodyPr>
          <a:lstStyle/>
          <a:p>
            <a:pPr algn="ctr" eaLnBrk="1" hangingPunct="1">
              <a:defRPr/>
            </a:pPr>
            <a:r>
              <a:rPr lang="en-US" sz="6000" b="1">
                <a:solidFill>
                  <a:schemeClr val="bg1"/>
                </a:solidFill>
                <a:latin typeface="Forte" pitchFamily="66" charset="0"/>
              </a:rPr>
              <a:t>THANK   YOU</a:t>
            </a:r>
          </a:p>
        </p:txBody>
      </p:sp>
      <p:sp>
        <p:nvSpPr>
          <p:cNvPr id="11" name="TextBox 10"/>
          <p:cNvSpPr txBox="1">
            <a:spLocks noChangeArrowheads="1"/>
          </p:cNvSpPr>
          <p:nvPr/>
        </p:nvSpPr>
        <p:spPr bwMode="auto">
          <a:xfrm rot="-1379407">
            <a:off x="9132744" y="4466435"/>
            <a:ext cx="2632075" cy="1754326"/>
          </a:xfrm>
          <a:prstGeom prst="rect">
            <a:avLst/>
          </a:prstGeom>
          <a:noFill/>
          <a:ln w="9525">
            <a:noFill/>
            <a:miter lim="800000"/>
            <a:headEnd/>
            <a:tailEnd/>
          </a:ln>
        </p:spPr>
        <p:txBody>
          <a:bodyPr>
            <a:spAutoFit/>
          </a:bodyPr>
          <a:lstStyle/>
          <a:p>
            <a:pPr algn="ctr"/>
            <a:r>
              <a:rPr lang="en-US" sz="5400" b="1">
                <a:solidFill>
                  <a:srgbClr val="C00000"/>
                </a:solidFill>
                <a:latin typeface="Blackadder ITC" pitchFamily="82" charset="0"/>
              </a:rPr>
              <a:t>by</a:t>
            </a:r>
          </a:p>
          <a:p>
            <a:pPr algn="ctr"/>
            <a:r>
              <a:rPr lang="en-US" sz="5400" b="1">
                <a:solidFill>
                  <a:srgbClr val="C00000"/>
                </a:solidFill>
                <a:latin typeface="Blackadder ITC" pitchFamily="82" charset="0"/>
              </a:rPr>
              <a:t> prakash  v</a:t>
            </a:r>
          </a:p>
        </p:txBody>
      </p:sp>
      <p:pic>
        <p:nvPicPr>
          <p:cNvPr id="12" name="Picture 3"/>
          <p:cNvPicPr>
            <a:picLocks noChangeAspect="1" noChangeArrowheads="1"/>
          </p:cNvPicPr>
          <p:nvPr/>
        </p:nvPicPr>
        <p:blipFill>
          <a:blip r:embed="rId2" cstate="print"/>
          <a:srcRect/>
          <a:stretch>
            <a:fillRect/>
          </a:stretch>
        </p:blipFill>
        <p:spPr bwMode="auto">
          <a:xfrm>
            <a:off x="609600" y="762000"/>
            <a:ext cx="7848600" cy="276225"/>
          </a:xfrm>
          <a:prstGeom prst="rect">
            <a:avLst/>
          </a:prstGeom>
          <a:noFill/>
          <a:ln w="9525">
            <a:noFill/>
            <a:miter lim="800000"/>
            <a:headEnd/>
            <a:tailEnd/>
          </a:ln>
        </p:spPr>
      </p:pic>
      <p:pic>
        <p:nvPicPr>
          <p:cNvPr id="13" name="Content Placeholder 4" descr="butterflybluex.gif"/>
          <p:cNvPicPr>
            <a:picLocks noGrp="1" noChangeAspect="1"/>
          </p:cNvPicPr>
          <p:nvPr>
            <p:ph idx="1"/>
          </p:nvPr>
        </p:nvPicPr>
        <p:blipFill>
          <a:blip r:embed="rId3" cstate="print"/>
          <a:stretch>
            <a:fillRect/>
          </a:stretch>
        </p:blipFill>
        <p:spPr>
          <a:xfrm>
            <a:off x="223401" y="5170340"/>
            <a:ext cx="2152650" cy="1590675"/>
          </a:xfrm>
        </p:spPr>
      </p:pic>
    </p:spTree>
    <p:extLst>
      <p:ext uri="{BB962C8B-B14F-4D97-AF65-F5344CB8AC3E}">
        <p14:creationId xmlns:p14="http://schemas.microsoft.com/office/powerpoint/2010/main" val="2338714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3000" fill="hold"/>
                                        <p:tgtEl>
                                          <p:spTgt spid="7"/>
                                        </p:tgtEl>
                                        <p:attrNameLst>
                                          <p:attrName>ppt_w</p:attrName>
                                        </p:attrNameLst>
                                      </p:cBhvr>
                                      <p:tavLst>
                                        <p:tav tm="0">
                                          <p:val>
                                            <p:strVal val="#ppt_w*0.70"/>
                                          </p:val>
                                        </p:tav>
                                        <p:tav tm="100000">
                                          <p:val>
                                            <p:strVal val="#ppt_w"/>
                                          </p:val>
                                        </p:tav>
                                      </p:tavLst>
                                    </p:anim>
                                    <p:anim calcmode="lin" valueType="num">
                                      <p:cBhvr>
                                        <p:cTn id="8" dur="3000" fill="hold"/>
                                        <p:tgtEl>
                                          <p:spTgt spid="7"/>
                                        </p:tgtEl>
                                        <p:attrNameLst>
                                          <p:attrName>ppt_h</p:attrName>
                                        </p:attrNameLst>
                                      </p:cBhvr>
                                      <p:tavLst>
                                        <p:tav tm="0">
                                          <p:val>
                                            <p:strVal val="#ppt_h"/>
                                          </p:val>
                                        </p:tav>
                                        <p:tav tm="100000">
                                          <p:val>
                                            <p:strVal val="#ppt_h"/>
                                          </p:val>
                                        </p:tav>
                                      </p:tavLst>
                                    </p:anim>
                                    <p:animEffect transition="in" filter="fade">
                                      <p:cBhvr>
                                        <p:cTn id="9" dur="3000"/>
                                        <p:tgtEl>
                                          <p:spTgt spid="7"/>
                                        </p:tgtEl>
                                      </p:cBhvr>
                                    </p:animEffect>
                                  </p:childTnLst>
                                </p:cTn>
                              </p:par>
                            </p:childTnLst>
                          </p:cTn>
                        </p:par>
                        <p:par>
                          <p:cTn id="10" fill="hold">
                            <p:stCondLst>
                              <p:cond delay="3000"/>
                            </p:stCondLst>
                            <p:childTnLst>
                              <p:par>
                                <p:cTn id="11" presetID="27" presetClass="entr" presetSubtype="0" fill="hold" grpId="0" nodeType="afterEffect">
                                  <p:stCondLst>
                                    <p:cond delay="0"/>
                                  </p:stCondLst>
                                  <p:iterate type="lt">
                                    <p:tmPct val="50000"/>
                                  </p:iterate>
                                  <p:childTnLst>
                                    <p:set>
                                      <p:cBhvr>
                                        <p:cTn id="12" dur="1" fill="hold">
                                          <p:stCondLst>
                                            <p:cond delay="0"/>
                                          </p:stCondLst>
                                        </p:cTn>
                                        <p:tgtEl>
                                          <p:spTgt spid="11"/>
                                        </p:tgtEl>
                                        <p:attrNameLst>
                                          <p:attrName>style.visibility</p:attrName>
                                        </p:attrNameLst>
                                      </p:cBhvr>
                                      <p:to>
                                        <p:strVal val="visible"/>
                                      </p:to>
                                    </p:set>
                                    <p:anim calcmode="discrete" valueType="clr">
                                      <p:cBhvr override="childStyle">
                                        <p:cTn id="13" dur="1000"/>
                                        <p:tgtEl>
                                          <p:spTgt spid="11"/>
                                        </p:tgtEl>
                                        <p:attrNameLst>
                                          <p:attrName>style.color</p:attrName>
                                        </p:attrNameLst>
                                      </p:cBhvr>
                                      <p:tavLst>
                                        <p:tav tm="0">
                                          <p:val>
                                            <p:clrVal>
                                              <a:schemeClr val="accent2"/>
                                            </p:clrVal>
                                          </p:val>
                                        </p:tav>
                                        <p:tav tm="50000">
                                          <p:val>
                                            <p:clrVal>
                                              <a:schemeClr val="hlink"/>
                                            </p:clrVal>
                                          </p:val>
                                        </p:tav>
                                      </p:tavLst>
                                    </p:anim>
                                    <p:anim calcmode="discrete" valueType="clr">
                                      <p:cBhvr>
                                        <p:cTn id="14" dur="1000"/>
                                        <p:tgtEl>
                                          <p:spTgt spid="11"/>
                                        </p:tgtEl>
                                        <p:attrNameLst>
                                          <p:attrName>fillcolor</p:attrName>
                                        </p:attrNameLst>
                                      </p:cBhvr>
                                      <p:tavLst>
                                        <p:tav tm="0">
                                          <p:val>
                                            <p:clrVal>
                                              <a:schemeClr val="accent2"/>
                                            </p:clrVal>
                                          </p:val>
                                        </p:tav>
                                        <p:tav tm="50000">
                                          <p:val>
                                            <p:clrVal>
                                              <a:schemeClr val="hlink"/>
                                            </p:clrVal>
                                          </p:val>
                                        </p:tav>
                                      </p:tavLst>
                                    </p:anim>
                                    <p:set>
                                      <p:cBhvr>
                                        <p:cTn id="15" dur="1000"/>
                                        <p:tgtEl>
                                          <p:spTgt spid="11"/>
                                        </p:tgtEl>
                                        <p:attrNameLst>
                                          <p:attrName>fill.type</p:attrName>
                                        </p:attrNameLst>
                                      </p:cBhvr>
                                      <p:to>
                                        <p:strVal val="solid"/>
                                      </p:to>
                                    </p:set>
                                  </p:childTnLst>
                                </p:cTn>
                              </p:par>
                            </p:childTnLst>
                          </p:cTn>
                        </p:par>
                        <p:par>
                          <p:cTn id="16" fill="hold">
                            <p:stCondLst>
                              <p:cond delay="8500"/>
                            </p:stCondLst>
                            <p:childTnLst>
                              <p:par>
                                <p:cTn id="17" presetID="0" presetClass="path" presetSubtype="0" accel="50000" decel="50000" fill="hold" nodeType="afterEffect">
                                  <p:stCondLst>
                                    <p:cond delay="0"/>
                                  </p:stCondLst>
                                  <p:childTnLst>
                                    <p:animMotion origin="layout" path="M -0.06315 0.03796 C 0.07422 0.04398 0.21172 0.05046 0.2332 -0.03033 C 0.25456 -0.11111 0.05703 -0.33172 0.06563 -0.44653 C 0.075 -0.56135 0.17487 -0.68797 0.28724 -0.71968 C 0.4013 -0.75139 0.69622 -0.68241 0.74531 -0.63681 C 0.7944 -0.59121 0.61016 -0.47824 0.58307 -0.44653 " pathEditMode="relative" rAng="0" ptsTypes="aaaaaA">
                                      <p:cBhvr>
                                        <p:cTn id="18" dur="5000" fill="hold"/>
                                        <p:tgtEl>
                                          <p:spTgt spid="13"/>
                                        </p:tgtEl>
                                        <p:attrNameLst>
                                          <p:attrName>ppt_x</p:attrName>
                                          <p:attrName>ppt_y</p:attrName>
                                        </p:attrNameLst>
                                      </p:cBhvr>
                                      <p:rCtr x="42900" y="-388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7.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Slide 1&quot;/&gt;&lt;property id=&quot;20307&quot; value=&quot;256&quot;/&gt;&lt;/object&gt;&lt;object type=&quot;3&quot; unique_id=&quot;10086&quot;&gt;&lt;property id=&quot;20148&quot; value=&quot;5&quot;/&gt;&lt;property id=&quot;20300&quot; value=&quot;Slide 11 - &amp;quot;THANK   YOU&amp;quot;&quot;/&gt;&lt;property id=&quot;20307&quot; value=&quot;259&quot;/&gt;&lt;/object&gt;&lt;object type=&quot;3&quot; unique_id=&quot;10213&quot;&gt;&lt;property id=&quot;20148&quot; value=&quot;5&quot;/&gt;&lt;property id=&quot;20300&quot; value=&quot;Slide 2&quot;/&gt;&lt;property id=&quot;20307&quot; value=&quot;260&quot;/&gt;&lt;/object&gt;&lt;object type=&quot;3&quot; unique_id=&quot;10451&quot;&gt;&lt;property id=&quot;20148&quot; value=&quot;5&quot;/&gt;&lt;property id=&quot;20300&quot; value=&quot;Slide 3&quot;/&gt;&lt;property id=&quot;20307&quot; value=&quot;267&quot;/&gt;&lt;/object&gt;&lt;object type=&quot;3&quot; unique_id=&quot;10717&quot;&gt;&lt;property id=&quot;20148&quot; value=&quot;5&quot;/&gt;&lt;property id=&quot;20300&quot; value=&quot;Slide 4&quot;/&gt;&lt;property id=&quot;20307&quot; value=&quot;268&quot;/&gt;&lt;/object&gt;&lt;object type=&quot;3&quot; unique_id=&quot;10718&quot;&gt;&lt;property id=&quot;20148&quot; value=&quot;5&quot;/&gt;&lt;property id=&quot;20300&quot; value=&quot;Slide 5&quot;/&gt;&lt;property id=&quot;20307&quot; value=&quot;269&quot;/&gt;&lt;/object&gt;&lt;object type=&quot;3&quot; unique_id=&quot;10719&quot;&gt;&lt;property id=&quot;20148&quot; value=&quot;5&quot;/&gt;&lt;property id=&quot;20300&quot; value=&quot;Slide 6&quot;/&gt;&lt;property id=&quot;20307&quot; value=&quot;270&quot;/&gt;&lt;/object&gt;&lt;object type=&quot;3&quot; unique_id=&quot;10788&quot;&gt;&lt;property id=&quot;20148&quot; value=&quot;5&quot;/&gt;&lt;property id=&quot;20300&quot; value=&quot;Slide 7&quot;/&gt;&lt;property id=&quot;20307&quot; value=&quot;271&quot;/&gt;&lt;/object&gt;&lt;object type=&quot;3&quot; unique_id=&quot;10819&quot;&gt;&lt;property id=&quot;20148&quot; value=&quot;5&quot;/&gt;&lt;property id=&quot;20300&quot; value=&quot;Slide 8&quot;/&gt;&lt;property id=&quot;20307&quot; value=&quot;272&quot;/&gt;&lt;/object&gt;&lt;object type=&quot;3&quot; unique_id=&quot;10875&quot;&gt;&lt;property id=&quot;20148&quot; value=&quot;5&quot;/&gt;&lt;property id=&quot;20300&quot; value=&quot;Slide 9&quot;/&gt;&lt;property id=&quot;20307&quot; value=&quot;273&quot;/&gt;&lt;/object&gt;&lt;object type=&quot;3&quot; unique_id=&quot;10912&quot;&gt;&lt;property id=&quot;20148&quot; value=&quot;5&quot;/&gt;&lt;property id=&quot;20300&quot; value=&quot;Slide 10&quot;/&gt;&lt;property id=&quot;20307&quot; value=&quot;274&quot;/&gt;&lt;/object&gt;&lt;/object&gt;&lt;/object&gt;&lt;/database&gt;"/>
  <p:tag name="SECTOMILLISECCONVERTED" val="1"/>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C30828B62F68548B536606B169F73C7" ma:contentTypeVersion="4" ma:contentTypeDescription="Create a new document." ma:contentTypeScope="" ma:versionID="e81a1a7dd6fade02954d078aa3427748">
  <xsd:schema xmlns:xsd="http://www.w3.org/2001/XMLSchema" xmlns:xs="http://www.w3.org/2001/XMLSchema" xmlns:p="http://schemas.microsoft.com/office/2006/metadata/properties" xmlns:ns2="f8b3528e-c29d-4111-b526-c93a7a094c4f" targetNamespace="http://schemas.microsoft.com/office/2006/metadata/properties" ma:root="true" ma:fieldsID="09227fdc07b02cec8d2dcb19b26e5d97" ns2:_="">
    <xsd:import namespace="f8b3528e-c29d-4111-b526-c93a7a094c4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8b3528e-c29d-4111-b526-c93a7a094c4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5B8EFAB-CE41-45DA-88CF-27AB46EF1073}">
  <ds:schemaRefs>
    <ds:schemaRef ds:uri="f8b3528e-c29d-4111-b526-c93a7a094c4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33371EC7-DC57-4B38-A4DA-CD4F406B537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TC103457452[[fn=Celestial]]</Template>
  <Application>Microsoft Office PowerPoint</Application>
  <PresentationFormat>Widescreen</PresentationFormat>
  <Slides>17</Slides>
  <Notes>0</Notes>
  <HiddenSlides>0</HiddenSlide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Celestial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Seminar on FPGA Based Flexible Autopilot Platform for Unmanned Systems</dc:title>
  <dc:creator>Naveen Raja N</dc:creator>
  <cp:revision>1</cp:revision>
  <dcterms:created xsi:type="dcterms:W3CDTF">2013-10-21T17:01:43Z</dcterms:created>
  <dcterms:modified xsi:type="dcterms:W3CDTF">2024-08-14T17:21:05Z</dcterms:modified>
</cp:coreProperties>
</file>