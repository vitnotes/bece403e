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Lst>
  <p:sldIdLst>
    <p:sldId id="283" r:id="rId4"/>
    <p:sldId id="354" r:id="rId5"/>
    <p:sldId id="286" r:id="rId6"/>
    <p:sldId id="351" r:id="rId7"/>
    <p:sldId id="341" r:id="rId8"/>
    <p:sldId id="347" r:id="rId9"/>
    <p:sldId id="322" r:id="rId10"/>
    <p:sldId id="321" r:id="rId11"/>
    <p:sldId id="353" r:id="rId12"/>
    <p:sldId id="352" r:id="rId13"/>
    <p:sldId id="339" r:id="rId14"/>
    <p:sldId id="259" r:id="rId15"/>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663300"/>
    <a:srgbClr val="FF9900"/>
    <a:srgbClr val="04DA18"/>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1.xml"/><Relationship Id="rId21" Type="http://schemas.microsoft.com/office/2016/11/relationships/changesInfo" Target="changesInfos/changesInfo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nithi M" userId="S::jaynithi.m2021@vitstudent.ac.in::2a78ba5c-37d9-4d63-b27a-317425fe8f2a" providerId="AD" clId="Web-{0840948B-AF05-CC94-0D27-6C13148555DF}"/>
    <pc:docChg chg="addSld delSld">
      <pc:chgData name="Jaynithi M" userId="S::jaynithi.m2021@vitstudent.ac.in::2a78ba5c-37d9-4d63-b27a-317425fe8f2a" providerId="AD" clId="Web-{0840948B-AF05-CC94-0D27-6C13148555DF}" dt="2024-09-18T09:04:03.039" v="1"/>
      <pc:docMkLst>
        <pc:docMk/>
      </pc:docMkLst>
      <pc:sldChg chg="new del">
        <pc:chgData name="Jaynithi M" userId="S::jaynithi.m2021@vitstudent.ac.in::2a78ba5c-37d9-4d63-b27a-317425fe8f2a" providerId="AD" clId="Web-{0840948B-AF05-CC94-0D27-6C13148555DF}" dt="2024-09-18T09:04:03.039" v="1"/>
        <pc:sldMkLst>
          <pc:docMk/>
          <pc:sldMk cId="1636835999" sldId="355"/>
        </pc:sldMkLst>
      </pc:sldChg>
    </pc:docChg>
  </pc:docChgLst>
  <pc:docChgLst>
    <pc:chgData name="Dev Ravindra Munvar" userId="S::devravindra.munvar2021@vitstudent.ac.in::6826a94c-98c1-4146-b06e-5b35816dee4d" providerId="AD" clId="Web-{61E6939F-28D2-49C9-D291-8F1C3F042264}"/>
    <pc:docChg chg="modSld">
      <pc:chgData name="Dev Ravindra Munvar" userId="S::devravindra.munvar2021@vitstudent.ac.in::6826a94c-98c1-4146-b06e-5b35816dee4d" providerId="AD" clId="Web-{61E6939F-28D2-49C9-D291-8F1C3F042264}" dt="2024-09-18T08:12:58.304" v="0" actId="1076"/>
      <pc:docMkLst>
        <pc:docMk/>
      </pc:docMkLst>
      <pc:sldChg chg="modSp">
        <pc:chgData name="Dev Ravindra Munvar" userId="S::devravindra.munvar2021@vitstudent.ac.in::6826a94c-98c1-4146-b06e-5b35816dee4d" providerId="AD" clId="Web-{61E6939F-28D2-49C9-D291-8F1C3F042264}" dt="2024-09-18T08:12:58.304" v="0" actId="1076"/>
        <pc:sldMkLst>
          <pc:docMk/>
          <pc:sldMk cId="658211261" sldId="352"/>
        </pc:sldMkLst>
        <pc:picChg chg="mod">
          <ac:chgData name="Dev Ravindra Munvar" userId="S::devravindra.munvar2021@vitstudent.ac.in::6826a94c-98c1-4146-b06e-5b35816dee4d" providerId="AD" clId="Web-{61E6939F-28D2-49C9-D291-8F1C3F042264}" dt="2024-09-18T08:12:58.304" v="0" actId="1076"/>
          <ac:picMkLst>
            <pc:docMk/>
            <pc:sldMk cId="658211261" sldId="352"/>
            <ac:picMk id="2050" creationId="{00000000-0000-0000-0000-000000000000}"/>
          </ac:picMkLst>
        </pc:picChg>
      </pc:sldChg>
    </pc:docChg>
  </pc:docChgLst>
  <pc:docChgLst>
    <pc:chgData name="Varun Kumar Reddy D" userId="S::varunkumar.reddyd2021@vitstudent.ac.in::ed2b2ff8-ae45-4539-964c-b3664ed5e6df" providerId="AD" clId="Web-{E0F6D14C-64A3-0409-EA0E-5F6B61457234}"/>
    <pc:docChg chg="modSld">
      <pc:chgData name="Varun Kumar Reddy D" userId="S::varunkumar.reddyd2021@vitstudent.ac.in::ed2b2ff8-ae45-4539-964c-b3664ed5e6df" providerId="AD" clId="Web-{E0F6D14C-64A3-0409-EA0E-5F6B61457234}" dt="2024-09-17T05:39:23.428" v="0" actId="1076"/>
      <pc:docMkLst>
        <pc:docMk/>
      </pc:docMkLst>
      <pc:sldChg chg="modSp">
        <pc:chgData name="Varun Kumar Reddy D" userId="S::varunkumar.reddyd2021@vitstudent.ac.in::ed2b2ff8-ae45-4539-964c-b3664ed5e6df" providerId="AD" clId="Web-{E0F6D14C-64A3-0409-EA0E-5F6B61457234}" dt="2024-09-17T05:39:23.428" v="0" actId="1076"/>
        <pc:sldMkLst>
          <pc:docMk/>
          <pc:sldMk cId="658211261" sldId="352"/>
        </pc:sldMkLst>
        <pc:picChg chg="mod">
          <ac:chgData name="Varun Kumar Reddy D" userId="S::varunkumar.reddyd2021@vitstudent.ac.in::ed2b2ff8-ae45-4539-964c-b3664ed5e6df" providerId="AD" clId="Web-{E0F6D14C-64A3-0409-EA0E-5F6B61457234}" dt="2024-09-17T05:39:23.428" v="0" actId="1076"/>
          <ac:picMkLst>
            <pc:docMk/>
            <pc:sldMk cId="658211261" sldId="352"/>
            <ac:picMk id="2050" creationId="{00000000-0000-0000-0000-000000000000}"/>
          </ac:picMkLst>
        </pc:picChg>
      </pc:sldChg>
    </pc:docChg>
  </pc:docChgLst>
  <pc:docChgLst>
    <pc:chgData name="Kruthika P" userId="S::kruthika.p2021@vitstudent.ac.in::e0867ee2-4c51-4a31-9a6f-889635853cfc" providerId="AD" clId="Web-{DC6901FA-C731-46DF-B327-D9238CB8C568}"/>
    <pc:docChg chg="modSld">
      <pc:chgData name="Kruthika P" userId="S::kruthika.p2021@vitstudent.ac.in::e0867ee2-4c51-4a31-9a6f-889635853cfc" providerId="AD" clId="Web-{DC6901FA-C731-46DF-B327-D9238CB8C568}" dt="2024-09-25T07:27:27.413" v="1" actId="14100"/>
      <pc:docMkLst>
        <pc:docMk/>
      </pc:docMkLst>
      <pc:sldChg chg="modSp">
        <pc:chgData name="Kruthika P" userId="S::kruthika.p2021@vitstudent.ac.in::e0867ee2-4c51-4a31-9a6f-889635853cfc" providerId="AD" clId="Web-{DC6901FA-C731-46DF-B327-D9238CB8C568}" dt="2024-09-25T07:27:27.413" v="1" actId="14100"/>
        <pc:sldMkLst>
          <pc:docMk/>
          <pc:sldMk cId="658211261" sldId="352"/>
        </pc:sldMkLst>
        <pc:picChg chg="mod">
          <ac:chgData name="Kruthika P" userId="S::kruthika.p2021@vitstudent.ac.in::e0867ee2-4c51-4a31-9a6f-889635853cfc" providerId="AD" clId="Web-{DC6901FA-C731-46DF-B327-D9238CB8C568}" dt="2024-09-25T07:27:27.413" v="1" actId="14100"/>
          <ac:picMkLst>
            <pc:docMk/>
            <pc:sldMk cId="658211261" sldId="352"/>
            <ac:picMk id="2050"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47409754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372469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24806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158598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868902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446293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839861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256341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108458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93494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270451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770831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825145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804240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39090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3840208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26418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76DE7D-5BF9-462A-88A8-AF83DF48CD51}" type="datetimeFigureOut">
              <a:rPr lang="en-US" smtClean="0"/>
              <a:pPr/>
              <a:t>11/18/2024</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0FFEA6D-D485-41AB-8459-9215472A1970}" type="slidenum">
              <a:rPr lang="en-US" smtClean="0"/>
              <a:pPr/>
              <a:t>‹#›</a:t>
            </a:fld>
            <a:endParaRPr lang="en-US"/>
          </a:p>
        </p:txBody>
      </p:sp>
    </p:spTree>
    <p:extLst>
      <p:ext uri="{BB962C8B-B14F-4D97-AF65-F5344CB8AC3E}">
        <p14:creationId xmlns:p14="http://schemas.microsoft.com/office/powerpoint/2010/main" val="34784995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66253" y="1717952"/>
            <a:ext cx="11859493" cy="3435936"/>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6" name="Rounded Rectangle 5"/>
          <p:cNvSpPr/>
          <p:nvPr/>
        </p:nvSpPr>
        <p:spPr>
          <a:xfrm>
            <a:off x="166260" y="228598"/>
            <a:ext cx="11873345" cy="6400800"/>
          </a:xfrm>
          <a:prstGeom prst="round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effectLst>
                <a:glow rad="101600">
                  <a:schemeClr val="bg1">
                    <a:lumMod val="95000"/>
                    <a:lumOff val="5000"/>
                    <a:alpha val="60000"/>
                  </a:schemeClr>
                </a:glow>
              </a:effectLst>
            </a:endParaRPr>
          </a:p>
        </p:txBody>
      </p:sp>
      <p:sp>
        <p:nvSpPr>
          <p:cNvPr id="13" name="Flowchart: Alternate Process 12"/>
          <p:cNvSpPr/>
          <p:nvPr/>
        </p:nvSpPr>
        <p:spPr>
          <a:xfrm>
            <a:off x="692731" y="2434647"/>
            <a:ext cx="10820400" cy="2719241"/>
          </a:xfrm>
          <a:prstGeom prst="flowChartAlternateProcess">
            <a:avLst/>
          </a:prstGeom>
          <a:solidFill>
            <a:schemeClr val="bg1"/>
          </a:solidFill>
          <a:ln w="28575">
            <a:solidFill>
              <a:schemeClr val="accent5"/>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6000" b="1">
                <a:ln w="12700">
                  <a:solidFill>
                    <a:schemeClr val="accent5"/>
                  </a:solidFill>
                  <a:prstDash val="solid"/>
                </a:ln>
                <a:pattFill prst="ltDnDiag">
                  <a:fgClr>
                    <a:schemeClr val="accent5">
                      <a:lumMod val="60000"/>
                      <a:lumOff val="40000"/>
                    </a:schemeClr>
                  </a:fgClr>
                  <a:bgClr>
                    <a:schemeClr val="bg1"/>
                  </a:bgClr>
                </a:pattFill>
                <a:latin typeface="Century Gothic" panose="020B0502020202020204" pitchFamily="34" charset="0"/>
              </a:rPr>
              <a:t>LAB-9</a:t>
            </a:r>
          </a:p>
          <a:p>
            <a:pPr algn="ctr"/>
            <a:r>
              <a:rPr lang="en-IN" sz="4800" b="1">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Century Gothic" panose="020B0502020202020204" pitchFamily="34" charset="0"/>
                <a:cs typeface="Narkisim" pitchFamily="34" charset="-79"/>
              </a:rPr>
              <a:t>Working with BLUETOOTH HC-05</a:t>
            </a:r>
          </a:p>
        </p:txBody>
      </p:sp>
      <p:sp>
        <p:nvSpPr>
          <p:cNvPr id="8" name="TextBox 7"/>
          <p:cNvSpPr txBox="1"/>
          <p:nvPr/>
        </p:nvSpPr>
        <p:spPr>
          <a:xfrm>
            <a:off x="406400" y="1525720"/>
            <a:ext cx="11295449" cy="769441"/>
          </a:xfrm>
          <a:prstGeom prst="rect">
            <a:avLst/>
          </a:prstGeom>
          <a:noFill/>
        </p:spPr>
        <p:txBody>
          <a:bodyPr wrap="square" rtlCol="0">
            <a:spAutoFit/>
          </a:bodyPr>
          <a:lstStyle/>
          <a:p>
            <a:pPr algn="ctr"/>
            <a:r>
              <a:rPr lang="en-US" sz="44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entury Gothic" panose="020B0502020202020204" pitchFamily="34" charset="0"/>
              </a:rPr>
              <a:t>BECE403E-Embedded System Design Lab</a:t>
            </a:r>
          </a:p>
        </p:txBody>
      </p:sp>
      <p:sp>
        <p:nvSpPr>
          <p:cNvPr id="9" name="Pentagon 8"/>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39989F56-CDD1-4D38-8356-4B66AE2768AD}" type="slidenum">
              <a:rPr lang="en-US" sz="1400" b="1" smtClean="0">
                <a:solidFill>
                  <a:schemeClr val="bg1"/>
                </a:solidFill>
                <a:latin typeface="Century Gothic" panose="020B0502020202020204" pitchFamily="34" charset="0"/>
              </a:rPr>
              <a:t>1</a:t>
            </a:fld>
            <a:endParaRPr lang="en-US" sz="1400" b="1">
              <a:solidFill>
                <a:schemeClr val="bg1"/>
              </a:solidFill>
              <a:latin typeface="Century Gothic" panose="020B0502020202020204" pitchFamily="34" charset="0"/>
            </a:endParaRPr>
          </a:p>
        </p:txBody>
      </p:sp>
      <p:sp>
        <p:nvSpPr>
          <p:cNvPr id="10" name="TextBox 9"/>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spTree>
    <p:extLst>
      <p:ext uri="{BB962C8B-B14F-4D97-AF65-F5344CB8AC3E}">
        <p14:creationId xmlns:p14="http://schemas.microsoft.com/office/powerpoint/2010/main" val="4169447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1" y="1863969"/>
            <a:ext cx="10131425" cy="4208585"/>
          </a:xfrm>
        </p:spPr>
        <p:txBody>
          <a:bodyPr>
            <a:normAutofit/>
          </a:bodyPr>
          <a:lstStyle/>
          <a:p>
            <a:pPr algn="just" defTabSz="914400">
              <a:buClr>
                <a:schemeClr val="accent5">
                  <a:lumMod val="75000"/>
                </a:schemeClr>
              </a:buClr>
              <a:buFont typeface="Wingdings" panose="05000000000000000000" pitchFamily="2" charset="2"/>
              <a:buChar char="Ø"/>
            </a:pPr>
            <a:r>
              <a:rPr lang="en-US" sz="2800">
                <a:solidFill>
                  <a:schemeClr val="bg1"/>
                </a:solidFill>
                <a:latin typeface="Tw Cen MT" panose="020B0602020104020603" pitchFamily="34" charset="0"/>
                <a:cs typeface="Segoe UI" panose="020B0502040204020203" pitchFamily="34" charset="0"/>
              </a:rPr>
              <a:t>Bluetooth low energy (BLE) is a </a:t>
            </a:r>
            <a:r>
              <a:rPr lang="en-US" sz="2800">
                <a:solidFill>
                  <a:srgbClr val="FF0000"/>
                </a:solidFill>
                <a:latin typeface="Tw Cen MT" panose="020B0602020104020603" pitchFamily="34" charset="0"/>
                <a:cs typeface="Segoe UI" panose="020B0502040204020203" pitchFamily="34" charset="0"/>
              </a:rPr>
              <a:t>low power wireless technology </a:t>
            </a:r>
            <a:r>
              <a:rPr lang="en-US" sz="2800">
                <a:solidFill>
                  <a:schemeClr val="bg1"/>
                </a:solidFill>
                <a:latin typeface="Tw Cen MT" panose="020B0602020104020603" pitchFamily="34" charset="0"/>
                <a:cs typeface="Segoe UI" panose="020B0502040204020203" pitchFamily="34" charset="0"/>
              </a:rPr>
              <a:t>standard for personal area networks. </a:t>
            </a:r>
          </a:p>
          <a:p>
            <a:pPr algn="just" defTabSz="914400">
              <a:buClr>
                <a:schemeClr val="accent5">
                  <a:lumMod val="75000"/>
                </a:schemeClr>
              </a:buClr>
              <a:buFont typeface="Wingdings" panose="05000000000000000000" pitchFamily="2" charset="2"/>
              <a:buChar char="Ø"/>
            </a:pPr>
            <a:r>
              <a:rPr lang="en-US" sz="2800">
                <a:solidFill>
                  <a:schemeClr val="bg1"/>
                </a:solidFill>
                <a:latin typeface="Tw Cen MT" panose="020B0602020104020603" pitchFamily="34" charset="0"/>
                <a:cs typeface="Segoe UI" panose="020B0502040204020203" pitchFamily="34" charset="0"/>
              </a:rPr>
              <a:t>BLE, unlike the classic Bluetooth standard, </a:t>
            </a:r>
            <a:r>
              <a:rPr lang="en-US" sz="2800">
                <a:solidFill>
                  <a:srgbClr val="FF0000"/>
                </a:solidFill>
                <a:latin typeface="Tw Cen MT" panose="020B0602020104020603" pitchFamily="34" charset="0"/>
                <a:cs typeface="Segoe UI" panose="020B0502040204020203" pitchFamily="34" charset="0"/>
              </a:rPr>
              <a:t>reduces power consumption,</a:t>
            </a:r>
            <a:r>
              <a:rPr lang="en-US" sz="2800">
                <a:solidFill>
                  <a:schemeClr val="bg1"/>
                </a:solidFill>
                <a:latin typeface="Tw Cen MT" panose="020B0602020104020603" pitchFamily="34" charset="0"/>
                <a:cs typeface="Segoe UI" panose="020B0502040204020203" pitchFamily="34" charset="0"/>
              </a:rPr>
              <a:t> allowing your BLE device to run for months or years on a coin-cell battery. </a:t>
            </a:r>
          </a:p>
          <a:p>
            <a:pPr algn="just" defTabSz="914400">
              <a:buClr>
                <a:schemeClr val="accent5">
                  <a:lumMod val="75000"/>
                </a:schemeClr>
              </a:buClr>
              <a:buFont typeface="Wingdings" panose="05000000000000000000" pitchFamily="2" charset="2"/>
              <a:buChar char="Ø"/>
            </a:pPr>
            <a:r>
              <a:rPr lang="en-US" sz="2800">
                <a:solidFill>
                  <a:schemeClr val="bg1"/>
                </a:solidFill>
                <a:latin typeface="Tw Cen MT" panose="020B0602020104020603" pitchFamily="34" charset="0"/>
                <a:cs typeface="Segoe UI" panose="020B0502040204020203" pitchFamily="34" charset="0"/>
              </a:rPr>
              <a:t>Typical applications of BLE are </a:t>
            </a:r>
            <a:r>
              <a:rPr lang="en-US" sz="2800">
                <a:solidFill>
                  <a:srgbClr val="FF0000"/>
                </a:solidFill>
                <a:latin typeface="Tw Cen MT" panose="020B0602020104020603" pitchFamily="34" charset="0"/>
                <a:cs typeface="Segoe UI" panose="020B0502040204020203" pitchFamily="34" charset="0"/>
              </a:rPr>
              <a:t>health care, fitness trackers, beacons, smart home, security, entertainment, proximity sensors, industrial and automotive.</a:t>
            </a:r>
          </a:p>
        </p:txBody>
      </p:sp>
      <p:sp>
        <p:nvSpPr>
          <p:cNvPr id="4" name="Title 3"/>
          <p:cNvSpPr>
            <a:spLocks noGrp="1"/>
          </p:cNvSpPr>
          <p:nvPr>
            <p:ph type="title"/>
          </p:nvPr>
        </p:nvSpPr>
        <p:spPr>
          <a:xfrm>
            <a:off x="685801" y="609600"/>
            <a:ext cx="10131425" cy="879231"/>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2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BLUETOOTH MODULE HC-05</a:t>
            </a:r>
          </a:p>
        </p:txBody>
      </p:sp>
    </p:spTree>
    <p:extLst>
      <p:ext uri="{BB962C8B-B14F-4D97-AF65-F5344CB8AC3E}">
        <p14:creationId xmlns:p14="http://schemas.microsoft.com/office/powerpoint/2010/main" val="132914849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2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BLUETOOTH MODULE HC-05</a:t>
            </a:r>
          </a:p>
        </p:txBody>
      </p:sp>
      <p:sp>
        <p:nvSpPr>
          <p:cNvPr id="8" name="TextBox 7"/>
          <p:cNvSpPr txBox="1"/>
          <p:nvPr/>
        </p:nvSpPr>
        <p:spPr>
          <a:xfrm>
            <a:off x="216859" y="1083073"/>
            <a:ext cx="11745907" cy="4616648"/>
          </a:xfrm>
          <a:prstGeom prst="rect">
            <a:avLst/>
          </a:prstGeom>
          <a:noFill/>
        </p:spPr>
        <p:txBody>
          <a:bodyPr wrap="square" rtlCol="0">
            <a:spAutoFit/>
          </a:bodyPr>
          <a:lstStyle/>
          <a:p>
            <a:pPr marL="457200" indent="-457200" algn="just">
              <a:buClr>
                <a:schemeClr val="accent5">
                  <a:lumMod val="75000"/>
                </a:schemeClr>
              </a:buClr>
              <a:buFont typeface="Wingdings" panose="05000000000000000000" pitchFamily="2" charset="2"/>
              <a:buChar char="Ø"/>
            </a:pPr>
            <a:r>
              <a:rPr lang="en-US" sz="2800">
                <a:solidFill>
                  <a:srgbClr val="FF0000"/>
                </a:solidFill>
                <a:latin typeface="Tw Cen MT" panose="020B0602020104020603" pitchFamily="34" charset="0"/>
                <a:cs typeface="Segoe UI" panose="020B0502040204020203" pitchFamily="34" charset="0"/>
              </a:rPr>
              <a:t>HC-05</a:t>
            </a:r>
            <a:r>
              <a:rPr lang="en-US" sz="2800">
                <a:solidFill>
                  <a:schemeClr val="bg1"/>
                </a:solidFill>
                <a:latin typeface="Tw Cen MT" panose="020B0602020104020603" pitchFamily="34" charset="0"/>
                <a:cs typeface="Segoe UI" panose="020B0502040204020203" pitchFamily="34" charset="0"/>
              </a:rPr>
              <a:t> Bluetooth Module is a simple </a:t>
            </a:r>
            <a:r>
              <a:rPr lang="en-US" sz="2800">
                <a:solidFill>
                  <a:srgbClr val="FF0000"/>
                </a:solidFill>
                <a:latin typeface="Tw Cen MT" panose="020B0602020104020603" pitchFamily="34" charset="0"/>
                <a:cs typeface="Segoe UI" panose="020B0502040204020203" pitchFamily="34" charset="0"/>
              </a:rPr>
              <a:t>Wireless Communication device</a:t>
            </a:r>
            <a:r>
              <a:rPr lang="en-US" sz="2800">
                <a:solidFill>
                  <a:schemeClr val="bg1"/>
                </a:solidFill>
                <a:latin typeface="Tw Cen MT" panose="020B0602020104020603" pitchFamily="34" charset="0"/>
                <a:cs typeface="Segoe UI" panose="020B0502040204020203" pitchFamily="34" charset="0"/>
              </a:rPr>
              <a:t> based on the </a:t>
            </a:r>
            <a:r>
              <a:rPr lang="en-US" sz="2800">
                <a:solidFill>
                  <a:srgbClr val="FF0000"/>
                </a:solidFill>
                <a:latin typeface="Tw Cen MT" panose="020B0602020104020603" pitchFamily="34" charset="0"/>
                <a:cs typeface="Segoe UI" panose="020B0502040204020203" pitchFamily="34" charset="0"/>
              </a:rPr>
              <a:t>Bluetooth Protocol</a:t>
            </a:r>
            <a:r>
              <a:rPr lang="en-US" sz="2800">
                <a:solidFill>
                  <a:schemeClr val="bg1"/>
                </a:solidFill>
                <a:latin typeface="Tw Cen MT" panose="020B0602020104020603" pitchFamily="34" charset="0"/>
                <a:cs typeface="Segoe UI" panose="020B0502040204020203" pitchFamily="34" charset="0"/>
              </a:rPr>
              <a:t>.</a:t>
            </a:r>
            <a:endParaRPr lang="en-IN" sz="28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endParaRPr lang="en-IN" sz="14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US" sz="2800">
                <a:solidFill>
                  <a:schemeClr val="bg1"/>
                </a:solidFill>
                <a:latin typeface="Tw Cen MT" panose="020B0602020104020603" pitchFamily="34" charset="0"/>
                <a:cs typeface="Segoe UI" panose="020B0502040204020203" pitchFamily="34" charset="0"/>
              </a:rPr>
              <a:t>This module is based on BC417 Single Chip Bluetooth IC that is compliant with Bluetooth v2.0 standard and with support for both UART and USB interfaces.</a:t>
            </a:r>
          </a:p>
          <a:p>
            <a:pPr algn="just">
              <a:buClr>
                <a:schemeClr val="accent5">
                  <a:lumMod val="75000"/>
                </a:schemeClr>
              </a:buClr>
            </a:pPr>
            <a:endParaRPr lang="en-IN" sz="28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US" sz="2800">
                <a:solidFill>
                  <a:schemeClr val="bg1"/>
                </a:solidFill>
                <a:latin typeface="Tw Cen MT" panose="020B0602020104020603" pitchFamily="34" charset="0"/>
                <a:cs typeface="Segoe UI" panose="020B0502040204020203" pitchFamily="34" charset="0"/>
              </a:rPr>
              <a:t>It communicates with microcontrollers using </a:t>
            </a:r>
            <a:r>
              <a:rPr lang="en-US" sz="2800">
                <a:solidFill>
                  <a:srgbClr val="FF0000"/>
                </a:solidFill>
                <a:latin typeface="Tw Cen MT" panose="020B0602020104020603" pitchFamily="34" charset="0"/>
                <a:cs typeface="Segoe UI" panose="020B0502040204020203" pitchFamily="34" charset="0"/>
              </a:rPr>
              <a:t>serial communication </a:t>
            </a:r>
            <a:r>
              <a:rPr lang="en-US" sz="2800">
                <a:solidFill>
                  <a:schemeClr val="bg1"/>
                </a:solidFill>
                <a:latin typeface="Tw Cen MT" panose="020B0602020104020603" pitchFamily="34" charset="0"/>
                <a:cs typeface="Segoe UI" panose="020B0502040204020203" pitchFamily="34" charset="0"/>
              </a:rPr>
              <a:t>(USART).</a:t>
            </a:r>
          </a:p>
          <a:p>
            <a:pPr algn="just">
              <a:buClr>
                <a:schemeClr val="accent5">
                  <a:lumMod val="75000"/>
                </a:schemeClr>
              </a:buClr>
            </a:pPr>
            <a:endParaRPr lang="en-US" sz="28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US" sz="2800">
                <a:solidFill>
                  <a:schemeClr val="bg1"/>
                </a:solidFill>
                <a:latin typeface="Tw Cen MT" panose="020B0602020104020603" pitchFamily="34" charset="0"/>
                <a:cs typeface="Segoe UI" panose="020B0502040204020203" pitchFamily="34" charset="0"/>
              </a:rPr>
              <a:t>Bluetooth Module, generally, </a:t>
            </a:r>
            <a:r>
              <a:rPr lang="en-US" sz="2800">
                <a:solidFill>
                  <a:srgbClr val="FF0000"/>
                </a:solidFill>
                <a:latin typeface="Tw Cen MT" panose="020B0602020104020603" pitchFamily="34" charset="0"/>
                <a:cs typeface="Segoe UI" panose="020B0502040204020203" pitchFamily="34" charset="0"/>
              </a:rPr>
              <a:t>four pins </a:t>
            </a:r>
            <a:r>
              <a:rPr lang="en-US" sz="2800">
                <a:solidFill>
                  <a:schemeClr val="bg1"/>
                </a:solidFill>
                <a:latin typeface="Tw Cen MT" panose="020B0602020104020603" pitchFamily="34" charset="0"/>
                <a:cs typeface="Segoe UI" panose="020B0502040204020203" pitchFamily="34" charset="0"/>
              </a:rPr>
              <a:t>are sufficient for successfully enabling a wireless communication link but the modules produced now-a-days come with six pins namely: </a:t>
            </a:r>
            <a:r>
              <a:rPr lang="en-US" sz="2800">
                <a:solidFill>
                  <a:srgbClr val="FF0000"/>
                </a:solidFill>
                <a:latin typeface="Tw Cen MT" panose="020B0602020104020603" pitchFamily="34" charset="0"/>
                <a:cs typeface="Segoe UI" panose="020B0502040204020203" pitchFamily="34" charset="0"/>
              </a:rPr>
              <a:t>VCC, GND, TX, RX</a:t>
            </a:r>
            <a:r>
              <a:rPr lang="en-US" sz="2800">
                <a:solidFill>
                  <a:schemeClr val="bg1"/>
                </a:solidFill>
                <a:latin typeface="Tw Cen MT" panose="020B0602020104020603" pitchFamily="34" charset="0"/>
                <a:cs typeface="Segoe UI" panose="020B0502040204020203" pitchFamily="34" charset="0"/>
              </a:rPr>
              <a:t>, EN and STATE.</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3</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spTree>
    <p:extLst>
      <p:ext uri="{BB962C8B-B14F-4D97-AF65-F5344CB8AC3E}">
        <p14:creationId xmlns:p14="http://schemas.microsoft.com/office/powerpoint/2010/main" val="244907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500"/>
                                        <p:tgtEl>
                                          <p:spTgt spid="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6" end="6"/>
                                            </p:txEl>
                                          </p:spTgt>
                                        </p:tgtEl>
                                        <p:attrNameLst>
                                          <p:attrName>style.visibility</p:attrName>
                                        </p:attrNameLst>
                                      </p:cBhvr>
                                      <p:to>
                                        <p:strVal val="visible"/>
                                      </p:to>
                                    </p:set>
                                    <p:animEffect transition="in" filter="fade">
                                      <p:cBhvr>
                                        <p:cTn id="1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ULTRASONIC SENSOR</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4</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692" y="1423987"/>
            <a:ext cx="8335108" cy="48401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5187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TextBox 7"/>
          <p:cNvSpPr txBox="1"/>
          <p:nvPr/>
        </p:nvSpPr>
        <p:spPr>
          <a:xfrm>
            <a:off x="216859" y="1083073"/>
            <a:ext cx="11745907" cy="5693866"/>
          </a:xfrm>
          <a:prstGeom prst="rect">
            <a:avLst/>
          </a:prstGeom>
          <a:noFill/>
        </p:spPr>
        <p:txBody>
          <a:bodyPr wrap="square" rtlCol="0">
            <a:spAutoFit/>
          </a:bodyPr>
          <a:lstStyle/>
          <a:p>
            <a:r>
              <a:rPr lang="en-US" sz="2800" b="1">
                <a:solidFill>
                  <a:schemeClr val="bg1"/>
                </a:solidFill>
                <a:latin typeface="Tw Cen MT" panose="020B0602020104020603" pitchFamily="34" charset="0"/>
                <a:cs typeface="Segoe UI" panose="020B0502040204020203" pitchFamily="34" charset="0"/>
              </a:rPr>
              <a:t>EN</a:t>
            </a:r>
            <a:r>
              <a:rPr lang="en-US" sz="2800">
                <a:solidFill>
                  <a:schemeClr val="bg1"/>
                </a:solidFill>
                <a:latin typeface="Tw Cen MT" panose="020B0602020104020603" pitchFamily="34" charset="0"/>
                <a:cs typeface="Segoe UI" panose="020B0502040204020203" pitchFamily="34" charset="0"/>
              </a:rPr>
              <a:t>: It is the enable pin. When this pin is floating or connected to 3.3V, the module is enabled. If this pin is connected to GND, the module is disabled.</a:t>
            </a:r>
          </a:p>
          <a:p>
            <a:r>
              <a:rPr lang="en-US" sz="2800" b="1">
                <a:solidFill>
                  <a:schemeClr val="bg1"/>
                </a:solidFill>
                <a:latin typeface="Tw Cen MT" panose="020B0602020104020603" pitchFamily="34" charset="0"/>
                <a:cs typeface="Segoe UI" panose="020B0502040204020203" pitchFamily="34" charset="0"/>
              </a:rPr>
              <a:t>+5V: </a:t>
            </a:r>
            <a:r>
              <a:rPr lang="en-US" sz="2800">
                <a:solidFill>
                  <a:schemeClr val="bg1"/>
                </a:solidFill>
                <a:latin typeface="Tw Cen MT" panose="020B0602020104020603" pitchFamily="34" charset="0"/>
                <a:cs typeface="Segoe UI" panose="020B0502040204020203" pitchFamily="34" charset="0"/>
              </a:rPr>
              <a:t>This is the supply pin for connecting +5V. As the Module has on-board 3.3V regulator, you can provide +5V supply.</a:t>
            </a:r>
          </a:p>
          <a:p>
            <a:r>
              <a:rPr lang="en-US" sz="2800" b="1">
                <a:solidFill>
                  <a:schemeClr val="bg1"/>
                </a:solidFill>
                <a:latin typeface="Tw Cen MT" panose="020B0602020104020603" pitchFamily="34" charset="0"/>
                <a:cs typeface="Segoe UI" panose="020B0502040204020203" pitchFamily="34" charset="0"/>
              </a:rPr>
              <a:t>GND: </a:t>
            </a:r>
            <a:r>
              <a:rPr lang="en-US" sz="2800">
                <a:solidFill>
                  <a:schemeClr val="bg1"/>
                </a:solidFill>
                <a:latin typeface="Tw Cen MT" panose="020B0602020104020603" pitchFamily="34" charset="0"/>
                <a:cs typeface="Segoe UI" panose="020B0502040204020203" pitchFamily="34" charset="0"/>
              </a:rPr>
              <a:t>It is the ground pin.</a:t>
            </a:r>
          </a:p>
          <a:p>
            <a:r>
              <a:rPr lang="en-US" sz="2800" b="1">
                <a:solidFill>
                  <a:schemeClr val="bg1"/>
                </a:solidFill>
                <a:latin typeface="Tw Cen MT" panose="020B0602020104020603" pitchFamily="34" charset="0"/>
                <a:cs typeface="Segoe UI" panose="020B0502040204020203" pitchFamily="34" charset="0"/>
              </a:rPr>
              <a:t>TX: </a:t>
            </a:r>
            <a:r>
              <a:rPr lang="en-US" sz="2800">
                <a:solidFill>
                  <a:schemeClr val="bg1"/>
                </a:solidFill>
                <a:latin typeface="Tw Cen MT" panose="020B0602020104020603" pitchFamily="34" charset="0"/>
                <a:cs typeface="Segoe UI" panose="020B0502040204020203" pitchFamily="34" charset="0"/>
              </a:rPr>
              <a:t>It is the Transmitter pin of the UART Communication.</a:t>
            </a:r>
          </a:p>
          <a:p>
            <a:r>
              <a:rPr lang="en-US" sz="2800" b="1">
                <a:solidFill>
                  <a:schemeClr val="bg1"/>
                </a:solidFill>
                <a:latin typeface="Tw Cen MT" panose="020B0602020104020603" pitchFamily="34" charset="0"/>
                <a:cs typeface="Segoe UI" panose="020B0502040204020203" pitchFamily="34" charset="0"/>
              </a:rPr>
              <a:t>RX: </a:t>
            </a:r>
            <a:r>
              <a:rPr lang="en-US" sz="2800">
                <a:solidFill>
                  <a:schemeClr val="bg1"/>
                </a:solidFill>
                <a:latin typeface="Tw Cen MT" panose="020B0602020104020603" pitchFamily="34" charset="0"/>
                <a:cs typeface="Segoe UI" panose="020B0502040204020203" pitchFamily="34" charset="0"/>
              </a:rPr>
              <a:t>It is the Receive Pin of UART.</a:t>
            </a:r>
          </a:p>
          <a:p>
            <a:r>
              <a:rPr lang="en-US" sz="2800" b="1">
                <a:solidFill>
                  <a:schemeClr val="bg1"/>
                </a:solidFill>
                <a:latin typeface="Tw Cen MT" panose="020B0602020104020603" pitchFamily="34" charset="0"/>
                <a:cs typeface="Segoe UI" panose="020B0502040204020203" pitchFamily="34" charset="0"/>
              </a:rPr>
              <a:t>STATE: </a:t>
            </a:r>
            <a:r>
              <a:rPr lang="en-US" sz="2800">
                <a:solidFill>
                  <a:schemeClr val="bg1"/>
                </a:solidFill>
                <a:latin typeface="Tw Cen MT" panose="020B0602020104020603" pitchFamily="34" charset="0"/>
                <a:cs typeface="Segoe UI" panose="020B0502040204020203" pitchFamily="34" charset="0"/>
              </a:rPr>
              <a:t>This is a status indicator pin. This pin goes LOW when the module is not connected to any device. When the module is paired with any device, this pin goes HIGH.</a:t>
            </a:r>
          </a:p>
          <a:p>
            <a:r>
              <a:rPr lang="en-US" sz="2800" b="1">
                <a:solidFill>
                  <a:schemeClr val="bg1"/>
                </a:solidFill>
                <a:latin typeface="Tw Cen MT" panose="020B0602020104020603" pitchFamily="34" charset="0"/>
                <a:cs typeface="Segoe UI" panose="020B0502040204020203" pitchFamily="34" charset="0"/>
              </a:rPr>
              <a:t>Note: </a:t>
            </a:r>
            <a:r>
              <a:rPr lang="en-US" sz="2800">
                <a:solidFill>
                  <a:schemeClr val="bg1"/>
                </a:solidFill>
              </a:rPr>
              <a:t>The on-board LED is used to indicate the status of the connection. When the module is not paired, the LED blinks or flashes repeatedly. Once the module is paired, the LED blinks at a constant delay of 2 seconds.</a:t>
            </a:r>
            <a:endParaRPr lang="en-US" sz="2800">
              <a:solidFill>
                <a:schemeClr val="bg1"/>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5</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sp>
        <p:nvSpPr>
          <p:cNvPr id="9" name="Rounded Rectangle 8"/>
          <p:cNvSpPr/>
          <p:nvPr/>
        </p:nvSpPr>
        <p:spPr>
          <a:xfrm>
            <a:off x="1351561" y="35381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2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BLUETOOTH MODULE HC-05</a:t>
            </a:r>
          </a:p>
        </p:txBody>
      </p:sp>
    </p:spTree>
    <p:extLst>
      <p:ext uri="{BB962C8B-B14F-4D97-AF65-F5344CB8AC3E}">
        <p14:creationId xmlns:p14="http://schemas.microsoft.com/office/powerpoint/2010/main" val="2544801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TASK-1</a:t>
            </a:r>
          </a:p>
        </p:txBody>
      </p:sp>
      <p:sp>
        <p:nvSpPr>
          <p:cNvPr id="8" name="TextBox 7"/>
          <p:cNvSpPr txBox="1"/>
          <p:nvPr/>
        </p:nvSpPr>
        <p:spPr>
          <a:xfrm>
            <a:off x="293687" y="1059197"/>
            <a:ext cx="11592251" cy="3739485"/>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Print name &amp; </a:t>
            </a:r>
            <a:r>
              <a:rPr lang="en-IN" sz="2800" b="1" err="1">
                <a:solidFill>
                  <a:srgbClr val="C00000"/>
                </a:solidFill>
                <a:latin typeface="Tw Cen MT" panose="020B0602020104020603" pitchFamily="34" charset="0"/>
                <a:cs typeface="Segoe UI" panose="020B0502040204020203" pitchFamily="34" charset="0"/>
              </a:rPr>
              <a:t>reg.No</a:t>
            </a:r>
            <a:r>
              <a:rPr lang="en-IN" sz="2800" b="1">
                <a:solidFill>
                  <a:srgbClr val="C00000"/>
                </a:solidFill>
                <a:latin typeface="Tw Cen MT" panose="020B0602020104020603" pitchFamily="34" charset="0"/>
                <a:cs typeface="Segoe UI" panose="020B0502040204020203" pitchFamily="34" charset="0"/>
              </a:rPr>
              <a:t> in smart phone and serial monitor via Bluetooth</a:t>
            </a:r>
            <a:endParaRPr lang="en-IN" sz="1000">
              <a:solidFill>
                <a:schemeClr val="bg1"/>
              </a:solidFill>
              <a:latin typeface="Tw Cen MT" panose="020B0602020104020603" pitchFamily="34" charset="0"/>
              <a:cs typeface="Segoe UI" panose="020B0502040204020203" pitchFamily="34" charset="0"/>
            </a:endParaRPr>
          </a:p>
          <a:p>
            <a:pPr algn="just">
              <a:lnSpc>
                <a:spcPct val="150000"/>
              </a:lnSpc>
              <a:buClr>
                <a:schemeClr val="accent5">
                  <a:lumMod val="75000"/>
                </a:schemeClr>
              </a:buClr>
            </a:pPr>
            <a:r>
              <a:rPr lang="en-IN" sz="2600">
                <a:solidFill>
                  <a:schemeClr val="bg1"/>
                </a:solidFill>
                <a:latin typeface="Tw Cen MT" panose="020B0602020104020603" pitchFamily="34" charset="0"/>
                <a:cs typeface="Segoe UI" panose="020B0502040204020203" pitchFamily="34" charset="0"/>
              </a:rPr>
              <a:t>Write a program to transmit your Name and register number from serial monitor to  smart phone via </a:t>
            </a:r>
            <a:r>
              <a:rPr lang="en-IN" sz="2600" err="1">
                <a:solidFill>
                  <a:schemeClr val="bg1"/>
                </a:solidFill>
                <a:latin typeface="Tw Cen MT" panose="020B0602020104020603" pitchFamily="34" charset="0"/>
                <a:cs typeface="Segoe UI" panose="020B0502040204020203" pitchFamily="34" charset="0"/>
              </a:rPr>
              <a:t>bluetooth</a:t>
            </a:r>
            <a:r>
              <a:rPr lang="en-IN" sz="2600">
                <a:solidFill>
                  <a:schemeClr val="bg1"/>
                </a:solidFill>
                <a:latin typeface="Tw Cen MT" panose="020B0602020104020603" pitchFamily="34" charset="0"/>
                <a:cs typeface="Segoe UI" panose="020B0502040204020203" pitchFamily="34" charset="0"/>
              </a:rPr>
              <a:t> HC-05 module and vice versa. Implement and verify this logic on the STM32 Nucleo-64  board using </a:t>
            </a:r>
            <a:r>
              <a:rPr lang="en-IN" sz="2600" err="1">
                <a:solidFill>
                  <a:schemeClr val="bg1"/>
                </a:solidFill>
                <a:latin typeface="Tw Cen MT" panose="020B0602020104020603" pitchFamily="34" charset="0"/>
                <a:cs typeface="Segoe UI" panose="020B0502040204020203" pitchFamily="34" charset="0"/>
              </a:rPr>
              <a:t>Keil</a:t>
            </a:r>
            <a:r>
              <a:rPr lang="en-IN" sz="2600">
                <a:solidFill>
                  <a:schemeClr val="bg1"/>
                </a:solidFill>
                <a:latin typeface="Tw Cen MT" panose="020B0602020104020603" pitchFamily="34" charset="0"/>
                <a:cs typeface="Segoe UI" panose="020B0502040204020203" pitchFamily="34" charset="0"/>
              </a:rPr>
              <a:t> Studio Cloud IDE. </a:t>
            </a:r>
          </a:p>
          <a:p>
            <a:pPr algn="just">
              <a:lnSpc>
                <a:spcPct val="150000"/>
              </a:lnSpc>
              <a:buClr>
                <a:schemeClr val="accent5">
                  <a:lumMod val="75000"/>
                </a:schemeClr>
              </a:buClr>
            </a:pPr>
            <a:r>
              <a:rPr lang="en-IN" sz="2600">
                <a:solidFill>
                  <a:schemeClr val="bg1"/>
                </a:solidFill>
                <a:latin typeface="Tw Cen MT" panose="020B0602020104020603" pitchFamily="34" charset="0"/>
                <a:cs typeface="Segoe UI" panose="020B0502040204020203" pitchFamily="34" charset="0"/>
              </a:rPr>
              <a:t>Note: Download Bluetooth module-HC05 app in your smart phone</a:t>
            </a:r>
          </a:p>
          <a:p>
            <a:pPr algn="just">
              <a:lnSpc>
                <a:spcPct val="150000"/>
              </a:lnSpc>
              <a:buClr>
                <a:schemeClr val="accent5">
                  <a:lumMod val="75000"/>
                </a:schemeClr>
              </a:buClr>
            </a:pPr>
            <a:endParaRPr lang="en-IN" sz="2600">
              <a:solidFill>
                <a:schemeClr val="bg1"/>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6</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0451" y="4251080"/>
            <a:ext cx="4218221" cy="1997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73471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TASK-1</a:t>
            </a:r>
          </a:p>
        </p:txBody>
      </p:sp>
      <p:sp>
        <p:nvSpPr>
          <p:cNvPr id="8" name="TextBox 7"/>
          <p:cNvSpPr txBox="1"/>
          <p:nvPr/>
        </p:nvSpPr>
        <p:spPr>
          <a:xfrm>
            <a:off x="4397497" y="1185378"/>
            <a:ext cx="3570742" cy="523220"/>
          </a:xfrm>
          <a:prstGeom prst="rect">
            <a:avLst/>
          </a:prstGeom>
          <a:noFill/>
        </p:spPr>
        <p:txBody>
          <a:bodyPr wrap="square" rtlCol="0">
            <a:spAutoFit/>
          </a:bodyPr>
          <a:lstStyle/>
          <a:p>
            <a:pPr algn="ctr">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Program</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7</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178" y="1470434"/>
            <a:ext cx="4525358" cy="4555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8503" y="1773021"/>
            <a:ext cx="5722771" cy="3631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4600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
        <p:nvSpPr>
          <p:cNvPr id="8" name="TextBox 7"/>
          <p:cNvSpPr txBox="1"/>
          <p:nvPr/>
        </p:nvSpPr>
        <p:spPr>
          <a:xfrm>
            <a:off x="293687" y="1059197"/>
            <a:ext cx="11592251" cy="5539978"/>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Home Automation System</a:t>
            </a:r>
          </a:p>
          <a:p>
            <a:pPr algn="just">
              <a:lnSpc>
                <a:spcPct val="150000"/>
              </a:lnSpc>
              <a:buClr>
                <a:schemeClr val="accent5">
                  <a:lumMod val="75000"/>
                </a:schemeClr>
              </a:buClr>
            </a:pPr>
            <a:r>
              <a:rPr lang="en-IN" sz="2600">
                <a:solidFill>
                  <a:schemeClr val="bg1"/>
                </a:solidFill>
                <a:latin typeface="Tw Cen MT" panose="020B0602020104020603" pitchFamily="34" charset="0"/>
                <a:cs typeface="Segoe UI" panose="020B0502040204020203" pitchFamily="34" charset="0"/>
              </a:rPr>
              <a:t>Write a program to design a Home automation system to control the home appliances through smart phone. This System consist of HC-05 Bluetooth module, LCD and buzzer interfaced with Nucleo.  The system receives the input from smart phone through </a:t>
            </a:r>
            <a:r>
              <a:rPr lang="en-IN" sz="2600" err="1">
                <a:solidFill>
                  <a:schemeClr val="bg1"/>
                </a:solidFill>
                <a:latin typeface="Tw Cen MT" panose="020B0602020104020603" pitchFamily="34" charset="0"/>
                <a:cs typeface="Segoe UI" panose="020B0502040204020203" pitchFamily="34" charset="0"/>
              </a:rPr>
              <a:t>bluetooth</a:t>
            </a:r>
            <a:r>
              <a:rPr lang="en-IN" sz="2600">
                <a:solidFill>
                  <a:schemeClr val="bg1"/>
                </a:solidFill>
                <a:latin typeface="Tw Cen MT" panose="020B0602020104020603" pitchFamily="34" charset="0"/>
                <a:cs typeface="Segoe UI" panose="020B0502040204020203" pitchFamily="34" charset="0"/>
              </a:rPr>
              <a:t> app : based on the value, it controls the LED and buzzer as per the below:</a:t>
            </a:r>
          </a:p>
          <a:p>
            <a:pPr marL="457200" indent="-457200" algn="just">
              <a:lnSpc>
                <a:spcPct val="150000"/>
              </a:lnSpc>
              <a:buClr>
                <a:schemeClr val="accent5">
                  <a:lumMod val="75000"/>
                </a:schemeClr>
              </a:buClr>
              <a:buFont typeface="Wingdings" panose="05000000000000000000" pitchFamily="2" charset="2"/>
              <a:buChar char="Ø"/>
            </a:pPr>
            <a:r>
              <a:rPr lang="en-IN" sz="2600">
                <a:solidFill>
                  <a:schemeClr val="bg1"/>
                </a:solidFill>
                <a:latin typeface="Tw Cen MT" panose="020B0602020104020603" pitchFamily="34" charset="0"/>
                <a:cs typeface="Segoe UI" panose="020B0502040204020203" pitchFamily="34" charset="0"/>
              </a:rPr>
              <a:t>	If the received character is ‘1’ , LED should be ON and display the message ‘LED ON’ on serial monitor. </a:t>
            </a:r>
          </a:p>
          <a:p>
            <a:pPr marL="457200" indent="-457200" algn="just">
              <a:lnSpc>
                <a:spcPct val="150000"/>
              </a:lnSpc>
              <a:buClr>
                <a:schemeClr val="accent5">
                  <a:lumMod val="75000"/>
                </a:schemeClr>
              </a:buClr>
              <a:buFont typeface="Wingdings" panose="05000000000000000000" pitchFamily="2" charset="2"/>
              <a:buChar char="Ø"/>
            </a:pPr>
            <a:r>
              <a:rPr lang="en-IN" sz="2600">
                <a:solidFill>
                  <a:schemeClr val="bg1"/>
                </a:solidFill>
                <a:latin typeface="Tw Cen MT" panose="020B0602020104020603" pitchFamily="34" charset="0"/>
                <a:cs typeface="Segoe UI" panose="020B0502040204020203" pitchFamily="34" charset="0"/>
              </a:rPr>
              <a:t>	 If the received character is ‘2’ , LED should be OFF and display the message ‘LED OFF’ on serial monitor. </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8</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spTree>
    <p:extLst>
      <p:ext uri="{BB962C8B-B14F-4D97-AF65-F5344CB8AC3E}">
        <p14:creationId xmlns:p14="http://schemas.microsoft.com/office/powerpoint/2010/main" val="70544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just">
              <a:lnSpc>
                <a:spcPct val="150000"/>
              </a:lnSpc>
              <a:buClr>
                <a:schemeClr val="accent5">
                  <a:lumMod val="75000"/>
                </a:schemeClr>
              </a:buClr>
              <a:buFont typeface="Wingdings" panose="05000000000000000000" pitchFamily="2" charset="2"/>
              <a:buChar char="Ø"/>
            </a:pPr>
            <a:r>
              <a:rPr lang="en-IN" sz="2600">
                <a:solidFill>
                  <a:schemeClr val="bg1"/>
                </a:solidFill>
                <a:latin typeface="Tw Cen MT" panose="020B0602020104020603" pitchFamily="34" charset="0"/>
                <a:cs typeface="Segoe UI" panose="020B0502040204020203" pitchFamily="34" charset="0"/>
              </a:rPr>
              <a:t> If the received character is ‘3’ , Buzzer should be ON and display the message ‘Buzzer ON’ on serial monitor. </a:t>
            </a:r>
          </a:p>
          <a:p>
            <a:pPr algn="just">
              <a:lnSpc>
                <a:spcPct val="150000"/>
              </a:lnSpc>
              <a:buClr>
                <a:schemeClr val="accent5">
                  <a:lumMod val="75000"/>
                </a:schemeClr>
              </a:buClr>
              <a:buFont typeface="Wingdings" panose="05000000000000000000" pitchFamily="2" charset="2"/>
              <a:buChar char="Ø"/>
            </a:pPr>
            <a:r>
              <a:rPr lang="en-IN" sz="2600">
                <a:solidFill>
                  <a:schemeClr val="bg1"/>
                </a:solidFill>
                <a:latin typeface="Tw Cen MT" panose="020B0602020104020603" pitchFamily="34" charset="0"/>
                <a:cs typeface="Segoe UI" panose="020B0502040204020203" pitchFamily="34" charset="0"/>
              </a:rPr>
              <a:t>	 If the received character is ‘4’ , Buzzer should be OFF and display the message ‘Buzzer OFF’ on serial monitor. </a:t>
            </a:r>
          </a:p>
          <a:p>
            <a:pPr algn="just">
              <a:lnSpc>
                <a:spcPct val="150000"/>
              </a:lnSpc>
              <a:buClr>
                <a:schemeClr val="accent5">
                  <a:lumMod val="75000"/>
                </a:schemeClr>
              </a:buClr>
              <a:buFont typeface="Wingdings" panose="05000000000000000000" pitchFamily="2" charset="2"/>
              <a:buChar char="Ø"/>
            </a:pPr>
            <a:r>
              <a:rPr lang="en-IN" sz="2600">
                <a:solidFill>
                  <a:schemeClr val="bg1"/>
                </a:solidFill>
                <a:latin typeface="Tw Cen MT" panose="020B0602020104020603" pitchFamily="34" charset="0"/>
                <a:cs typeface="Segoe UI" panose="020B0502040204020203" pitchFamily="34" charset="0"/>
              </a:rPr>
              <a:t>Implement and verify this logic on the STM32 Nucleo-64  board using </a:t>
            </a:r>
            <a:r>
              <a:rPr lang="en-IN" sz="2600" err="1">
                <a:solidFill>
                  <a:schemeClr val="bg1"/>
                </a:solidFill>
                <a:latin typeface="Tw Cen MT" panose="020B0602020104020603" pitchFamily="34" charset="0"/>
                <a:cs typeface="Segoe UI" panose="020B0502040204020203" pitchFamily="34" charset="0"/>
              </a:rPr>
              <a:t>Keil</a:t>
            </a:r>
            <a:r>
              <a:rPr lang="en-IN" sz="2600">
                <a:solidFill>
                  <a:schemeClr val="bg1"/>
                </a:solidFill>
                <a:latin typeface="Tw Cen MT" panose="020B0602020104020603" pitchFamily="34" charset="0"/>
                <a:cs typeface="Segoe UI" panose="020B0502040204020203" pitchFamily="34" charset="0"/>
              </a:rPr>
              <a:t> Studio Cloud IDE</a:t>
            </a:r>
          </a:p>
          <a:p>
            <a:endParaRPr lang="en-IN">
              <a:solidFill>
                <a:schemeClr val="bg1"/>
              </a:solidFill>
              <a:latin typeface="Tw Cen MT" panose="020B0602020104020603" pitchFamily="34" charset="0"/>
              <a:cs typeface="Segoe UI" panose="020B0502040204020203" pitchFamily="34" charset="0"/>
            </a:endParaRPr>
          </a:p>
          <a:p>
            <a:endParaRPr lang="en-US"/>
          </a:p>
        </p:txBody>
      </p:sp>
      <p:sp>
        <p:nvSpPr>
          <p:cNvPr id="4" name="Title 3"/>
          <p:cNvSpPr>
            <a:spLocks noGrp="1"/>
          </p:cNvSpPr>
          <p:nvPr>
            <p:ph type="title"/>
          </p:nvPr>
        </p:nvSpPr>
        <p:spPr>
          <a:xfrm>
            <a:off x="685801" y="609600"/>
            <a:ext cx="10131425" cy="879231"/>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Tree>
    <p:extLst>
      <p:ext uri="{BB962C8B-B14F-4D97-AF65-F5344CB8AC3E}">
        <p14:creationId xmlns:p14="http://schemas.microsoft.com/office/powerpoint/2010/main" val="2797736382"/>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
        <p:nvSpPr>
          <p:cNvPr id="8" name="TextBox 7"/>
          <p:cNvSpPr txBox="1"/>
          <p:nvPr/>
        </p:nvSpPr>
        <p:spPr>
          <a:xfrm>
            <a:off x="4599681" y="1183585"/>
            <a:ext cx="3570742" cy="523220"/>
          </a:xfrm>
          <a:prstGeom prst="rect">
            <a:avLst/>
          </a:prstGeom>
          <a:noFill/>
        </p:spPr>
        <p:txBody>
          <a:bodyPr wrap="square" rtlCol="0">
            <a:spAutoFit/>
          </a:bodyPr>
          <a:lstStyle/>
          <a:p>
            <a:pPr algn="ctr">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Program</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10</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494" y="1442221"/>
            <a:ext cx="5431372" cy="4932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656" y="1874594"/>
            <a:ext cx="5621937" cy="2462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8211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CHALLENGING TASK</a:t>
            </a:r>
          </a:p>
        </p:txBody>
      </p:sp>
      <p:sp>
        <p:nvSpPr>
          <p:cNvPr id="8" name="TextBox 7"/>
          <p:cNvSpPr txBox="1"/>
          <p:nvPr/>
        </p:nvSpPr>
        <p:spPr>
          <a:xfrm>
            <a:off x="310928" y="802463"/>
            <a:ext cx="11592251" cy="3323987"/>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Temperature sensor LM35 interfacing</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Write a program to design a temperature monitoring system using LM 35 and HC-05 Bluetooth module, buzzer and STM32 Nucleo-64  board. </a:t>
            </a:r>
          </a:p>
          <a:p>
            <a:pPr marL="342900" indent="-3429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Read the temperature continuously from LM35 temperature sensor and display it on smart phone</a:t>
            </a:r>
          </a:p>
          <a:p>
            <a:pPr marL="342900" indent="-3429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When the temperature goes above 35 C, turn on the buzzer. </a:t>
            </a:r>
          </a:p>
          <a:p>
            <a:pPr marL="342900" indent="-3429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Design and verify this logic on </a:t>
            </a:r>
            <a:r>
              <a:rPr lang="en-IN" sz="2400" err="1">
                <a:solidFill>
                  <a:schemeClr val="bg1"/>
                </a:solidFill>
                <a:latin typeface="Tw Cen MT" panose="020B0602020104020603" pitchFamily="34" charset="0"/>
                <a:cs typeface="Segoe UI" panose="020B0502040204020203" pitchFamily="34" charset="0"/>
              </a:rPr>
              <a:t>Nucleo</a:t>
            </a:r>
            <a:r>
              <a:rPr lang="en-IN" sz="2400">
                <a:solidFill>
                  <a:schemeClr val="bg1"/>
                </a:solidFill>
                <a:latin typeface="Tw Cen MT" panose="020B0602020104020603" pitchFamily="34" charset="0"/>
                <a:cs typeface="Segoe UI" panose="020B0502040204020203" pitchFamily="34" charset="0"/>
              </a:rPr>
              <a:t> 152RE board using online </a:t>
            </a:r>
            <a:r>
              <a:rPr lang="en-IN" sz="2400" err="1">
                <a:solidFill>
                  <a:schemeClr val="bg1"/>
                </a:solidFill>
                <a:latin typeface="Tw Cen MT" panose="020B0602020104020603" pitchFamily="34" charset="0"/>
                <a:cs typeface="Segoe UI" panose="020B0502040204020203" pitchFamily="34" charset="0"/>
              </a:rPr>
              <a:t>Keil</a:t>
            </a:r>
            <a:r>
              <a:rPr lang="en-IN" sz="2400">
                <a:solidFill>
                  <a:schemeClr val="bg1"/>
                </a:solidFill>
                <a:latin typeface="Tw Cen MT" panose="020B0602020104020603" pitchFamily="34" charset="0"/>
                <a:cs typeface="Segoe UI" panose="020B0502040204020203" pitchFamily="34" charset="0"/>
              </a:rPr>
              <a:t> Studio platform.</a:t>
            </a:r>
          </a:p>
          <a:p>
            <a:pPr marL="342900" indent="-342900" algn="just">
              <a:buClr>
                <a:schemeClr val="accent5">
                  <a:lumMod val="75000"/>
                </a:schemeClr>
              </a:buClr>
              <a:buFont typeface="Wingdings" panose="05000000000000000000" pitchFamily="2" charset="2"/>
              <a:buChar char="Ø"/>
            </a:pPr>
            <a:endParaRPr lang="en-IN" sz="2400">
              <a:solidFill>
                <a:schemeClr val="bg1"/>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11</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spTree>
    <p:extLst>
      <p:ext uri="{BB962C8B-B14F-4D97-AF65-F5344CB8AC3E}">
        <p14:creationId xmlns:p14="http://schemas.microsoft.com/office/powerpoint/2010/main" val="38207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6" name="Straight Connector 5"/>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7" name="Title 1"/>
          <p:cNvSpPr>
            <a:spLocks noGrp="1"/>
          </p:cNvSpPr>
          <p:nvPr>
            <p:ph type="title"/>
          </p:nvPr>
        </p:nvSpPr>
        <p:spPr>
          <a:xfrm>
            <a:off x="2500764" y="2396840"/>
            <a:ext cx="7419095" cy="1143000"/>
          </a:xfrm>
          <a:solidFill>
            <a:srgbClr val="00B0F0"/>
          </a:solidFill>
          <a:effectLst>
            <a:glow rad="101600">
              <a:schemeClr val="accent3">
                <a:satMod val="175000"/>
                <a:alpha val="40000"/>
              </a:schemeClr>
            </a:glow>
            <a:outerShdw blurRad="40000" dist="20000" dir="5400000" rotWithShape="0">
              <a:srgbClr val="000000">
                <a:alpha val="38000"/>
              </a:srgbClr>
            </a:outerShdw>
            <a:reflection blurRad="6350" stA="50000" endA="295" endPos="92000" dist="101600" dir="5400000" sy="-100000" algn="bl" rotWithShape="0"/>
          </a:effectLst>
          <a:scene3d>
            <a:camera prst="perspectiveContrastingRightFacing"/>
            <a:lightRig rig="threePt" dir="t"/>
          </a:scene3d>
          <a:sp3d>
            <a:bevelT w="139700" h="139700" prst="divot"/>
          </a:sp3d>
        </p:spPr>
        <p:style>
          <a:lnRef idx="3">
            <a:schemeClr val="lt1"/>
          </a:lnRef>
          <a:fillRef idx="1">
            <a:schemeClr val="accent5"/>
          </a:fillRef>
          <a:effectRef idx="1">
            <a:schemeClr val="accent5"/>
          </a:effectRef>
          <a:fontRef idx="minor">
            <a:schemeClr val="lt1"/>
          </a:fontRef>
        </p:style>
        <p:txBody>
          <a:bodyPr>
            <a:normAutofit/>
          </a:bodyPr>
          <a:lstStyle/>
          <a:p>
            <a:pPr algn="ctr" eaLnBrk="1" hangingPunct="1">
              <a:defRPr/>
            </a:pPr>
            <a:r>
              <a:rPr lang="en-US" sz="6000" b="1">
                <a:solidFill>
                  <a:schemeClr val="bg1"/>
                </a:solidFill>
                <a:latin typeface="Forte" pitchFamily="66" charset="0"/>
              </a:rPr>
              <a:t>THANK   YOU</a:t>
            </a:r>
          </a:p>
        </p:txBody>
      </p:sp>
      <p:pic>
        <p:nvPicPr>
          <p:cNvPr id="12" name="Picture 3"/>
          <p:cNvPicPr>
            <a:picLocks noChangeAspect="1" noChangeArrowheads="1"/>
          </p:cNvPicPr>
          <p:nvPr/>
        </p:nvPicPr>
        <p:blipFill>
          <a:blip r:embed="rId2" cstate="print"/>
          <a:srcRect/>
          <a:stretch>
            <a:fillRect/>
          </a:stretch>
        </p:blipFill>
        <p:spPr bwMode="auto">
          <a:xfrm>
            <a:off x="609600" y="762000"/>
            <a:ext cx="7848600" cy="276225"/>
          </a:xfrm>
          <a:prstGeom prst="rect">
            <a:avLst/>
          </a:prstGeom>
          <a:noFill/>
          <a:ln w="9525">
            <a:noFill/>
            <a:miter lim="800000"/>
            <a:headEnd/>
            <a:tailEnd/>
          </a:ln>
        </p:spPr>
      </p:pic>
      <p:pic>
        <p:nvPicPr>
          <p:cNvPr id="13" name="Content Placeholder 4" descr="butterflybluex.gif"/>
          <p:cNvPicPr>
            <a:picLocks noGrp="1" noChangeAspect="1"/>
          </p:cNvPicPr>
          <p:nvPr>
            <p:ph idx="1"/>
          </p:nvPr>
        </p:nvPicPr>
        <p:blipFill>
          <a:blip r:embed="rId3" cstate="print"/>
          <a:stretch>
            <a:fillRect/>
          </a:stretch>
        </p:blipFill>
        <p:spPr>
          <a:xfrm>
            <a:off x="223401" y="5170340"/>
            <a:ext cx="2152650" cy="1590675"/>
          </a:xfrm>
        </p:spPr>
      </p:pic>
    </p:spTree>
    <p:extLst>
      <p:ext uri="{BB962C8B-B14F-4D97-AF65-F5344CB8AC3E}">
        <p14:creationId xmlns:p14="http://schemas.microsoft.com/office/powerpoint/2010/main" val="233871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0" fill="hold"/>
                                        <p:tgtEl>
                                          <p:spTgt spid="7"/>
                                        </p:tgtEl>
                                        <p:attrNameLst>
                                          <p:attrName>ppt_w</p:attrName>
                                        </p:attrNameLst>
                                      </p:cBhvr>
                                      <p:tavLst>
                                        <p:tav tm="0">
                                          <p:val>
                                            <p:strVal val="#ppt_w*0.70"/>
                                          </p:val>
                                        </p:tav>
                                        <p:tav tm="100000">
                                          <p:val>
                                            <p:strVal val="#ppt_w"/>
                                          </p:val>
                                        </p:tav>
                                      </p:tavLst>
                                    </p:anim>
                                    <p:anim calcmode="lin" valueType="num">
                                      <p:cBhvr>
                                        <p:cTn id="8" dur="3000" fill="hold"/>
                                        <p:tgtEl>
                                          <p:spTgt spid="7"/>
                                        </p:tgtEl>
                                        <p:attrNameLst>
                                          <p:attrName>ppt_h</p:attrName>
                                        </p:attrNameLst>
                                      </p:cBhvr>
                                      <p:tavLst>
                                        <p:tav tm="0">
                                          <p:val>
                                            <p:strVal val="#ppt_h"/>
                                          </p:val>
                                        </p:tav>
                                        <p:tav tm="100000">
                                          <p:val>
                                            <p:strVal val="#ppt_h"/>
                                          </p:val>
                                        </p:tav>
                                      </p:tavLst>
                                    </p:anim>
                                    <p:animEffect transition="in" filter="fade">
                                      <p:cBhvr>
                                        <p:cTn id="9" dur="3000"/>
                                        <p:tgtEl>
                                          <p:spTgt spid="7"/>
                                        </p:tgtEl>
                                      </p:cBhvr>
                                    </p:animEffect>
                                  </p:childTnLst>
                                </p:cTn>
                              </p:par>
                            </p:childTnLst>
                          </p:cTn>
                        </p:par>
                        <p:par>
                          <p:cTn id="10" fill="hold">
                            <p:stCondLst>
                              <p:cond delay="3000"/>
                            </p:stCondLst>
                            <p:childTnLst>
                              <p:par>
                                <p:cTn id="11" presetID="0" presetClass="path" presetSubtype="0" accel="50000" decel="50000" fill="hold" nodeType="afterEffect">
                                  <p:stCondLst>
                                    <p:cond delay="0"/>
                                  </p:stCondLst>
                                  <p:childTnLst>
                                    <p:animMotion origin="layout" path="M -0.06315 0.03796 C 0.07422 0.04398 0.21172 0.05046 0.2332 -0.03033 C 0.25456 -0.11111 0.05703 -0.33172 0.06563 -0.44653 C 0.075 -0.56135 0.17487 -0.68797 0.28724 -0.71968 C 0.4013 -0.75139 0.69622 -0.68241 0.74531 -0.63681 C 0.7944 -0.59121 0.61016 -0.47824 0.58307 -0.44653 " pathEditMode="relative" rAng="0" ptsTypes="aaaaaA">
                                      <p:cBhvr>
                                        <p:cTn id="12" dur="5000" fill="hold"/>
                                        <p:tgtEl>
                                          <p:spTgt spid="13"/>
                                        </p:tgtEl>
                                        <p:attrNameLst>
                                          <p:attrName>ppt_x</p:attrName>
                                          <p:attrName>ppt_y</p:attrName>
                                        </p:attrNameLst>
                                      </p:cBhvr>
                                      <p:rCtr x="42900" y="-388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 type=&quot;3&quot; unique_id=&quot;10086&quot;&gt;&lt;property id=&quot;20148&quot; value=&quot;5&quot;/&gt;&lt;property id=&quot;20300&quot; value=&quot;Slide 11 - &amp;quot;THANK   YOU&amp;quot;&quot;/&gt;&lt;property id=&quot;20307&quot; value=&quot;259&quot;/&gt;&lt;/object&gt;&lt;object type=&quot;3&quot; unique_id=&quot;10213&quot;&gt;&lt;property id=&quot;20148&quot; value=&quot;5&quot;/&gt;&lt;property id=&quot;20300&quot; value=&quot;Slide 2&quot;/&gt;&lt;property id=&quot;20307&quot; value=&quot;260&quot;/&gt;&lt;/object&gt;&lt;object type=&quot;3&quot; unique_id=&quot;10451&quot;&gt;&lt;property id=&quot;20148&quot; value=&quot;5&quot;/&gt;&lt;property id=&quot;20300&quot; value=&quot;Slide 3&quot;/&gt;&lt;property id=&quot;20307&quot; value=&quot;267&quot;/&gt;&lt;/object&gt;&lt;object type=&quot;3&quot; unique_id=&quot;10717&quot;&gt;&lt;property id=&quot;20148&quot; value=&quot;5&quot;/&gt;&lt;property id=&quot;20300&quot; value=&quot;Slide 4&quot;/&gt;&lt;property id=&quot;20307&quot; value=&quot;268&quot;/&gt;&lt;/object&gt;&lt;object type=&quot;3&quot; unique_id=&quot;10718&quot;&gt;&lt;property id=&quot;20148&quot; value=&quot;5&quot;/&gt;&lt;property id=&quot;20300&quot; value=&quot;Slide 5&quot;/&gt;&lt;property id=&quot;20307&quot; value=&quot;269&quot;/&gt;&lt;/object&gt;&lt;object type=&quot;3&quot; unique_id=&quot;10719&quot;&gt;&lt;property id=&quot;20148&quot; value=&quot;5&quot;/&gt;&lt;property id=&quot;20300&quot; value=&quot;Slide 6&quot;/&gt;&lt;property id=&quot;20307&quot; value=&quot;270&quot;/&gt;&lt;/object&gt;&lt;object type=&quot;3&quot; unique_id=&quot;10788&quot;&gt;&lt;property id=&quot;20148&quot; value=&quot;5&quot;/&gt;&lt;property id=&quot;20300&quot; value=&quot;Slide 7&quot;/&gt;&lt;property id=&quot;20307&quot; value=&quot;271&quot;/&gt;&lt;/object&gt;&lt;object type=&quot;3&quot; unique_id=&quot;10819&quot;&gt;&lt;property id=&quot;20148&quot; value=&quot;5&quot;/&gt;&lt;property id=&quot;20300&quot; value=&quot;Slide 8&quot;/&gt;&lt;property id=&quot;20307&quot; value=&quot;272&quot;/&gt;&lt;/object&gt;&lt;object type=&quot;3&quot; unique_id=&quot;10875&quot;&gt;&lt;property id=&quot;20148&quot; value=&quot;5&quot;/&gt;&lt;property id=&quot;20300&quot; value=&quot;Slide 9&quot;/&gt;&lt;property id=&quot;20307&quot; value=&quot;273&quot;/&gt;&lt;/object&gt;&lt;object type=&quot;3&quot; unique_id=&quot;10912&quot;&gt;&lt;property id=&quot;20148&quot; value=&quot;5&quot;/&gt;&lt;property id=&quot;20300&quot; value=&quot;Slide 10&quot;/&gt;&lt;property id=&quot;20307&quot; value=&quot;274&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Override1.xml><?xml version="1.0" encoding="utf-8"?>
<a:themeOverride xmlns:a="http://schemas.openxmlformats.org/drawingml/2006/main">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themeOverride>
</file>

<file path=ppt/theme/themeOverride2.xml><?xml version="1.0" encoding="utf-8"?>
<a:themeOverride xmlns:a="http://schemas.openxmlformats.org/drawingml/2006/main">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C30828B62F68548B536606B169F73C7" ma:contentTypeVersion="4" ma:contentTypeDescription="Create a new document." ma:contentTypeScope="" ma:versionID="e81a1a7dd6fade02954d078aa3427748">
  <xsd:schema xmlns:xsd="http://www.w3.org/2001/XMLSchema" xmlns:xs="http://www.w3.org/2001/XMLSchema" xmlns:p="http://schemas.microsoft.com/office/2006/metadata/properties" xmlns:ns2="f8b3528e-c29d-4111-b526-c93a7a094c4f" targetNamespace="http://schemas.microsoft.com/office/2006/metadata/properties" ma:root="true" ma:fieldsID="09227fdc07b02cec8d2dcb19b26e5d97" ns2:_="">
    <xsd:import namespace="f8b3528e-c29d-4111-b526-c93a7a094c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b3528e-c29d-4111-b526-c93a7a094c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09A169-B594-47D3-A397-6A653AC8AF39}">
  <ds:schemaRefs>
    <ds:schemaRef ds:uri="http://schemas.microsoft.com/sharepoint/v3/contenttype/forms"/>
  </ds:schemaRefs>
</ds:datastoreItem>
</file>

<file path=customXml/itemProps2.xml><?xml version="1.0" encoding="utf-8"?>
<ds:datastoreItem xmlns:ds="http://schemas.openxmlformats.org/officeDocument/2006/customXml" ds:itemID="{1AE55BE1-EFE0-4CB8-B301-3F4802976BEA}">
  <ds:schemaRefs>
    <ds:schemaRef ds:uri="f8b3528e-c29d-4111-b526-c93a7a094c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Celestial</vt:lpstr>
      <vt:lpstr>PowerPoint Presentation</vt:lpstr>
      <vt:lpstr>INTRODUCTION TO BLUETOOTH MODULE HC-05</vt:lpstr>
      <vt:lpstr>PowerPoint Presentation</vt:lpstr>
      <vt:lpstr>PowerPoint Presentation</vt:lpstr>
      <vt:lpstr>PowerPoint Presentation</vt:lpstr>
      <vt:lpstr>PowerPoint Presentation</vt:lpstr>
      <vt:lpstr>PowerPoint Presentation</vt:lpstr>
      <vt:lpstr>PowerPoint Presentation</vt:lpstr>
      <vt:lpstr>LAB TASK-2</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 FPGA Based Flexible Autopilot Platform for Unmanned Systems</dc:title>
  <dc:creator>Naveen Raja N</dc:creator>
  <cp:revision>2</cp:revision>
  <dcterms:created xsi:type="dcterms:W3CDTF">2013-10-21T17:01:43Z</dcterms:created>
  <dcterms:modified xsi:type="dcterms:W3CDTF">2024-11-18T11:47:47Z</dcterms:modified>
</cp:coreProperties>
</file>